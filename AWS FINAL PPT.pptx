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 Id="rId4" Type="http://schemas.openxmlformats.org/officeDocument/2006/relationships/custom-properties" Target="docProps/custom.xml" />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6256000" cy="9144000"/>
  <p:notesSz cx="9144000" cy="16256000"/>
  <p:embeddedFontLst>
    <p:embeddedFont>
      <p:font typeface="Liter" charset="-122" pitchFamily="34"/>
      <p:regular r:id="rId21"/>
    </p:embeddedFont>
    <p:embeddedFont>
      <p:font typeface="Quattrocento Sans" charset="-122" pitchFamily="34"/>
      <p:regular r:id="rId22"/>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font" Target="fonts/font1.fntdata"/><Relationship Id="rId2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 am presenting my Cloud Computing project titled "Student Notes Management System using AWS." This project demonstrates how cloud services can be leveraged to build a scalable, reliable, and centralized notes management application. The project was guided by [Guide Name] at [College Name].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fundamental concepts behind the project. Cloud Computing is the delivery of computing services over the internet with pay-as-you-go pricing. AWS is the world's leading cloud platform with over 200 services and 30% global market share. Centralized applications are important because they provide a single source of truth, enable real-time data access, and improve collaboration among users.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problems with traditional notes management. Students typically use pen and paper or store files locally, which leads to data loss risks, no centralized access, limited device compatibility, and no backup mechanism. These pain points motivated the development of our cloud-based solution.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outlines the key objectives of our project. We aimed to build a cloud-based notes system on AWS for 24/7 availability, ensure high availability through multi-instance deployment, achieve scalability for future growth, implement a centralized database with RDS, use an Application Load Balancer for traffic distribution, and set up CloudWatch and SNS for monitoring and alerts.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showcases the features of our application. Students can add, view, edit, delete, and search notes through an intuitive web interface. The UI is built with HTML, CSS, and JavaScript to be responsive across devices. The multi-server architecture with two EC2 instances ensures redundancy and high availability.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slides showing the complete system architecture. Users access the application through the internet. The Application Load Balancer distributes traffic between two EC2 instances running Ubuntu, Apache, and Flask. Both instances connect to a centralized Amazon RDS MySQL database. Supporting services include S3 for future file storage, CloudWatch for monitoring, and SNS for notifications. Security is implemented through IAM, Security Groups, and VPC.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technology stack used in the project. The frontend uses HTML5, CSS3, and JavaScript for a responsive UI. The backend is built with Python Flask, a lightweight WSGI framework. Amazon RDS with MySQL serves as the managed database. Apache HTTP Server runs on Ubuntu Server to serve the Flask application. All of this is hosted on the AWS cloud platform.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an overview of the AWS services used in the project. EC2 provides virtual servers, RDS is the managed database service, ALB distributes traffic, CloudWatch monitors performance, SNS sends notifications, IAM manages access, and S3 provides object storage for future enhancements.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illustrates the complete application working flow. When a student opens the website, the request goes to the ALB, which routes it to a healthy EC2 instance. Apache passes the request to Flask, which queries or updates the RDS database. The database returns data to Flask, which renders the response and sends it back to the student. The entire process completes in milliseconds.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outlines the step-by-step implementation process. We started by launching two EC2 instances, then deployed the Flask website on both. Apache was configured with mod_wsgi. We created an RDS MySQL instance and connected Flask to it. Then we configured the ALB, CloudWatch dashboards, and SNS notifications. Finally, we tested the complete architecture including failover scenarios.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 the advantages of our cloud-based system. It is scalable — more EC2 instances can be added behind the load balancer. It is reliable with multi-instance deployment and automatic failover. High availability ensures continuous service even if one server fails. The centralized database guarantees data consistency. CloudWatch enables easy monitoring, and being cloud-based means no local infrastructure is needed. The project is also cost-effective using AWS Free Tier.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future enhancements that can be added to the project. These include user login with AWS Cognito, an admin dashboard, S3 file uploads for PDFs, a custom domain with Route 53, SSL certificates for HTTPS, EC2 Auto Scaling, a mobile app, and AI-based note suggestions using Amazon Bedrock. These enhancements would transform the project into a full-featured SaaS application.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project's achievements and learning outcomes. We successfully built and deployed a cloud-based Student Notes Management System on AWS with load balancing, a centralized database, and monitoring. The project provided hands-on experience with core AWS services and demonstrated key cloud computing concepts including scalability, high availability, fault tolerance, and security.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to my presentation. This project has been a great learning experience in cloud computing and AWS services. I would be happy to answer any questions about the architecture, implementation, or future enhancements. Please feel free to ask about any specific AWS service, the deployment process, or how we handled challenges during development.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ttps://kimi-img.moonshot.cn/pub/slides/okc/fa4dllkjfkj5o/mnt/agents/output/aws-notes-system/images/2_Abstract_futuristic_Cloud_computing.png">    </p:cNvPr>
          <p:cNvPicPr>
            <a:picLocks noChangeAspect="1"/>
          </p:cNvPicPr>
          <p:nvPr/>
        </p:nvPicPr>
        <p:blipFill>
          <a:blip r:embed="rId1"/>
          <a:srcRect l="0" r="0" t="10166" b="10166"/>
          <a:stretch/>
        </p:blipFill>
        <p:spPr>
          <a:xfrm>
            <a:off x="0" y="0"/>
            <a:ext cx="16256000" cy="9144000"/>
          </a:xfrm>
          <a:prstGeom prst="rect">
            <a:avLst/>
          </a:prstGeom>
        </p:spPr>
      </p:pic>
      <p:sp>
        <p:nvSpPr>
          <p:cNvPr id="3" name="Shape 0"/>
          <p:cNvSpPr/>
          <p:nvPr/>
        </p:nvSpPr>
        <p:spPr>
          <a:xfrm>
            <a:off x="0" y="0"/>
            <a:ext cx="16256000" cy="9144000"/>
          </a:xfrm>
          <a:prstGeom prst="rect">
            <a:avLst/>
          </a:prstGeom>
          <a:gradFill rotWithShape="1" flip="none">
            <a:gsLst>
              <a:gs pos="0">
                <a:srgbClr val="232F3E">
                  <a:alpha val="94000"/>
                </a:srgbClr>
              </a:gs>
              <a:gs pos="55000">
                <a:srgbClr val="232F3E">
                  <a:alpha val="82000"/>
                </a:srgbClr>
              </a:gs>
              <a:gs pos="100000">
                <a:srgbClr val="232F3E">
                  <a:alpha val="25000"/>
                </a:srgbClr>
              </a:gs>
            </a:gsLst>
            <a:lin ang="0" scaled="1"/>
          </a:gradFill>
          <a:ln w="12700">
            <a:solidFill>
              <a:srgbClr val="FFFFFF">
                <a:alpha val="0"/>
              </a:srgbClr>
            </a:solidFill>
            <a:prstDash val="solid"/>
          </a:ln>
        </p:spPr>
      </p:sp>
      <p:sp>
        <p:nvSpPr>
          <p:cNvPr id="5" name="Shape 1"/>
          <p:cNvSpPr/>
          <p:nvPr/>
        </p:nvSpPr>
        <p:spPr>
          <a:xfrm>
            <a:off x="1016000" y="2286000"/>
            <a:ext cx="3302000" cy="406400"/>
          </a:xfrm>
          <a:prstGeom prst="roundRect">
            <a:avLst>
              <a:gd name="adj" fmla="val 50000"/>
            </a:avLst>
          </a:prstGeom>
          <a:solidFill>
            <a:srgbClr val="FF9900"/>
          </a:solidFill>
          <a:ln/>
          <a:effectLst>
            <a:outerShdw sx="100000" sy="100000" kx="0" ky="0" algn="bl" rotWithShape="0" blurRad="101600" dist="25400" dir="5400000">
              <a:srgbClr val="000000">
                <a:alpha val="25098"/>
              </a:srgbClr>
            </a:outerShdw>
          </a:effectLst>
        </p:spPr>
      </p:sp>
      <p:sp>
        <p:nvSpPr>
          <p:cNvPr id="6" name="Text 2"/>
          <p:cNvSpPr/>
          <p:nvPr/>
        </p:nvSpPr>
        <p:spPr>
          <a:xfrm>
            <a:off x="1016000" y="2286000"/>
            <a:ext cx="3302000" cy="406400"/>
          </a:xfrm>
          <a:prstGeom prst="rect">
            <a:avLst/>
          </a:prstGeom>
          <a:noFill/>
          <a:ln/>
        </p:spPr>
        <p:txBody>
          <a:bodyPr wrap="none" lIns="0" tIns="0" rIns="0" bIns="0" rtlCol="0" anchor="ctr"/>
          <a:lstStyle/>
          <a:p>
            <a:pPr algn="ctr">
              <a:lnSpc>
                <a:spcPct val="120000"/>
              </a:lnSpc>
            </a:pPr>
            <a:r>
              <a:rPr lang="en-US" sz="1200" b="1" spc="100" kern="0" dirty="0">
                <a:solidFill>
                  <a:srgbClr val="FFFFFF"/>
                </a:solidFill>
                <a:latin typeface="Liter" pitchFamily="34" charset="0"/>
                <a:ea typeface="Liter" pitchFamily="34" charset="-122"/>
                <a:cs typeface="Liter" pitchFamily="34" charset="-120"/>
              </a:rPr>
              <a:t>CLOUD COMPUTING PROJECT</a:t>
            </a:r>
            <a:endParaRPr lang="en-US" sz="1200" dirty="0"/>
          </a:p>
        </p:txBody>
      </p:sp>
      <p:sp>
        <p:nvSpPr>
          <p:cNvPr id="7" name="Text 3"/>
          <p:cNvSpPr/>
          <p:nvPr/>
        </p:nvSpPr>
        <p:spPr>
          <a:xfrm>
            <a:off x="1016000" y="2921000"/>
            <a:ext cx="8890000" cy="1524000"/>
          </a:xfrm>
          <a:prstGeom prst="rect">
            <a:avLst/>
          </a:prstGeom>
          <a:noFill/>
          <a:ln/>
        </p:spPr>
        <p:txBody>
          <a:bodyPr wrap="square" lIns="0" tIns="0" rIns="0" bIns="0" rtlCol="0" anchor="t"/>
          <a:lstStyle/>
          <a:p>
            <a:pPr algn="l">
              <a:lnSpc>
                <a:spcPct val="120000"/>
              </a:lnSpc>
            </a:pPr>
            <a:r>
              <a:rPr lang="en-US" sz="4200" b="1" dirty="0">
                <a:solidFill>
                  <a:srgbClr val="FFFFFF"/>
                </a:solidFill>
                <a:latin typeface="Liter" pitchFamily="34" charset="0"/>
                <a:ea typeface="Liter" pitchFamily="34" charset="-122"/>
                <a:cs typeface="Liter" pitchFamily="34" charset="-120"/>
              </a:rPr>
              <a:t>Student Notes Management System</a:t>
            </a:r>
            <a:endParaRPr lang="en-US" sz="4200" dirty="0"/>
          </a:p>
        </p:txBody>
      </p:sp>
      <p:sp>
        <p:nvSpPr>
          <p:cNvPr id="8" name="Text 4"/>
          <p:cNvSpPr/>
          <p:nvPr/>
        </p:nvSpPr>
        <p:spPr>
          <a:xfrm>
            <a:off x="1016000" y="4572000"/>
            <a:ext cx="7620000" cy="444500"/>
          </a:xfrm>
          <a:prstGeom prst="rect">
            <a:avLst/>
          </a:prstGeom>
          <a:noFill/>
          <a:ln/>
        </p:spPr>
        <p:txBody>
          <a:bodyPr wrap="none" lIns="0" tIns="0" rIns="0" bIns="0" rtlCol="0" anchor="ctr"/>
          <a:lstStyle/>
          <a:p>
            <a:pPr algn="l">
              <a:lnSpc>
                <a:spcPct val="140000"/>
              </a:lnSpc>
            </a:pPr>
            <a:r>
              <a:rPr lang="en-US" sz="2000" dirty="0">
                <a:solidFill>
                  <a:srgbClr val="FFFFFF"/>
                </a:solidFill>
                <a:latin typeface="Quattrocento Sans" pitchFamily="34" charset="0"/>
                <a:ea typeface="Quattrocento Sans" pitchFamily="34" charset="-122"/>
                <a:cs typeface="Quattrocento Sans" pitchFamily="34" charset="-120"/>
              </a:rPr>
              <a:t>using Amazon Web Services (AWS)</a:t>
            </a:r>
            <a:endParaRPr lang="en-US" sz="2000" dirty="0"/>
          </a:p>
        </p:txBody>
      </p:sp>
      <p:sp>
        <p:nvSpPr>
          <p:cNvPr id="9" name="Shape 5"/>
          <p:cNvSpPr/>
          <p:nvPr/>
        </p:nvSpPr>
        <p:spPr>
          <a:xfrm>
            <a:off x="1016000" y="5270500"/>
            <a:ext cx="1016000" cy="50800"/>
          </a:xfrm>
          <a:prstGeom prst="rect">
            <a:avLst/>
          </a:prstGeom>
          <a:solidFill>
            <a:srgbClr val="FF9900"/>
          </a:solidFill>
          <a:ln/>
        </p:spPr>
      </p:sp>
      <p:sp>
        <p:nvSpPr>
          <p:cNvPr id="10" name="Text 6"/>
          <p:cNvSpPr/>
          <p:nvPr/>
        </p:nvSpPr>
        <p:spPr>
          <a:xfrm>
            <a:off x="1016000" y="5524500"/>
            <a:ext cx="6350000" cy="1841500"/>
          </a:xfrm>
          <a:prstGeom prst="rect">
            <a:avLst/>
          </a:prstGeom>
          <a:noFill/>
          <a:ln/>
        </p:spPr>
        <p:txBody>
          <a:bodyPr wrap="square" lIns="0" tIns="0" rIns="0" bIns="0" rtlCol="0" anchor="t"/>
          <a:lstStyle/>
          <a:p>
            <a:pPr algn="l">
              <a:lnSpc>
                <a:spcPct val="180000"/>
              </a:lnSpc>
            </a:pPr>
            <a:r>
              <a:rPr lang="en-US" sz="1600" b="1" dirty="0">
                <a:solidFill>
                  <a:srgbClr val="FFFFFF"/>
                </a:solidFill>
                <a:latin typeface="Quattrocento Sans" pitchFamily="34" charset="0"/>
                <a:ea typeface="Quattrocento Sans" pitchFamily="34" charset="-122"/>
                <a:cs typeface="Quattrocento Sans" pitchFamily="34" charset="-120"/>
              </a:rPr>
              <a:t>Prepared by:</a:t>
            </a:r>
            <a:pPr algn="l">
              <a:lnSpc>
                <a:spcPct val="180000"/>
              </a:lnSpc>
            </a:pPr>
            <a:r>
              <a:rPr lang="en-US" sz="1600" dirty="0">
                <a:solidFill>
                  <a:srgbClr val="FFFFFF"/>
                </a:solidFill>
                <a:latin typeface="Quattrocento Sans" pitchFamily="34" charset="0"/>
                <a:ea typeface="Quattrocento Sans" pitchFamily="34" charset="-122"/>
                <a:cs typeface="Quattrocento Sans" pitchFamily="34" charset="-120"/>
              </a:rPr>
              <a:t> [Prattyush Awasthi &amp; Abhishek Mishra]</a:t>
            </a:r>
            <a:endParaRPr lang="en-US" sz="1600" dirty="0"/>
          </a:p>
          <a:p>
            <a:pPr algn="l">
              <a:lnSpc>
                <a:spcPct val="180000"/>
              </a:lnSpc>
            </a:pPr>
            <a:r>
              <a:rPr lang="en-US" sz="1600" b="1" dirty="0">
                <a:solidFill>
                  <a:srgbClr val="FFFFFF"/>
                </a:solidFill>
                <a:latin typeface="Quattrocento Sans" pitchFamily="34" charset="0"/>
                <a:ea typeface="Quattrocento Sans" pitchFamily="34" charset="-122"/>
                <a:cs typeface="Quattrocento Sans" pitchFamily="34" charset="-120"/>
              </a:rPr>
              <a:t>College:</a:t>
            </a:r>
            <a:pPr algn="l">
              <a:lnSpc>
                <a:spcPct val="180000"/>
              </a:lnSpc>
            </a:pPr>
            <a:r>
              <a:rPr lang="en-US" sz="1600" dirty="0">
                <a:solidFill>
                  <a:srgbClr val="FFFFFF"/>
                </a:solidFill>
                <a:latin typeface="Quattrocento Sans" pitchFamily="34" charset="0"/>
                <a:ea typeface="Quattrocento Sans" pitchFamily="34" charset="-122"/>
                <a:cs typeface="Quattrocento Sans" pitchFamily="34" charset="-120"/>
              </a:rPr>
              <a:t> [SRMCEM]</a:t>
            </a:r>
            <a:endParaRPr lang="en-US" sz="1600" dirty="0"/>
          </a:p>
          <a:p>
            <a:pPr algn="l">
              <a:lnSpc>
                <a:spcPct val="180000"/>
              </a:lnSpc>
            </a:pPr>
            <a:r>
              <a:rPr lang="en-US" sz="1600" b="1" dirty="0">
                <a:solidFill>
                  <a:srgbClr val="FFFFFF"/>
                </a:solidFill>
                <a:latin typeface="Quattrocento Sans" pitchFamily="34" charset="0"/>
                <a:ea typeface="Quattrocento Sans" pitchFamily="34" charset="-122"/>
                <a:cs typeface="Quattrocento Sans" pitchFamily="34" charset="-120"/>
              </a:rPr>
              <a:t>Department:</a:t>
            </a:r>
            <a:pPr algn="l">
              <a:lnSpc>
                <a:spcPct val="180000"/>
              </a:lnSpc>
            </a:pPr>
            <a:r>
              <a:rPr lang="en-US" sz="1600" dirty="0">
                <a:solidFill>
                  <a:srgbClr val="FFFFFF"/>
                </a:solidFill>
                <a:latin typeface="Quattrocento Sans" pitchFamily="34" charset="0"/>
                <a:ea typeface="Quattrocento Sans" pitchFamily="34" charset="-122"/>
                <a:cs typeface="Quattrocento Sans" pitchFamily="34" charset="-120"/>
              </a:rPr>
              <a:t> [Department OF Computer Science]</a:t>
            </a:r>
            <a:endParaRPr lang="en-US" sz="1600" dirty="0"/>
          </a:p>
          <a:p>
            <a:pPr algn="l">
              <a:lnSpc>
                <a:spcPct val="180000"/>
              </a:lnSpc>
            </a:pPr>
            <a:r>
              <a:rPr lang="en-US" sz="1600" b="1" dirty="0">
                <a:solidFill>
                  <a:srgbClr val="FFFFFF"/>
                </a:solidFill>
                <a:latin typeface="Quattrocento Sans" pitchFamily="34" charset="0"/>
                <a:ea typeface="Quattrocento Sans" pitchFamily="34" charset="-122"/>
                <a:cs typeface="Quattrocento Sans" pitchFamily="34" charset="-120"/>
              </a:rPr>
              <a:t>Guide:</a:t>
            </a:r>
            <a:pPr algn="l">
              <a:lnSpc>
                <a:spcPct val="180000"/>
              </a:lnSpc>
            </a:pPr>
            <a:r>
              <a:rPr lang="en-US" sz="1600" dirty="0">
                <a:solidFill>
                  <a:srgbClr val="FFFFFF"/>
                </a:solidFill>
                <a:latin typeface="Quattrocento Sans" pitchFamily="34" charset="0"/>
                <a:ea typeface="Quattrocento Sans" pitchFamily="34" charset="-122"/>
                <a:cs typeface="Quattrocento Sans" pitchFamily="34" charset="-120"/>
              </a:rPr>
              <a:t> [Anmol Singh]</a:t>
            </a:r>
            <a:endParaRPr lang="en-US" sz="1600" dirty="0"/>
          </a:p>
        </p:txBody>
      </p:sp>
      <p:sp>
        <p:nvSpPr>
          <p:cNvPr id="11" name="Shape 7"/>
          <p:cNvSpPr/>
          <p:nvPr/>
        </p:nvSpPr>
        <p:spPr>
          <a:xfrm>
            <a:off x="13716000" y="7366000"/>
            <a:ext cx="1524000" cy="1016000"/>
          </a:xfrm>
          <a:custGeom>
            <a:avLst/>
            <a:gdLst/>
            <a:ahLst/>
            <a:cxnLst/>
            <a:rect l="l" t="t" r="r" b="b"/>
            <a:pathLst>
              <a:path w="1524000" h="1016000">
                <a:moveTo>
                  <a:pt x="429578" y="402828"/>
                </a:moveTo>
                <a:cubicBezTo>
                  <a:pt x="427911" y="447675"/>
                  <a:pt x="454819" y="467717"/>
                  <a:pt x="455533" y="480219"/>
                </a:cubicBezTo>
                <a:cubicBezTo>
                  <a:pt x="455295" y="482798"/>
                  <a:pt x="454104" y="485180"/>
                  <a:pt x="452437" y="487362"/>
                </a:cubicBezTo>
                <a:cubicBezTo>
                  <a:pt x="450771" y="489545"/>
                  <a:pt x="448389" y="491331"/>
                  <a:pt x="445770" y="492522"/>
                </a:cubicBezTo>
                <a:lnTo>
                  <a:pt x="415290" y="510381"/>
                </a:lnTo>
                <a:cubicBezTo>
                  <a:pt x="411242" y="512762"/>
                  <a:pt x="406717" y="513953"/>
                  <a:pt x="401955" y="514152"/>
                </a:cubicBezTo>
                <a:cubicBezTo>
                  <a:pt x="401002" y="514152"/>
                  <a:pt x="382429" y="517723"/>
                  <a:pt x="353139" y="463352"/>
                </a:cubicBezTo>
                <a:cubicBezTo>
                  <a:pt x="335280" y="482005"/>
                  <a:pt x="312658" y="496887"/>
                  <a:pt x="286702" y="507008"/>
                </a:cubicBezTo>
                <a:cubicBezTo>
                  <a:pt x="260747" y="517128"/>
                  <a:pt x="232648" y="522288"/>
                  <a:pt x="204073" y="521891"/>
                </a:cubicBezTo>
                <a:cubicBezTo>
                  <a:pt x="165259" y="523677"/>
                  <a:pt x="60246" y="503634"/>
                  <a:pt x="65722" y="410369"/>
                </a:cubicBezTo>
                <a:cubicBezTo>
                  <a:pt x="61912" y="334367"/>
                  <a:pt x="146923" y="287139"/>
                  <a:pt x="234553" y="291306"/>
                </a:cubicBezTo>
                <a:cubicBezTo>
                  <a:pt x="251460" y="291306"/>
                  <a:pt x="285988" y="292100"/>
                  <a:pt x="346472" y="303808"/>
                </a:cubicBezTo>
                <a:lnTo>
                  <a:pt x="346472" y="272852"/>
                </a:lnTo>
                <a:cubicBezTo>
                  <a:pt x="352901" y="220266"/>
                  <a:pt x="311467" y="179586"/>
                  <a:pt x="239792" y="185738"/>
                </a:cubicBezTo>
                <a:cubicBezTo>
                  <a:pt x="234077" y="185738"/>
                  <a:pt x="193596" y="184745"/>
                  <a:pt x="130731" y="205780"/>
                </a:cubicBezTo>
                <a:cubicBezTo>
                  <a:pt x="113109" y="212527"/>
                  <a:pt x="110966" y="211336"/>
                  <a:pt x="105013" y="211336"/>
                </a:cubicBezTo>
                <a:cubicBezTo>
                  <a:pt x="87392" y="211336"/>
                  <a:pt x="94536" y="168672"/>
                  <a:pt x="98107" y="163314"/>
                </a:cubicBezTo>
                <a:cubicBezTo>
                  <a:pt x="110490" y="150614"/>
                  <a:pt x="183594" y="126802"/>
                  <a:pt x="255032" y="127198"/>
                </a:cubicBezTo>
                <a:cubicBezTo>
                  <a:pt x="302895" y="123627"/>
                  <a:pt x="350520" y="135930"/>
                  <a:pt x="387668" y="161528"/>
                </a:cubicBezTo>
                <a:cubicBezTo>
                  <a:pt x="402669" y="175617"/>
                  <a:pt x="414338" y="192088"/>
                  <a:pt x="421481" y="209947"/>
                </a:cubicBezTo>
                <a:cubicBezTo>
                  <a:pt x="428625" y="227806"/>
                  <a:pt x="431483" y="246658"/>
                  <a:pt x="429816" y="265509"/>
                </a:cubicBezTo>
                <a:lnTo>
                  <a:pt x="429816" y="403027"/>
                </a:lnTo>
                <a:close/>
                <a:moveTo>
                  <a:pt x="223838" y="467122"/>
                </a:moveTo>
                <a:cubicBezTo>
                  <a:pt x="300990" y="466130"/>
                  <a:pt x="333851" y="427434"/>
                  <a:pt x="341233" y="406598"/>
                </a:cubicBezTo>
                <a:cubicBezTo>
                  <a:pt x="347186" y="386556"/>
                  <a:pt x="346234" y="374055"/>
                  <a:pt x="346234" y="352227"/>
                </a:cubicBezTo>
                <a:cubicBezTo>
                  <a:pt x="323136" y="347663"/>
                  <a:pt x="290036" y="342503"/>
                  <a:pt x="251936" y="342503"/>
                </a:cubicBezTo>
                <a:cubicBezTo>
                  <a:pt x="215741" y="340320"/>
                  <a:pt x="150019" y="353616"/>
                  <a:pt x="152638" y="406598"/>
                </a:cubicBezTo>
                <a:cubicBezTo>
                  <a:pt x="149781" y="439936"/>
                  <a:pt x="179070" y="468908"/>
                  <a:pt x="224076" y="467122"/>
                </a:cubicBezTo>
                <a:close/>
                <a:moveTo>
                  <a:pt x="630793" y="512961"/>
                </a:moveTo>
                <a:cubicBezTo>
                  <a:pt x="611981" y="514350"/>
                  <a:pt x="603409" y="503238"/>
                  <a:pt x="600551" y="492323"/>
                </a:cubicBezTo>
                <a:lnTo>
                  <a:pt x="481965" y="165497"/>
                </a:lnTo>
                <a:cubicBezTo>
                  <a:pt x="479584" y="159941"/>
                  <a:pt x="478155" y="154384"/>
                  <a:pt x="477441" y="148431"/>
                </a:cubicBezTo>
                <a:cubicBezTo>
                  <a:pt x="476964" y="146050"/>
                  <a:pt x="477679" y="143669"/>
                  <a:pt x="479346" y="141684"/>
                </a:cubicBezTo>
                <a:cubicBezTo>
                  <a:pt x="481013" y="139700"/>
                  <a:pt x="483632" y="138509"/>
                  <a:pt x="486489" y="138113"/>
                </a:cubicBezTo>
                <a:cubicBezTo>
                  <a:pt x="486966" y="138113"/>
                  <a:pt x="481489" y="138113"/>
                  <a:pt x="539353" y="138113"/>
                </a:cubicBezTo>
                <a:cubicBezTo>
                  <a:pt x="560308" y="136327"/>
                  <a:pt x="566976" y="150019"/>
                  <a:pt x="569357" y="158750"/>
                </a:cubicBezTo>
                <a:lnTo>
                  <a:pt x="654606" y="438150"/>
                </a:lnTo>
                <a:lnTo>
                  <a:pt x="733663" y="158750"/>
                </a:lnTo>
                <a:cubicBezTo>
                  <a:pt x="734854" y="152400"/>
                  <a:pt x="740569" y="136723"/>
                  <a:pt x="764143" y="138509"/>
                </a:cubicBezTo>
                <a:lnTo>
                  <a:pt x="805101" y="138509"/>
                </a:lnTo>
                <a:cubicBezTo>
                  <a:pt x="810339" y="138113"/>
                  <a:pt x="831533" y="137517"/>
                  <a:pt x="835343" y="159147"/>
                </a:cubicBezTo>
                <a:lnTo>
                  <a:pt x="914638" y="441920"/>
                </a:lnTo>
                <a:lnTo>
                  <a:pt x="1002506" y="158948"/>
                </a:lnTo>
                <a:cubicBezTo>
                  <a:pt x="1003697" y="154583"/>
                  <a:pt x="1008936" y="136327"/>
                  <a:pt x="1032748" y="138311"/>
                </a:cubicBezTo>
                <a:lnTo>
                  <a:pt x="1079659" y="138311"/>
                </a:lnTo>
                <a:cubicBezTo>
                  <a:pt x="1081802" y="138113"/>
                  <a:pt x="1094423" y="136723"/>
                  <a:pt x="1092279" y="155377"/>
                </a:cubicBezTo>
                <a:cubicBezTo>
                  <a:pt x="1091327" y="158948"/>
                  <a:pt x="1100376" y="134144"/>
                  <a:pt x="966549" y="492522"/>
                </a:cubicBezTo>
                <a:cubicBezTo>
                  <a:pt x="963930" y="503436"/>
                  <a:pt x="955119" y="514548"/>
                  <a:pt x="936308" y="513159"/>
                </a:cubicBezTo>
                <a:lnTo>
                  <a:pt x="891778" y="513159"/>
                </a:lnTo>
                <a:cubicBezTo>
                  <a:pt x="865823" y="515541"/>
                  <a:pt x="862012" y="493911"/>
                  <a:pt x="861536" y="491927"/>
                </a:cubicBezTo>
                <a:lnTo>
                  <a:pt x="782479" y="219869"/>
                </a:lnTo>
                <a:lnTo>
                  <a:pt x="704374" y="491728"/>
                </a:lnTo>
                <a:cubicBezTo>
                  <a:pt x="703898" y="493911"/>
                  <a:pt x="700326" y="515342"/>
                  <a:pt x="674132" y="512961"/>
                </a:cubicBezTo>
                <a:lnTo>
                  <a:pt x="630555" y="512961"/>
                </a:lnTo>
                <a:lnTo>
                  <a:pt x="630555" y="512961"/>
                </a:lnTo>
                <a:close/>
                <a:moveTo>
                  <a:pt x="1282065" y="524073"/>
                </a:moveTo>
                <a:cubicBezTo>
                  <a:pt x="1268016" y="524073"/>
                  <a:pt x="1201341" y="523478"/>
                  <a:pt x="1145381" y="499666"/>
                </a:cubicBezTo>
                <a:cubicBezTo>
                  <a:pt x="1139904" y="497681"/>
                  <a:pt x="1135142" y="494506"/>
                  <a:pt x="1131808" y="490141"/>
                </a:cubicBezTo>
                <a:cubicBezTo>
                  <a:pt x="1128474" y="485775"/>
                  <a:pt x="1126808" y="481012"/>
                  <a:pt x="1126808" y="476052"/>
                </a:cubicBezTo>
                <a:lnTo>
                  <a:pt x="1126808" y="454819"/>
                </a:lnTo>
                <a:cubicBezTo>
                  <a:pt x="1126808" y="437952"/>
                  <a:pt x="1141571" y="441127"/>
                  <a:pt x="1147763" y="443111"/>
                </a:cubicBezTo>
                <a:cubicBezTo>
                  <a:pt x="1171575" y="451247"/>
                  <a:pt x="1187053" y="457200"/>
                  <a:pt x="1216343" y="462161"/>
                </a:cubicBezTo>
                <a:cubicBezTo>
                  <a:pt x="1303734" y="477044"/>
                  <a:pt x="1342073" y="457597"/>
                  <a:pt x="1351359" y="453231"/>
                </a:cubicBezTo>
                <a:cubicBezTo>
                  <a:pt x="1382792" y="437753"/>
                  <a:pt x="1385173" y="402233"/>
                  <a:pt x="1363980" y="383977"/>
                </a:cubicBezTo>
                <a:cubicBezTo>
                  <a:pt x="1338977" y="366514"/>
                  <a:pt x="1327071" y="365919"/>
                  <a:pt x="1237536" y="342305"/>
                </a:cubicBezTo>
                <a:cubicBezTo>
                  <a:pt x="1226582" y="339725"/>
                  <a:pt x="1133475" y="315317"/>
                  <a:pt x="1133237" y="238323"/>
                </a:cubicBezTo>
                <a:cubicBezTo>
                  <a:pt x="1131808" y="182364"/>
                  <a:pt x="1192768" y="126802"/>
                  <a:pt x="1298734" y="127198"/>
                </a:cubicBezTo>
                <a:cubicBezTo>
                  <a:pt x="1328976" y="127198"/>
                  <a:pt x="1409224" y="135334"/>
                  <a:pt x="1431131" y="158155"/>
                </a:cubicBezTo>
                <a:cubicBezTo>
                  <a:pt x="1434465" y="162322"/>
                  <a:pt x="1435894" y="167283"/>
                  <a:pt x="1435656" y="172045"/>
                </a:cubicBezTo>
                <a:lnTo>
                  <a:pt x="1435656" y="192087"/>
                </a:lnTo>
                <a:cubicBezTo>
                  <a:pt x="1435656" y="200819"/>
                  <a:pt x="1431846" y="205383"/>
                  <a:pt x="1423987" y="205383"/>
                </a:cubicBezTo>
                <a:cubicBezTo>
                  <a:pt x="1405652" y="203597"/>
                  <a:pt x="1373029" y="183158"/>
                  <a:pt x="1306830" y="183952"/>
                </a:cubicBezTo>
                <a:cubicBezTo>
                  <a:pt x="1290399" y="183158"/>
                  <a:pt x="1211818" y="185737"/>
                  <a:pt x="1215390" y="233561"/>
                </a:cubicBezTo>
                <a:cubicBezTo>
                  <a:pt x="1214437" y="271264"/>
                  <a:pt x="1278731" y="285353"/>
                  <a:pt x="1286113" y="286941"/>
                </a:cubicBezTo>
                <a:cubicBezTo>
                  <a:pt x="1373029" y="308769"/>
                  <a:pt x="1401842" y="312341"/>
                  <a:pt x="1436370" y="345678"/>
                </a:cubicBezTo>
                <a:cubicBezTo>
                  <a:pt x="1477089" y="389731"/>
                  <a:pt x="1455182" y="441523"/>
                  <a:pt x="1446609" y="455612"/>
                </a:cubicBezTo>
                <a:cubicBezTo>
                  <a:pt x="1401127" y="530027"/>
                  <a:pt x="1283732" y="523875"/>
                  <a:pt x="1281589" y="523875"/>
                </a:cubicBezTo>
                <a:close/>
                <a:moveTo>
                  <a:pt x="1377791" y="732234"/>
                </a:moveTo>
                <a:cubicBezTo>
                  <a:pt x="1211104" y="834827"/>
                  <a:pt x="968931" y="889397"/>
                  <a:pt x="762238" y="889397"/>
                </a:cubicBezTo>
                <a:cubicBezTo>
                  <a:pt x="483394" y="890984"/>
                  <a:pt x="213836" y="805458"/>
                  <a:pt x="6668" y="649883"/>
                </a:cubicBezTo>
                <a:cubicBezTo>
                  <a:pt x="-8811" y="638175"/>
                  <a:pt x="4763" y="622102"/>
                  <a:pt x="23813" y="631031"/>
                </a:cubicBezTo>
                <a:cubicBezTo>
                  <a:pt x="253603" y="740569"/>
                  <a:pt x="513636" y="798116"/>
                  <a:pt x="778431" y="797917"/>
                </a:cubicBezTo>
                <a:cubicBezTo>
                  <a:pt x="976074" y="797123"/>
                  <a:pt x="1171575" y="763588"/>
                  <a:pt x="1353741" y="699691"/>
                </a:cubicBezTo>
                <a:cubicBezTo>
                  <a:pt x="1381839" y="689769"/>
                  <a:pt x="1405652" y="715169"/>
                  <a:pt x="1377791" y="732234"/>
                </a:cubicBezTo>
                <a:close/>
                <a:moveTo>
                  <a:pt x="1447324" y="666155"/>
                </a:moveTo>
                <a:cubicBezTo>
                  <a:pt x="1425893" y="643334"/>
                  <a:pt x="1306116" y="655439"/>
                  <a:pt x="1252538" y="660797"/>
                </a:cubicBezTo>
                <a:cubicBezTo>
                  <a:pt x="1236345" y="662384"/>
                  <a:pt x="1233726" y="650677"/>
                  <a:pt x="1248251" y="641945"/>
                </a:cubicBezTo>
                <a:cubicBezTo>
                  <a:pt x="1343739" y="585986"/>
                  <a:pt x="1500426" y="602059"/>
                  <a:pt x="1518285" y="620911"/>
                </a:cubicBezTo>
                <a:cubicBezTo>
                  <a:pt x="1536144" y="639763"/>
                  <a:pt x="1513284" y="770533"/>
                  <a:pt x="1423988" y="833041"/>
                </a:cubicBezTo>
                <a:cubicBezTo>
                  <a:pt x="1410176" y="842764"/>
                  <a:pt x="1397079" y="837605"/>
                  <a:pt x="1403271" y="824905"/>
                </a:cubicBezTo>
                <a:cubicBezTo>
                  <a:pt x="1423273" y="782637"/>
                  <a:pt x="1468517" y="688975"/>
                  <a:pt x="1447086" y="666155"/>
                </a:cubicBezTo>
                <a:close/>
              </a:path>
            </a:pathLst>
          </a:custGeom>
          <a:solidFill>
            <a:srgbClr val="FFFFFF">
              <a:alpha val="18824"/>
            </a:srgbClr>
          </a:solidFill>
          <a:ln/>
        </p:spPr>
      </p:sp>
    </p:spTree>
  </p:cSld>
  <p:clrMapOvr>
    <a:masterClrMapping/>
  </p:clrMapOvr>
  <p:transition>
    <p:fade/>
    <p:spd val="med"/>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0" y="457200"/>
            <a:ext cx="2032000" cy="50800"/>
          </a:xfrm>
          <a:prstGeom prst="rect">
            <a:avLst/>
          </a:prstGeom>
          <a:solidFill>
            <a:srgbClr val="FF9900"/>
          </a:solidFill>
          <a:ln/>
        </p:spPr>
      </p:sp>
      <p:sp>
        <p:nvSpPr>
          <p:cNvPr id="5" name="Text 2"/>
          <p:cNvSpPr/>
          <p:nvPr/>
        </p:nvSpPr>
        <p:spPr>
          <a:xfrm>
            <a:off x="762000" y="0"/>
            <a:ext cx="14732000" cy="4445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INTRODUCTION</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PROBLEM STATEMENT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OBJECTIVES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FEATURES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ARCHITECTURE</a:t>
            </a:r>
            <a:endParaRPr lang="en-US" sz="1200" dirty="0"/>
          </a:p>
        </p:txBody>
      </p:sp>
      <p:sp>
        <p:nvSpPr>
          <p:cNvPr id="6" name="Text 3"/>
          <p:cNvSpPr/>
          <p:nvPr/>
        </p:nvSpPr>
        <p:spPr>
          <a:xfrm>
            <a:off x="762000" y="762000"/>
            <a:ext cx="762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INTRODUCTION TO CLOUD COMPUTING</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651000"/>
            <a:ext cx="4572000" cy="3048000"/>
          </a:xfrm>
          <a:prstGeom prst="roundRect">
            <a:avLst>
              <a:gd name="adj" fmla="val 8000"/>
            </a:avLst>
          </a:prstGeom>
          <a:solidFill>
            <a:srgbClr val="F0F4F8"/>
          </a:solidFill>
          <a:ln/>
        </p:spPr>
      </p:sp>
      <p:sp>
        <p:nvSpPr>
          <p:cNvPr id="9" name="Shape 6"/>
          <p:cNvSpPr/>
          <p:nvPr/>
        </p:nvSpPr>
        <p:spPr>
          <a:xfrm>
            <a:off x="1079500" y="1905000"/>
            <a:ext cx="508000" cy="508000"/>
          </a:xfrm>
          <a:custGeom>
            <a:avLst/>
            <a:gdLst/>
            <a:ahLst/>
            <a:cxnLst/>
            <a:rect l="l" t="t" r="r" b="b"/>
            <a:pathLst>
              <a:path w="508000" h="508000">
                <a:moveTo>
                  <a:pt x="0" y="333375"/>
                </a:moveTo>
                <a:cubicBezTo>
                  <a:pt x="0" y="412254"/>
                  <a:pt x="56885" y="476250"/>
                  <a:pt x="127000" y="476250"/>
                </a:cubicBezTo>
                <a:lnTo>
                  <a:pt x="395111" y="476250"/>
                </a:lnTo>
                <a:cubicBezTo>
                  <a:pt x="457465" y="476250"/>
                  <a:pt x="508000" y="419398"/>
                  <a:pt x="508000" y="349250"/>
                </a:cubicBezTo>
                <a:cubicBezTo>
                  <a:pt x="508000" y="298053"/>
                  <a:pt x="481101" y="253901"/>
                  <a:pt x="442295" y="233859"/>
                </a:cubicBezTo>
                <a:cubicBezTo>
                  <a:pt x="448204" y="220861"/>
                  <a:pt x="451556" y="206077"/>
                  <a:pt x="451556" y="190500"/>
                </a:cubicBezTo>
                <a:cubicBezTo>
                  <a:pt x="451556" y="137914"/>
                  <a:pt x="413632" y="95250"/>
                  <a:pt x="366889" y="95250"/>
                </a:cubicBezTo>
                <a:cubicBezTo>
                  <a:pt x="351278" y="95250"/>
                  <a:pt x="336726" y="100013"/>
                  <a:pt x="324203" y="108248"/>
                </a:cubicBezTo>
                <a:cubicBezTo>
                  <a:pt x="302948" y="62805"/>
                  <a:pt x="260526" y="31750"/>
                  <a:pt x="211667" y="31750"/>
                </a:cubicBezTo>
                <a:cubicBezTo>
                  <a:pt x="141552" y="31750"/>
                  <a:pt x="84667" y="95746"/>
                  <a:pt x="84667" y="174625"/>
                </a:cubicBezTo>
                <a:cubicBezTo>
                  <a:pt x="84667" y="182563"/>
                  <a:pt x="85284" y="190401"/>
                  <a:pt x="86342" y="197941"/>
                </a:cubicBezTo>
                <a:cubicBezTo>
                  <a:pt x="36160" y="216991"/>
                  <a:pt x="0" y="270470"/>
                  <a:pt x="0" y="333375"/>
                </a:cubicBezTo>
                <a:close/>
              </a:path>
            </a:pathLst>
          </a:custGeom>
          <a:solidFill>
            <a:srgbClr val="FF9900"/>
          </a:solidFill>
          <a:ln/>
        </p:spPr>
      </p:sp>
      <p:sp>
        <p:nvSpPr>
          <p:cNvPr id="10" name="Text 7"/>
          <p:cNvSpPr/>
          <p:nvPr/>
        </p:nvSpPr>
        <p:spPr>
          <a:xfrm>
            <a:off x="1079500" y="2514600"/>
            <a:ext cx="3937000" cy="381000"/>
          </a:xfrm>
          <a:prstGeom prst="rect">
            <a:avLst/>
          </a:prstGeom>
          <a:noFill/>
          <a:ln/>
        </p:spPr>
        <p:txBody>
          <a:bodyPr wrap="none" lIns="0" tIns="0" rIns="0" bIns="0" rtlCol="0" anchor="ctr"/>
          <a:lstStyle/>
          <a:p>
            <a:pPr algn="l">
              <a:lnSpc>
                <a:spcPct val="130000"/>
              </a:lnSpc>
            </a:pPr>
            <a:r>
              <a:rPr lang="en-US" sz="2200" b="1" dirty="0">
                <a:solidFill>
                  <a:srgbClr val="232F3E"/>
                </a:solidFill>
                <a:latin typeface="Quattrocento Sans" pitchFamily="34" charset="0"/>
                <a:ea typeface="Quattrocento Sans" pitchFamily="34" charset="-122"/>
                <a:cs typeface="Quattrocento Sans" pitchFamily="34" charset="-120"/>
              </a:rPr>
              <a:t>What is Cloud Computing?</a:t>
            </a:r>
            <a:endParaRPr lang="en-US" sz="2200" dirty="0"/>
          </a:p>
        </p:txBody>
      </p:sp>
      <p:sp>
        <p:nvSpPr>
          <p:cNvPr id="11" name="Text 8"/>
          <p:cNvSpPr/>
          <p:nvPr/>
        </p:nvSpPr>
        <p:spPr>
          <a:xfrm>
            <a:off x="1079500" y="2946400"/>
            <a:ext cx="3937000" cy="1524000"/>
          </a:xfrm>
          <a:prstGeom prst="rect">
            <a:avLst/>
          </a:prstGeom>
          <a:noFill/>
          <a:ln/>
        </p:spPr>
        <p:txBody>
          <a:bodyPr wrap="square" lIns="0" tIns="0" rIns="0" bIns="0" rtlCol="0" anchor="t"/>
          <a:lstStyle/>
          <a:p>
            <a:pPr algn="l">
              <a:lnSpc>
                <a:spcPct val="150000"/>
              </a:lnSpc>
            </a:pPr>
            <a:r>
              <a:rPr lang="en-US" sz="1600" dirty="0">
                <a:solidFill>
                  <a:srgbClr val="232F3E"/>
                </a:solidFill>
                <a:latin typeface="Quattrocento Sans" pitchFamily="34" charset="0"/>
                <a:ea typeface="Quattrocento Sans" pitchFamily="34" charset="-122"/>
                <a:cs typeface="Quattrocento Sans" pitchFamily="34" charset="-120"/>
              </a:rPr>
              <a:t>Delivery of computing services — servers, storage, databases, networking, and software — over the internet with pay-as-you-go pricing.</a:t>
            </a:r>
            <a:endParaRPr lang="en-US" sz="1600" dirty="0"/>
          </a:p>
        </p:txBody>
      </p:sp>
      <p:sp>
        <p:nvSpPr>
          <p:cNvPr id="12" name="Shape 9"/>
          <p:cNvSpPr/>
          <p:nvPr/>
        </p:nvSpPr>
        <p:spPr>
          <a:xfrm>
            <a:off x="5588000" y="1651000"/>
            <a:ext cx="4572000" cy="3048000"/>
          </a:xfrm>
          <a:prstGeom prst="roundRect">
            <a:avLst>
              <a:gd name="adj" fmla="val 8000"/>
            </a:avLst>
          </a:prstGeom>
          <a:solidFill>
            <a:srgbClr val="F0F4F8"/>
          </a:solidFill>
          <a:ln/>
        </p:spPr>
      </p:sp>
      <p:sp>
        <p:nvSpPr>
          <p:cNvPr id="13" name="Shape 10"/>
          <p:cNvSpPr/>
          <p:nvPr/>
        </p:nvSpPr>
        <p:spPr>
          <a:xfrm>
            <a:off x="5905500" y="1905000"/>
            <a:ext cx="508000" cy="508000"/>
          </a:xfrm>
          <a:custGeom>
            <a:avLst/>
            <a:gdLst/>
            <a:ahLst/>
            <a:cxnLst/>
            <a:rect l="l" t="t" r="r" b="b"/>
            <a:pathLst>
              <a:path w="508000" h="508000">
                <a:moveTo>
                  <a:pt x="143193" y="201414"/>
                </a:moveTo>
                <a:cubicBezTo>
                  <a:pt x="142637" y="223838"/>
                  <a:pt x="151606" y="233859"/>
                  <a:pt x="151844" y="240109"/>
                </a:cubicBezTo>
                <a:cubicBezTo>
                  <a:pt x="151765" y="241399"/>
                  <a:pt x="151368" y="242590"/>
                  <a:pt x="150813" y="243681"/>
                </a:cubicBezTo>
                <a:cubicBezTo>
                  <a:pt x="150257" y="244773"/>
                  <a:pt x="149463" y="245666"/>
                  <a:pt x="148590" y="246261"/>
                </a:cubicBezTo>
                <a:lnTo>
                  <a:pt x="138430" y="255191"/>
                </a:lnTo>
                <a:cubicBezTo>
                  <a:pt x="137081" y="256381"/>
                  <a:pt x="135572" y="256977"/>
                  <a:pt x="133985" y="257076"/>
                </a:cubicBezTo>
                <a:cubicBezTo>
                  <a:pt x="133667" y="257076"/>
                  <a:pt x="127476" y="258862"/>
                  <a:pt x="117713" y="231676"/>
                </a:cubicBezTo>
                <a:cubicBezTo>
                  <a:pt x="111760" y="241002"/>
                  <a:pt x="104219" y="248444"/>
                  <a:pt x="95567" y="253504"/>
                </a:cubicBezTo>
                <a:cubicBezTo>
                  <a:pt x="86916" y="258564"/>
                  <a:pt x="77549" y="261144"/>
                  <a:pt x="68024" y="260945"/>
                </a:cubicBezTo>
                <a:cubicBezTo>
                  <a:pt x="55086" y="261838"/>
                  <a:pt x="20082" y="251817"/>
                  <a:pt x="21907" y="205184"/>
                </a:cubicBezTo>
                <a:cubicBezTo>
                  <a:pt x="20637" y="167184"/>
                  <a:pt x="48974" y="143570"/>
                  <a:pt x="78184" y="145653"/>
                </a:cubicBezTo>
                <a:cubicBezTo>
                  <a:pt x="83820" y="145653"/>
                  <a:pt x="95329" y="146050"/>
                  <a:pt x="115491" y="151904"/>
                </a:cubicBezTo>
                <a:lnTo>
                  <a:pt x="115491" y="136426"/>
                </a:lnTo>
                <a:cubicBezTo>
                  <a:pt x="117634" y="110133"/>
                  <a:pt x="103822" y="89793"/>
                  <a:pt x="79931" y="92869"/>
                </a:cubicBezTo>
                <a:cubicBezTo>
                  <a:pt x="78026" y="92869"/>
                  <a:pt x="64532" y="92373"/>
                  <a:pt x="43577" y="102890"/>
                </a:cubicBezTo>
                <a:cubicBezTo>
                  <a:pt x="37703" y="106263"/>
                  <a:pt x="36989" y="105668"/>
                  <a:pt x="35004" y="105668"/>
                </a:cubicBezTo>
                <a:cubicBezTo>
                  <a:pt x="29131" y="105668"/>
                  <a:pt x="31512" y="84336"/>
                  <a:pt x="32702" y="81657"/>
                </a:cubicBezTo>
                <a:cubicBezTo>
                  <a:pt x="36830" y="75307"/>
                  <a:pt x="61198" y="63401"/>
                  <a:pt x="85011" y="63599"/>
                </a:cubicBezTo>
                <a:cubicBezTo>
                  <a:pt x="100965" y="61813"/>
                  <a:pt x="116840" y="67965"/>
                  <a:pt x="129223" y="80764"/>
                </a:cubicBezTo>
                <a:cubicBezTo>
                  <a:pt x="134223" y="87809"/>
                  <a:pt x="138113" y="96044"/>
                  <a:pt x="140494" y="104973"/>
                </a:cubicBezTo>
                <a:cubicBezTo>
                  <a:pt x="142875" y="113903"/>
                  <a:pt x="143828" y="123329"/>
                  <a:pt x="143272" y="132755"/>
                </a:cubicBezTo>
                <a:lnTo>
                  <a:pt x="143272" y="201513"/>
                </a:lnTo>
                <a:close/>
                <a:moveTo>
                  <a:pt x="74613" y="233561"/>
                </a:moveTo>
                <a:cubicBezTo>
                  <a:pt x="100330" y="233065"/>
                  <a:pt x="111284" y="213717"/>
                  <a:pt x="113744" y="203299"/>
                </a:cubicBezTo>
                <a:cubicBezTo>
                  <a:pt x="115729" y="193278"/>
                  <a:pt x="115411" y="187027"/>
                  <a:pt x="115411" y="176113"/>
                </a:cubicBezTo>
                <a:cubicBezTo>
                  <a:pt x="107712" y="173831"/>
                  <a:pt x="96679" y="171252"/>
                  <a:pt x="83979" y="171252"/>
                </a:cubicBezTo>
                <a:cubicBezTo>
                  <a:pt x="71914" y="170160"/>
                  <a:pt x="50006" y="176808"/>
                  <a:pt x="50879" y="203299"/>
                </a:cubicBezTo>
                <a:cubicBezTo>
                  <a:pt x="49927" y="219968"/>
                  <a:pt x="59690" y="234454"/>
                  <a:pt x="74692" y="233561"/>
                </a:cubicBezTo>
                <a:close/>
                <a:moveTo>
                  <a:pt x="210264" y="256480"/>
                </a:moveTo>
                <a:cubicBezTo>
                  <a:pt x="203994" y="257175"/>
                  <a:pt x="201136" y="251619"/>
                  <a:pt x="200184" y="246162"/>
                </a:cubicBezTo>
                <a:lnTo>
                  <a:pt x="160655" y="82748"/>
                </a:lnTo>
                <a:cubicBezTo>
                  <a:pt x="159861" y="79970"/>
                  <a:pt x="159385" y="77192"/>
                  <a:pt x="159147" y="74216"/>
                </a:cubicBezTo>
                <a:cubicBezTo>
                  <a:pt x="158988" y="73025"/>
                  <a:pt x="159226" y="71834"/>
                  <a:pt x="159782" y="70842"/>
                </a:cubicBezTo>
                <a:cubicBezTo>
                  <a:pt x="160338" y="69850"/>
                  <a:pt x="161211" y="69255"/>
                  <a:pt x="162163" y="69056"/>
                </a:cubicBezTo>
                <a:cubicBezTo>
                  <a:pt x="162322" y="69056"/>
                  <a:pt x="160496" y="69056"/>
                  <a:pt x="179784" y="69056"/>
                </a:cubicBezTo>
                <a:cubicBezTo>
                  <a:pt x="186769" y="68163"/>
                  <a:pt x="188992" y="75009"/>
                  <a:pt x="189786" y="79375"/>
                </a:cubicBezTo>
                <a:lnTo>
                  <a:pt x="218202" y="219075"/>
                </a:lnTo>
                <a:lnTo>
                  <a:pt x="244554" y="79375"/>
                </a:lnTo>
                <a:cubicBezTo>
                  <a:pt x="244951" y="76200"/>
                  <a:pt x="246856" y="68362"/>
                  <a:pt x="254714" y="69255"/>
                </a:cubicBezTo>
                <a:lnTo>
                  <a:pt x="268367" y="69255"/>
                </a:lnTo>
                <a:cubicBezTo>
                  <a:pt x="270113" y="69056"/>
                  <a:pt x="277178" y="68759"/>
                  <a:pt x="278448" y="79573"/>
                </a:cubicBezTo>
                <a:lnTo>
                  <a:pt x="304879" y="220960"/>
                </a:lnTo>
                <a:lnTo>
                  <a:pt x="334169" y="79474"/>
                </a:lnTo>
                <a:cubicBezTo>
                  <a:pt x="334566" y="77291"/>
                  <a:pt x="336312" y="68163"/>
                  <a:pt x="344249" y="69155"/>
                </a:cubicBezTo>
                <a:lnTo>
                  <a:pt x="359886" y="69155"/>
                </a:lnTo>
                <a:cubicBezTo>
                  <a:pt x="360601" y="69056"/>
                  <a:pt x="364808" y="68362"/>
                  <a:pt x="364093" y="77688"/>
                </a:cubicBezTo>
                <a:cubicBezTo>
                  <a:pt x="363776" y="79474"/>
                  <a:pt x="366792" y="67072"/>
                  <a:pt x="322183" y="246261"/>
                </a:cubicBezTo>
                <a:cubicBezTo>
                  <a:pt x="321310" y="251718"/>
                  <a:pt x="318373" y="257274"/>
                  <a:pt x="312103" y="256580"/>
                </a:cubicBezTo>
                <a:lnTo>
                  <a:pt x="297259" y="256580"/>
                </a:lnTo>
                <a:cubicBezTo>
                  <a:pt x="288608" y="257770"/>
                  <a:pt x="287338" y="246955"/>
                  <a:pt x="287179" y="245963"/>
                </a:cubicBezTo>
                <a:lnTo>
                  <a:pt x="260826" y="109934"/>
                </a:lnTo>
                <a:lnTo>
                  <a:pt x="234791" y="245864"/>
                </a:lnTo>
                <a:cubicBezTo>
                  <a:pt x="234633" y="246955"/>
                  <a:pt x="233442" y="257671"/>
                  <a:pt x="224711" y="256480"/>
                </a:cubicBezTo>
                <a:lnTo>
                  <a:pt x="210185" y="256480"/>
                </a:lnTo>
                <a:lnTo>
                  <a:pt x="210185" y="256480"/>
                </a:lnTo>
                <a:close/>
                <a:moveTo>
                  <a:pt x="427355" y="262037"/>
                </a:moveTo>
                <a:cubicBezTo>
                  <a:pt x="422672" y="262037"/>
                  <a:pt x="400447" y="261739"/>
                  <a:pt x="381794" y="249833"/>
                </a:cubicBezTo>
                <a:cubicBezTo>
                  <a:pt x="379968" y="248841"/>
                  <a:pt x="378381" y="247253"/>
                  <a:pt x="377269" y="245070"/>
                </a:cubicBezTo>
                <a:cubicBezTo>
                  <a:pt x="376158" y="242888"/>
                  <a:pt x="375603" y="240506"/>
                  <a:pt x="375603" y="238026"/>
                </a:cubicBezTo>
                <a:lnTo>
                  <a:pt x="375603" y="227409"/>
                </a:lnTo>
                <a:cubicBezTo>
                  <a:pt x="375603" y="218976"/>
                  <a:pt x="380524" y="220563"/>
                  <a:pt x="382588" y="221555"/>
                </a:cubicBezTo>
                <a:cubicBezTo>
                  <a:pt x="390525" y="225623"/>
                  <a:pt x="395684" y="228600"/>
                  <a:pt x="405448" y="231080"/>
                </a:cubicBezTo>
                <a:cubicBezTo>
                  <a:pt x="434578" y="238522"/>
                  <a:pt x="447358" y="228798"/>
                  <a:pt x="450453" y="226616"/>
                </a:cubicBezTo>
                <a:cubicBezTo>
                  <a:pt x="460931" y="218877"/>
                  <a:pt x="461724" y="201116"/>
                  <a:pt x="454660" y="191988"/>
                </a:cubicBezTo>
                <a:cubicBezTo>
                  <a:pt x="446326" y="183257"/>
                  <a:pt x="442357" y="182959"/>
                  <a:pt x="412512" y="171152"/>
                </a:cubicBezTo>
                <a:cubicBezTo>
                  <a:pt x="408861" y="169863"/>
                  <a:pt x="377825" y="157659"/>
                  <a:pt x="377746" y="119162"/>
                </a:cubicBezTo>
                <a:cubicBezTo>
                  <a:pt x="377269" y="91182"/>
                  <a:pt x="397589" y="63401"/>
                  <a:pt x="432911" y="63599"/>
                </a:cubicBezTo>
                <a:cubicBezTo>
                  <a:pt x="442992" y="63599"/>
                  <a:pt x="469741" y="67667"/>
                  <a:pt x="477044" y="79077"/>
                </a:cubicBezTo>
                <a:cubicBezTo>
                  <a:pt x="478155" y="81161"/>
                  <a:pt x="478631" y="83641"/>
                  <a:pt x="478552" y="86023"/>
                </a:cubicBezTo>
                <a:lnTo>
                  <a:pt x="478552" y="96044"/>
                </a:lnTo>
                <a:cubicBezTo>
                  <a:pt x="478552" y="100409"/>
                  <a:pt x="477282" y="102691"/>
                  <a:pt x="474662" y="102691"/>
                </a:cubicBezTo>
                <a:cubicBezTo>
                  <a:pt x="468551" y="101798"/>
                  <a:pt x="457676" y="91579"/>
                  <a:pt x="435610" y="91976"/>
                </a:cubicBezTo>
                <a:cubicBezTo>
                  <a:pt x="430133" y="91579"/>
                  <a:pt x="403939" y="92869"/>
                  <a:pt x="405130" y="116780"/>
                </a:cubicBezTo>
                <a:cubicBezTo>
                  <a:pt x="404812" y="135632"/>
                  <a:pt x="426244" y="142677"/>
                  <a:pt x="428704" y="143470"/>
                </a:cubicBezTo>
                <a:cubicBezTo>
                  <a:pt x="457676" y="154384"/>
                  <a:pt x="467281" y="156170"/>
                  <a:pt x="478790" y="172839"/>
                </a:cubicBezTo>
                <a:cubicBezTo>
                  <a:pt x="492363" y="194866"/>
                  <a:pt x="485061" y="220762"/>
                  <a:pt x="482203" y="227806"/>
                </a:cubicBezTo>
                <a:cubicBezTo>
                  <a:pt x="467042" y="265013"/>
                  <a:pt x="427911" y="261937"/>
                  <a:pt x="427196" y="261937"/>
                </a:cubicBezTo>
                <a:close/>
                <a:moveTo>
                  <a:pt x="459264" y="366117"/>
                </a:moveTo>
                <a:cubicBezTo>
                  <a:pt x="403701" y="417413"/>
                  <a:pt x="322977" y="444698"/>
                  <a:pt x="254079" y="444698"/>
                </a:cubicBezTo>
                <a:cubicBezTo>
                  <a:pt x="161131" y="445492"/>
                  <a:pt x="71279" y="402729"/>
                  <a:pt x="2223" y="324941"/>
                </a:cubicBezTo>
                <a:cubicBezTo>
                  <a:pt x="-2937" y="319088"/>
                  <a:pt x="1588" y="311051"/>
                  <a:pt x="7938" y="315516"/>
                </a:cubicBezTo>
                <a:cubicBezTo>
                  <a:pt x="84534" y="370284"/>
                  <a:pt x="171212" y="399058"/>
                  <a:pt x="259477" y="398959"/>
                </a:cubicBezTo>
                <a:cubicBezTo>
                  <a:pt x="325358" y="398562"/>
                  <a:pt x="390525" y="381794"/>
                  <a:pt x="451247" y="349845"/>
                </a:cubicBezTo>
                <a:cubicBezTo>
                  <a:pt x="460613" y="344884"/>
                  <a:pt x="468551" y="357584"/>
                  <a:pt x="459264" y="366117"/>
                </a:cubicBezTo>
                <a:close/>
                <a:moveTo>
                  <a:pt x="482441" y="333077"/>
                </a:moveTo>
                <a:cubicBezTo>
                  <a:pt x="475298" y="321667"/>
                  <a:pt x="435372" y="327720"/>
                  <a:pt x="417513" y="330398"/>
                </a:cubicBezTo>
                <a:cubicBezTo>
                  <a:pt x="412115" y="331192"/>
                  <a:pt x="411242" y="325338"/>
                  <a:pt x="416084" y="320973"/>
                </a:cubicBezTo>
                <a:cubicBezTo>
                  <a:pt x="447913" y="292993"/>
                  <a:pt x="500142" y="301030"/>
                  <a:pt x="506095" y="310455"/>
                </a:cubicBezTo>
                <a:cubicBezTo>
                  <a:pt x="512048" y="319881"/>
                  <a:pt x="504428" y="385266"/>
                  <a:pt x="474663" y="416520"/>
                </a:cubicBezTo>
                <a:cubicBezTo>
                  <a:pt x="470059" y="421382"/>
                  <a:pt x="465693" y="418802"/>
                  <a:pt x="467757" y="412452"/>
                </a:cubicBezTo>
                <a:cubicBezTo>
                  <a:pt x="474424" y="391319"/>
                  <a:pt x="489506" y="344487"/>
                  <a:pt x="482362" y="333077"/>
                </a:cubicBezTo>
                <a:close/>
              </a:path>
            </a:pathLst>
          </a:custGeom>
          <a:solidFill>
            <a:srgbClr val="FF9900"/>
          </a:solidFill>
          <a:ln/>
        </p:spPr>
      </p:sp>
      <p:sp>
        <p:nvSpPr>
          <p:cNvPr id="14" name="Text 11"/>
          <p:cNvSpPr/>
          <p:nvPr/>
        </p:nvSpPr>
        <p:spPr>
          <a:xfrm>
            <a:off x="5905500" y="2514600"/>
            <a:ext cx="3937000" cy="381000"/>
          </a:xfrm>
          <a:prstGeom prst="rect">
            <a:avLst/>
          </a:prstGeom>
          <a:noFill/>
          <a:ln/>
        </p:spPr>
        <p:txBody>
          <a:bodyPr wrap="none" lIns="0" tIns="0" rIns="0" bIns="0" rtlCol="0" anchor="ctr"/>
          <a:lstStyle/>
          <a:p>
            <a:pPr algn="l">
              <a:lnSpc>
                <a:spcPct val="130000"/>
              </a:lnSpc>
            </a:pPr>
            <a:r>
              <a:rPr lang="en-US" sz="2200" b="1" dirty="0">
                <a:solidFill>
                  <a:srgbClr val="232F3E"/>
                </a:solidFill>
                <a:latin typeface="Quattrocento Sans" pitchFamily="34" charset="0"/>
                <a:ea typeface="Quattrocento Sans" pitchFamily="34" charset="-122"/>
                <a:cs typeface="Quattrocento Sans" pitchFamily="34" charset="-120"/>
              </a:rPr>
              <a:t>Why AWS?</a:t>
            </a:r>
            <a:endParaRPr lang="en-US" sz="2200" dirty="0"/>
          </a:p>
        </p:txBody>
      </p:sp>
      <p:sp>
        <p:nvSpPr>
          <p:cNvPr id="15" name="Text 12"/>
          <p:cNvSpPr/>
          <p:nvPr/>
        </p:nvSpPr>
        <p:spPr>
          <a:xfrm>
            <a:off x="5905500" y="2946400"/>
            <a:ext cx="3937000" cy="1524000"/>
          </a:xfrm>
          <a:prstGeom prst="rect">
            <a:avLst/>
          </a:prstGeom>
          <a:noFill/>
          <a:ln/>
        </p:spPr>
        <p:txBody>
          <a:bodyPr wrap="square" lIns="0" tIns="0" rIns="0" bIns="0" rtlCol="0" anchor="t"/>
          <a:lstStyle/>
          <a:p>
            <a:pPr algn="l">
              <a:lnSpc>
                <a:spcPct val="150000"/>
              </a:lnSpc>
            </a:pPr>
            <a:r>
              <a:rPr lang="en-US" sz="1600" dirty="0">
                <a:solidFill>
                  <a:srgbClr val="232F3E"/>
                </a:solidFill>
                <a:latin typeface="Quattrocento Sans" pitchFamily="34" charset="0"/>
                <a:ea typeface="Quattrocento Sans" pitchFamily="34" charset="-122"/>
                <a:cs typeface="Quattrocento Sans" pitchFamily="34" charset="-120"/>
              </a:rPr>
              <a:t>World's leading cloud platform with 200+ fully featured services, 30% global market share, and millions of active customers worldwide.</a:t>
            </a:r>
            <a:endParaRPr lang="en-US" sz="1600" dirty="0"/>
          </a:p>
        </p:txBody>
      </p:sp>
      <p:sp>
        <p:nvSpPr>
          <p:cNvPr id="16" name="Shape 13"/>
          <p:cNvSpPr/>
          <p:nvPr/>
        </p:nvSpPr>
        <p:spPr>
          <a:xfrm>
            <a:off x="10414000" y="1651000"/>
            <a:ext cx="5080000" cy="3048000"/>
          </a:xfrm>
          <a:prstGeom prst="roundRect">
            <a:avLst>
              <a:gd name="adj" fmla="val 8000"/>
            </a:avLst>
          </a:prstGeom>
          <a:solidFill>
            <a:srgbClr val="F0F4F8"/>
          </a:solidFill>
          <a:ln/>
        </p:spPr>
      </p:sp>
      <p:sp>
        <p:nvSpPr>
          <p:cNvPr id="17" name="Shape 14"/>
          <p:cNvSpPr/>
          <p:nvPr/>
        </p:nvSpPr>
        <p:spPr>
          <a:xfrm>
            <a:off x="10731500" y="1905000"/>
            <a:ext cx="508000" cy="508000"/>
          </a:xfrm>
          <a:custGeom>
            <a:avLst/>
            <a:gdLst/>
            <a:ahLst/>
            <a:cxnLst/>
            <a:rect l="l" t="t" r="r" b="b"/>
            <a:pathLst>
              <a:path w="508000" h="508000">
                <a:moveTo>
                  <a:pt x="508000" y="204192"/>
                </a:moveTo>
                <a:cubicBezTo>
                  <a:pt x="491218" y="213916"/>
                  <a:pt x="471941" y="221754"/>
                  <a:pt x="451871" y="228005"/>
                </a:cubicBezTo>
                <a:cubicBezTo>
                  <a:pt x="398576" y="244673"/>
                  <a:pt x="328613" y="254000"/>
                  <a:pt x="254000" y="254000"/>
                </a:cubicBezTo>
                <a:cubicBezTo>
                  <a:pt x="179387" y="254000"/>
                  <a:pt x="109311" y="244574"/>
                  <a:pt x="56129" y="228005"/>
                </a:cubicBezTo>
                <a:cubicBezTo>
                  <a:pt x="36172" y="221754"/>
                  <a:pt x="16782" y="213916"/>
                  <a:pt x="0" y="204192"/>
                </a:cubicBezTo>
                <a:lnTo>
                  <a:pt x="0" y="285750"/>
                </a:lnTo>
                <a:cubicBezTo>
                  <a:pt x="0" y="329605"/>
                  <a:pt x="113733" y="365125"/>
                  <a:pt x="254000" y="365125"/>
                </a:cubicBezTo>
                <a:cubicBezTo>
                  <a:pt x="394267" y="365125"/>
                  <a:pt x="508000" y="329605"/>
                  <a:pt x="508000" y="285750"/>
                </a:cubicBezTo>
                <a:lnTo>
                  <a:pt x="508000" y="204192"/>
                </a:lnTo>
                <a:close/>
                <a:moveTo>
                  <a:pt x="508000" y="127000"/>
                </a:moveTo>
                <a:lnTo>
                  <a:pt x="508000" y="79375"/>
                </a:lnTo>
                <a:cubicBezTo>
                  <a:pt x="508000" y="35520"/>
                  <a:pt x="394267" y="0"/>
                  <a:pt x="254000" y="0"/>
                </a:cubicBezTo>
                <a:cubicBezTo>
                  <a:pt x="113733" y="0"/>
                  <a:pt x="0" y="35520"/>
                  <a:pt x="0" y="79375"/>
                </a:cubicBezTo>
                <a:lnTo>
                  <a:pt x="0" y="127000"/>
                </a:lnTo>
                <a:cubicBezTo>
                  <a:pt x="0" y="170855"/>
                  <a:pt x="113733" y="206375"/>
                  <a:pt x="254000" y="206375"/>
                </a:cubicBezTo>
                <a:cubicBezTo>
                  <a:pt x="394267" y="206375"/>
                  <a:pt x="508000" y="170855"/>
                  <a:pt x="508000" y="127000"/>
                </a:cubicBezTo>
                <a:close/>
                <a:moveTo>
                  <a:pt x="451871" y="386755"/>
                </a:moveTo>
                <a:cubicBezTo>
                  <a:pt x="398689" y="403324"/>
                  <a:pt x="328726" y="412750"/>
                  <a:pt x="254000" y="412750"/>
                </a:cubicBezTo>
                <a:cubicBezTo>
                  <a:pt x="179274" y="412750"/>
                  <a:pt x="109311" y="403324"/>
                  <a:pt x="56129" y="386755"/>
                </a:cubicBezTo>
                <a:cubicBezTo>
                  <a:pt x="36172" y="380504"/>
                  <a:pt x="16782" y="372666"/>
                  <a:pt x="0" y="362942"/>
                </a:cubicBezTo>
                <a:lnTo>
                  <a:pt x="0" y="428625"/>
                </a:lnTo>
                <a:cubicBezTo>
                  <a:pt x="0" y="472480"/>
                  <a:pt x="113733" y="508000"/>
                  <a:pt x="254000" y="508000"/>
                </a:cubicBezTo>
                <a:cubicBezTo>
                  <a:pt x="394267" y="508000"/>
                  <a:pt x="508000" y="472480"/>
                  <a:pt x="508000" y="428625"/>
                </a:cubicBezTo>
                <a:lnTo>
                  <a:pt x="508000" y="362942"/>
                </a:lnTo>
                <a:cubicBezTo>
                  <a:pt x="491218" y="372666"/>
                  <a:pt x="471941" y="380504"/>
                  <a:pt x="451871" y="386755"/>
                </a:cubicBezTo>
                <a:close/>
              </a:path>
            </a:pathLst>
          </a:custGeom>
          <a:solidFill>
            <a:srgbClr val="FF9900"/>
          </a:solidFill>
          <a:ln/>
        </p:spPr>
      </p:sp>
      <p:sp>
        <p:nvSpPr>
          <p:cNvPr id="18" name="Text 15"/>
          <p:cNvSpPr/>
          <p:nvPr/>
        </p:nvSpPr>
        <p:spPr>
          <a:xfrm>
            <a:off x="10731500" y="2514600"/>
            <a:ext cx="4445000" cy="381000"/>
          </a:xfrm>
          <a:prstGeom prst="rect">
            <a:avLst/>
          </a:prstGeom>
          <a:noFill/>
          <a:ln/>
        </p:spPr>
        <p:txBody>
          <a:bodyPr wrap="none" lIns="0" tIns="0" rIns="0" bIns="0" rtlCol="0" anchor="ctr"/>
          <a:lstStyle/>
          <a:p>
            <a:pPr algn="l">
              <a:lnSpc>
                <a:spcPct val="130000"/>
              </a:lnSpc>
            </a:pPr>
            <a:r>
              <a:rPr lang="en-US" sz="2200" b="1" dirty="0">
                <a:solidFill>
                  <a:srgbClr val="232F3E"/>
                </a:solidFill>
                <a:latin typeface="Quattrocento Sans" pitchFamily="34" charset="0"/>
                <a:ea typeface="Quattrocento Sans" pitchFamily="34" charset="-122"/>
                <a:cs typeface="Quattrocento Sans" pitchFamily="34" charset="-120"/>
              </a:rPr>
              <a:t>Centralized Applications</a:t>
            </a:r>
            <a:endParaRPr lang="en-US" sz="2200" dirty="0"/>
          </a:p>
        </p:txBody>
      </p:sp>
      <p:sp>
        <p:nvSpPr>
          <p:cNvPr id="19" name="Text 16"/>
          <p:cNvSpPr/>
          <p:nvPr/>
        </p:nvSpPr>
        <p:spPr>
          <a:xfrm>
            <a:off x="10731500" y="2946400"/>
            <a:ext cx="4445000" cy="1524000"/>
          </a:xfrm>
          <a:prstGeom prst="rect">
            <a:avLst/>
          </a:prstGeom>
          <a:noFill/>
          <a:ln/>
        </p:spPr>
        <p:txBody>
          <a:bodyPr wrap="square" lIns="0" tIns="0" rIns="0" bIns="0" rtlCol="0" anchor="t"/>
          <a:lstStyle/>
          <a:p>
            <a:pPr algn="l">
              <a:lnSpc>
                <a:spcPct val="150000"/>
              </a:lnSpc>
            </a:pPr>
            <a:r>
              <a:rPr lang="en-US" sz="1600" dirty="0">
                <a:solidFill>
                  <a:srgbClr val="232F3E"/>
                </a:solidFill>
                <a:latin typeface="Quattrocento Sans" pitchFamily="34" charset="0"/>
                <a:ea typeface="Quattrocento Sans" pitchFamily="34" charset="-122"/>
                <a:cs typeface="Quattrocento Sans" pitchFamily="34" charset="-120"/>
              </a:rPr>
              <a:t>Single source of truth with real-time data access, reduced redundancy, and improved collaboration for all users.</a:t>
            </a:r>
            <a:endParaRPr lang="en-US" sz="1600" dirty="0"/>
          </a:p>
        </p:txBody>
      </p:sp>
      <p:sp>
        <p:nvSpPr>
          <p:cNvPr id="20" name="Shape 17"/>
          <p:cNvSpPr/>
          <p:nvPr/>
        </p:nvSpPr>
        <p:spPr>
          <a:xfrm>
            <a:off x="762000" y="5080000"/>
            <a:ext cx="14732000" cy="3302000"/>
          </a:xfrm>
          <a:prstGeom prst="roundRect">
            <a:avLst>
              <a:gd name="adj" fmla="val 5000"/>
            </a:avLst>
          </a:prstGeom>
          <a:gradFill rotWithShape="1" flip="none">
            <a:gsLst>
              <a:gs pos="0">
                <a:srgbClr val="232F3E"/>
              </a:gs>
              <a:gs pos="100000">
                <a:srgbClr val="4A6FA5"/>
              </a:gs>
            </a:gsLst>
            <a:lin ang="0" scaled="1"/>
          </a:gradFill>
          <a:ln/>
        </p:spPr>
      </p:sp>
      <p:sp>
        <p:nvSpPr>
          <p:cNvPr id="21" name="Shape 18"/>
          <p:cNvSpPr/>
          <p:nvPr/>
        </p:nvSpPr>
        <p:spPr>
          <a:xfrm>
            <a:off x="1270000" y="5588000"/>
            <a:ext cx="635000" cy="635000"/>
          </a:xfrm>
          <a:custGeom>
            <a:avLst/>
            <a:gdLst/>
            <a:ahLst/>
            <a:cxnLst/>
            <a:rect l="l" t="t" r="r" b="b"/>
            <a:pathLst>
              <a:path w="635000" h="635000">
                <a:moveTo>
                  <a:pt x="90714" y="39688"/>
                </a:moveTo>
                <a:cubicBezTo>
                  <a:pt x="40680" y="39688"/>
                  <a:pt x="0" y="75282"/>
                  <a:pt x="0" y="119062"/>
                </a:cubicBezTo>
                <a:lnTo>
                  <a:pt x="0" y="198438"/>
                </a:lnTo>
                <a:cubicBezTo>
                  <a:pt x="0" y="242218"/>
                  <a:pt x="40680" y="277813"/>
                  <a:pt x="90714" y="277813"/>
                </a:cubicBezTo>
                <a:lnTo>
                  <a:pt x="544286" y="277813"/>
                </a:lnTo>
                <a:cubicBezTo>
                  <a:pt x="594320" y="277813"/>
                  <a:pt x="635000" y="242218"/>
                  <a:pt x="635000" y="198438"/>
                </a:cubicBezTo>
                <a:lnTo>
                  <a:pt x="635000" y="119062"/>
                </a:lnTo>
                <a:cubicBezTo>
                  <a:pt x="635000" y="75282"/>
                  <a:pt x="594320" y="39688"/>
                  <a:pt x="544286" y="39688"/>
                </a:cubicBezTo>
                <a:lnTo>
                  <a:pt x="90714" y="39688"/>
                </a:lnTo>
                <a:close/>
                <a:moveTo>
                  <a:pt x="396875" y="128984"/>
                </a:moveTo>
                <a:cubicBezTo>
                  <a:pt x="415650" y="128984"/>
                  <a:pt x="430893" y="142322"/>
                  <a:pt x="430893" y="158750"/>
                </a:cubicBezTo>
                <a:cubicBezTo>
                  <a:pt x="430893" y="175178"/>
                  <a:pt x="415650" y="188516"/>
                  <a:pt x="396875" y="188516"/>
                </a:cubicBezTo>
                <a:cubicBezTo>
                  <a:pt x="378100" y="188516"/>
                  <a:pt x="362857" y="175178"/>
                  <a:pt x="362857" y="158750"/>
                </a:cubicBezTo>
                <a:cubicBezTo>
                  <a:pt x="362857" y="142322"/>
                  <a:pt x="378100" y="128984"/>
                  <a:pt x="396875" y="128984"/>
                </a:cubicBezTo>
                <a:close/>
                <a:moveTo>
                  <a:pt x="476250" y="158750"/>
                </a:moveTo>
                <a:cubicBezTo>
                  <a:pt x="476250" y="142322"/>
                  <a:pt x="491493" y="128984"/>
                  <a:pt x="510268" y="128984"/>
                </a:cubicBezTo>
                <a:cubicBezTo>
                  <a:pt x="529043" y="128984"/>
                  <a:pt x="544286" y="142322"/>
                  <a:pt x="544286" y="158750"/>
                </a:cubicBezTo>
                <a:cubicBezTo>
                  <a:pt x="544286" y="175178"/>
                  <a:pt x="529043" y="188516"/>
                  <a:pt x="510268" y="188516"/>
                </a:cubicBezTo>
                <a:cubicBezTo>
                  <a:pt x="491493" y="188516"/>
                  <a:pt x="476250" y="175178"/>
                  <a:pt x="476250" y="158750"/>
                </a:cubicBezTo>
                <a:close/>
                <a:moveTo>
                  <a:pt x="90714" y="357188"/>
                </a:moveTo>
                <a:cubicBezTo>
                  <a:pt x="40680" y="357188"/>
                  <a:pt x="0" y="392782"/>
                  <a:pt x="0" y="436563"/>
                </a:cubicBezTo>
                <a:lnTo>
                  <a:pt x="0" y="515937"/>
                </a:lnTo>
                <a:cubicBezTo>
                  <a:pt x="0" y="559718"/>
                  <a:pt x="40680" y="595313"/>
                  <a:pt x="90714" y="595313"/>
                </a:cubicBezTo>
                <a:lnTo>
                  <a:pt x="544286" y="595313"/>
                </a:lnTo>
                <a:cubicBezTo>
                  <a:pt x="594320" y="595313"/>
                  <a:pt x="635000" y="559718"/>
                  <a:pt x="635000" y="515937"/>
                </a:cubicBezTo>
                <a:lnTo>
                  <a:pt x="635000" y="436563"/>
                </a:lnTo>
                <a:cubicBezTo>
                  <a:pt x="635000" y="392782"/>
                  <a:pt x="594320" y="357188"/>
                  <a:pt x="544286" y="357188"/>
                </a:cubicBezTo>
                <a:lnTo>
                  <a:pt x="90714" y="357188"/>
                </a:lnTo>
                <a:close/>
                <a:moveTo>
                  <a:pt x="396875" y="446484"/>
                </a:moveTo>
                <a:cubicBezTo>
                  <a:pt x="415650" y="446484"/>
                  <a:pt x="430893" y="459822"/>
                  <a:pt x="430893" y="476250"/>
                </a:cubicBezTo>
                <a:cubicBezTo>
                  <a:pt x="430893" y="492678"/>
                  <a:pt x="415650" y="506016"/>
                  <a:pt x="396875" y="506016"/>
                </a:cubicBezTo>
                <a:cubicBezTo>
                  <a:pt x="378100" y="506016"/>
                  <a:pt x="362857" y="492678"/>
                  <a:pt x="362857" y="476250"/>
                </a:cubicBezTo>
                <a:cubicBezTo>
                  <a:pt x="362857" y="459822"/>
                  <a:pt x="378100" y="446484"/>
                  <a:pt x="396875" y="446484"/>
                </a:cubicBezTo>
                <a:close/>
                <a:moveTo>
                  <a:pt x="476250" y="476250"/>
                </a:moveTo>
                <a:cubicBezTo>
                  <a:pt x="476250" y="459822"/>
                  <a:pt x="491493" y="446484"/>
                  <a:pt x="510268" y="446484"/>
                </a:cubicBezTo>
                <a:cubicBezTo>
                  <a:pt x="529043" y="446484"/>
                  <a:pt x="544286" y="459822"/>
                  <a:pt x="544286" y="476250"/>
                </a:cubicBezTo>
                <a:cubicBezTo>
                  <a:pt x="544286" y="492678"/>
                  <a:pt x="529043" y="506016"/>
                  <a:pt x="510268" y="506016"/>
                </a:cubicBezTo>
                <a:cubicBezTo>
                  <a:pt x="491493" y="506016"/>
                  <a:pt x="476250" y="492678"/>
                  <a:pt x="476250" y="476250"/>
                </a:cubicBezTo>
                <a:close/>
              </a:path>
            </a:pathLst>
          </a:custGeom>
          <a:solidFill>
            <a:srgbClr val="FF9900"/>
          </a:solidFill>
          <a:ln/>
        </p:spPr>
      </p:sp>
      <p:sp>
        <p:nvSpPr>
          <p:cNvPr id="22" name="Text 19"/>
          <p:cNvSpPr/>
          <p:nvPr/>
        </p:nvSpPr>
        <p:spPr>
          <a:xfrm>
            <a:off x="2159000" y="5524500"/>
            <a:ext cx="5080000" cy="444500"/>
          </a:xfrm>
          <a:prstGeom prst="rect">
            <a:avLst/>
          </a:prstGeom>
          <a:noFill/>
          <a:ln/>
        </p:spPr>
        <p:txBody>
          <a:bodyPr wrap="none" lIns="0" tIns="0" rIns="0" bIns="0" rtlCol="0" anchor="ctr"/>
          <a:lstStyle/>
          <a:p>
            <a:pPr algn="l">
              <a:lnSpc>
                <a:spcPct val="120000"/>
              </a:lnSpc>
            </a:pPr>
            <a:r>
              <a:rPr lang="en-US" sz="2200" b="1" dirty="0">
                <a:solidFill>
                  <a:srgbClr val="FFFFFF"/>
                </a:solidFill>
                <a:latin typeface="Liter" pitchFamily="34" charset="0"/>
                <a:ea typeface="Liter" pitchFamily="34" charset="-122"/>
                <a:cs typeface="Liter" pitchFamily="34" charset="-120"/>
              </a:rPr>
              <a:t>AWS Cloud Platform</a:t>
            </a:r>
            <a:endParaRPr lang="en-US" sz="2200" dirty="0"/>
          </a:p>
        </p:txBody>
      </p:sp>
      <p:sp>
        <p:nvSpPr>
          <p:cNvPr id="23" name="Text 20"/>
          <p:cNvSpPr/>
          <p:nvPr/>
        </p:nvSpPr>
        <p:spPr>
          <a:xfrm>
            <a:off x="1270000" y="6350000"/>
            <a:ext cx="13716000" cy="1651000"/>
          </a:xfrm>
          <a:prstGeom prst="rect">
            <a:avLst/>
          </a:prstGeom>
          <a:noFill/>
          <a:ln/>
        </p:spPr>
        <p:txBody>
          <a:bodyPr wrap="square" lIns="0" tIns="0" rIns="0" bIns="0" rtlCol="0" anchor="t"/>
          <a:lstStyle/>
          <a:p>
            <a:pPr algn="l">
              <a:lnSpc>
                <a:spcPct val="160000"/>
              </a:lnSpc>
            </a:pPr>
            <a:r>
              <a:rPr lang="en-US" sz="1700" dirty="0">
                <a:solidFill>
                  <a:srgbClr val="FFFFFF"/>
                </a:solidFill>
                <a:latin typeface="Quattrocento Sans" pitchFamily="34" charset="0"/>
                <a:ea typeface="Quattrocento Sans" pitchFamily="34" charset="-122"/>
                <a:cs typeface="Quattrocento Sans" pitchFamily="34" charset="-120"/>
              </a:rPr>
              <a:t>AWS enables students, developers, and businesses to build </a:t>
            </a:r>
            <a:pPr algn="l">
              <a:lnSpc>
                <a:spcPct val="160000"/>
              </a:lnSpc>
            </a:pPr>
            <a:r>
              <a:rPr lang="en-US" sz="1700" b="1" dirty="0">
                <a:solidFill>
                  <a:srgbClr val="FFFFFF"/>
                </a:solidFill>
                <a:latin typeface="Quattrocento Sans" pitchFamily="34" charset="0"/>
                <a:ea typeface="Quattrocento Sans" pitchFamily="34" charset="-122"/>
                <a:cs typeface="Quattrocento Sans" pitchFamily="34" charset="-120"/>
              </a:rPr>
              <a:t>scalable, reliable, and cost-effective applications</a:t>
            </a:r>
            <a:pPr algn="l">
              <a:lnSpc>
                <a:spcPct val="160000"/>
              </a:lnSpc>
            </a:pPr>
            <a:r>
              <a:rPr lang="en-US" sz="1700" dirty="0">
                <a:solidFill>
                  <a:srgbClr val="FFFFFF"/>
                </a:solidFill>
                <a:latin typeface="Quattrocento Sans" pitchFamily="34" charset="0"/>
                <a:ea typeface="Quattrocento Sans" pitchFamily="34" charset="-122"/>
                <a:cs typeface="Quattrocento Sans" pitchFamily="34" charset="-120"/>
              </a:rPr>
              <a:t> without managing physical infrastructure. With services spanning compute, storage, databases, networking, and monitoring, AWS provides a complete ecosystem for deploying production-ready cloud solutions.</a:t>
            </a:r>
            <a:endParaRPr lang="en-US" sz="1700" dirty="0"/>
          </a:p>
        </p:txBody>
      </p:sp>
      <p:sp>
        <p:nvSpPr>
          <p:cNvPr id="24" name="Text 21"/>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02</a:t>
            </a:r>
            <a:endParaRPr lang="en-US" sz="1400" dirty="0"/>
          </a:p>
        </p:txBody>
      </p:sp>
    </p:spTree>
  </p:cSld>
  <p:clrMapOvr>
    <a:masterClrMapping/>
  </p:clrMapOvr>
  <p:transition>
    <p:fade/>
    <p:spd val="med"/>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2032000" y="457200"/>
            <a:ext cx="27051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INTRODUCTION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PROBLEM STATEMENT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OBJECTIVES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FEATURES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ARCHITECTURE</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PROBLEM STATEMENT</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Text 5"/>
          <p:cNvSpPr/>
          <p:nvPr/>
        </p:nvSpPr>
        <p:spPr>
          <a:xfrm>
            <a:off x="762000" y="1524000"/>
            <a:ext cx="8890000" cy="381000"/>
          </a:xfrm>
          <a:prstGeom prst="rect">
            <a:avLst/>
          </a:prstGeom>
          <a:noFill/>
          <a:ln/>
        </p:spPr>
        <p:txBody>
          <a:bodyPr wrap="none" lIns="0" tIns="0" rIns="0" bIns="0" rtlCol="0" anchor="ctr"/>
          <a:lstStyle/>
          <a:p>
            <a:pPr algn="l">
              <a:lnSpc>
                <a:spcPct val="120000"/>
              </a:lnSpc>
            </a:pPr>
            <a:r>
              <a:rPr lang="en-US" sz="1600" dirty="0">
                <a:solidFill>
                  <a:srgbClr val="64748B"/>
                </a:solidFill>
                <a:latin typeface="Quattrocento Sans" pitchFamily="34" charset="0"/>
                <a:ea typeface="Quattrocento Sans" pitchFamily="34" charset="-122"/>
                <a:cs typeface="Quattrocento Sans" pitchFamily="34" charset="-120"/>
              </a:rPr>
              <a:t>Challenges with traditional notes management approaches</a:t>
            </a:r>
            <a:endParaRPr lang="en-US" sz="1600" dirty="0"/>
          </a:p>
        </p:txBody>
      </p:sp>
      <p:sp>
        <p:nvSpPr>
          <p:cNvPr id="9" name="Shape 6"/>
          <p:cNvSpPr/>
          <p:nvPr/>
        </p:nvSpPr>
        <p:spPr>
          <a:xfrm>
            <a:off x="762000" y="2095500"/>
            <a:ext cx="4699000" cy="2159000"/>
          </a:xfrm>
          <a:prstGeom prst="roundRect">
            <a:avLst>
              <a:gd name="adj" fmla="val 8000"/>
            </a:avLst>
          </a:prstGeom>
          <a:solidFill>
            <a:srgbClr val="F0F4F8"/>
          </a:solidFill>
          <a:ln/>
        </p:spPr>
      </p:sp>
      <p:sp>
        <p:nvSpPr>
          <p:cNvPr id="10" name="Shape 7"/>
          <p:cNvSpPr/>
          <p:nvPr/>
        </p:nvSpPr>
        <p:spPr>
          <a:xfrm>
            <a:off x="1079500" y="2349500"/>
            <a:ext cx="457200" cy="457200"/>
          </a:xfrm>
          <a:custGeom>
            <a:avLst/>
            <a:gdLst/>
            <a:ahLst/>
            <a:cxnLst/>
            <a:rect l="l" t="t" r="r" b="b"/>
            <a:pathLst>
              <a:path w="457200" h="457200">
                <a:moveTo>
                  <a:pt x="139507" y="5269"/>
                </a:moveTo>
                <a:cubicBezTo>
                  <a:pt x="143998" y="-6429"/>
                  <a:pt x="156448" y="-14287"/>
                  <a:pt x="170532" y="-14287"/>
                </a:cubicBezTo>
                <a:lnTo>
                  <a:pt x="286771" y="-14287"/>
                </a:lnTo>
                <a:cubicBezTo>
                  <a:pt x="300854" y="-14287"/>
                  <a:pt x="313304" y="-6429"/>
                  <a:pt x="317795" y="5269"/>
                </a:cubicBezTo>
                <a:lnTo>
                  <a:pt x="326571" y="28575"/>
                </a:lnTo>
                <a:lnTo>
                  <a:pt x="424543" y="28575"/>
                </a:lnTo>
                <a:cubicBezTo>
                  <a:pt x="442606" y="28575"/>
                  <a:pt x="457200" y="41344"/>
                  <a:pt x="457200" y="57150"/>
                </a:cubicBezTo>
                <a:cubicBezTo>
                  <a:pt x="457200" y="72956"/>
                  <a:pt x="442606" y="85725"/>
                  <a:pt x="424543" y="85725"/>
                </a:cubicBezTo>
                <a:lnTo>
                  <a:pt x="32657" y="85725"/>
                </a:lnTo>
                <a:cubicBezTo>
                  <a:pt x="14594" y="85725"/>
                  <a:pt x="0" y="72956"/>
                  <a:pt x="0" y="57150"/>
                </a:cubicBezTo>
                <a:cubicBezTo>
                  <a:pt x="0" y="41344"/>
                  <a:pt x="14594" y="28575"/>
                  <a:pt x="32657" y="28575"/>
                </a:cubicBezTo>
                <a:lnTo>
                  <a:pt x="130629" y="28575"/>
                </a:lnTo>
                <a:lnTo>
                  <a:pt x="139507" y="5269"/>
                </a:lnTo>
                <a:close/>
                <a:moveTo>
                  <a:pt x="32657" y="128588"/>
                </a:moveTo>
                <a:lnTo>
                  <a:pt x="424543" y="128588"/>
                </a:lnTo>
                <a:lnTo>
                  <a:pt x="424543" y="400050"/>
                </a:lnTo>
                <a:cubicBezTo>
                  <a:pt x="424543" y="431572"/>
                  <a:pt x="395253" y="457200"/>
                  <a:pt x="359229" y="457200"/>
                </a:cubicBezTo>
                <a:lnTo>
                  <a:pt x="97971" y="457200"/>
                </a:lnTo>
                <a:cubicBezTo>
                  <a:pt x="61947" y="457200"/>
                  <a:pt x="32657" y="431572"/>
                  <a:pt x="32657" y="400050"/>
                </a:cubicBezTo>
                <a:lnTo>
                  <a:pt x="32657" y="128588"/>
                </a:lnTo>
                <a:close/>
                <a:moveTo>
                  <a:pt x="122464" y="185738"/>
                </a:moveTo>
                <a:cubicBezTo>
                  <a:pt x="108891" y="185738"/>
                  <a:pt x="97971" y="195292"/>
                  <a:pt x="97971" y="207169"/>
                </a:cubicBezTo>
                <a:lnTo>
                  <a:pt x="97971" y="378619"/>
                </a:lnTo>
                <a:cubicBezTo>
                  <a:pt x="97971" y="390495"/>
                  <a:pt x="108891" y="400050"/>
                  <a:pt x="122464" y="400050"/>
                </a:cubicBezTo>
                <a:cubicBezTo>
                  <a:pt x="136037" y="400050"/>
                  <a:pt x="146957" y="390495"/>
                  <a:pt x="146957" y="378619"/>
                </a:cubicBezTo>
                <a:lnTo>
                  <a:pt x="146957" y="207169"/>
                </a:lnTo>
                <a:cubicBezTo>
                  <a:pt x="146957" y="195292"/>
                  <a:pt x="136037" y="185738"/>
                  <a:pt x="122464" y="185738"/>
                </a:cubicBezTo>
                <a:close/>
                <a:moveTo>
                  <a:pt x="228600" y="185738"/>
                </a:moveTo>
                <a:cubicBezTo>
                  <a:pt x="215027" y="185738"/>
                  <a:pt x="204107" y="195292"/>
                  <a:pt x="204107" y="207169"/>
                </a:cubicBezTo>
                <a:lnTo>
                  <a:pt x="204107" y="378619"/>
                </a:lnTo>
                <a:cubicBezTo>
                  <a:pt x="204107" y="390495"/>
                  <a:pt x="215027" y="400050"/>
                  <a:pt x="228600" y="400050"/>
                </a:cubicBezTo>
                <a:cubicBezTo>
                  <a:pt x="242173" y="400050"/>
                  <a:pt x="253093" y="390495"/>
                  <a:pt x="253093" y="378619"/>
                </a:cubicBezTo>
                <a:lnTo>
                  <a:pt x="253093" y="207169"/>
                </a:lnTo>
                <a:cubicBezTo>
                  <a:pt x="253093" y="195292"/>
                  <a:pt x="242173" y="185738"/>
                  <a:pt x="228600" y="185738"/>
                </a:cubicBezTo>
                <a:close/>
                <a:moveTo>
                  <a:pt x="334736" y="185738"/>
                </a:moveTo>
                <a:cubicBezTo>
                  <a:pt x="321163" y="185738"/>
                  <a:pt x="310243" y="195292"/>
                  <a:pt x="310243" y="207169"/>
                </a:cubicBezTo>
                <a:lnTo>
                  <a:pt x="310243" y="378619"/>
                </a:lnTo>
                <a:cubicBezTo>
                  <a:pt x="310243" y="390495"/>
                  <a:pt x="321163" y="400050"/>
                  <a:pt x="334736" y="400050"/>
                </a:cubicBezTo>
                <a:cubicBezTo>
                  <a:pt x="348309" y="400050"/>
                  <a:pt x="359229" y="390495"/>
                  <a:pt x="359229" y="378619"/>
                </a:cubicBezTo>
                <a:lnTo>
                  <a:pt x="359229" y="207169"/>
                </a:lnTo>
                <a:cubicBezTo>
                  <a:pt x="359229" y="195292"/>
                  <a:pt x="348309" y="185738"/>
                  <a:pt x="334736" y="185738"/>
                </a:cubicBezTo>
                <a:close/>
              </a:path>
            </a:pathLst>
          </a:custGeom>
          <a:solidFill>
            <a:srgbClr val="E74C3C"/>
          </a:solidFill>
          <a:ln/>
        </p:spPr>
      </p:sp>
      <p:sp>
        <p:nvSpPr>
          <p:cNvPr id="11" name="Text 8"/>
          <p:cNvSpPr/>
          <p:nvPr/>
        </p:nvSpPr>
        <p:spPr>
          <a:xfrm>
            <a:off x="1714500" y="2349500"/>
            <a:ext cx="3429000" cy="3810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Data Loss</a:t>
            </a:r>
            <a:endParaRPr lang="en-US" sz="1800" dirty="0"/>
          </a:p>
        </p:txBody>
      </p:sp>
      <p:sp>
        <p:nvSpPr>
          <p:cNvPr id="12" name="Text 9"/>
          <p:cNvSpPr/>
          <p:nvPr/>
        </p:nvSpPr>
        <p:spPr>
          <a:xfrm>
            <a:off x="1079500" y="2857500"/>
            <a:ext cx="4064000" cy="1143000"/>
          </a:xfrm>
          <a:prstGeom prst="rect">
            <a:avLst/>
          </a:prstGeom>
          <a:noFill/>
          <a:ln/>
        </p:spPr>
        <p:txBody>
          <a:bodyPr wrap="square" lIns="0" tIns="0" rIns="0" bIns="0" rtlCol="0" anchor="t"/>
          <a:lstStyle/>
          <a:p>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Physical notes can be damaged or misplaced. Local files are vulnerable to hardware failures.</a:t>
            </a:r>
            <a:endParaRPr lang="en-US" sz="1500" dirty="0"/>
          </a:p>
        </p:txBody>
      </p:sp>
      <p:sp>
        <p:nvSpPr>
          <p:cNvPr id="13" name="Shape 10"/>
          <p:cNvSpPr/>
          <p:nvPr/>
        </p:nvSpPr>
        <p:spPr>
          <a:xfrm>
            <a:off x="5715000" y="2095500"/>
            <a:ext cx="4699000" cy="2159000"/>
          </a:xfrm>
          <a:prstGeom prst="roundRect">
            <a:avLst>
              <a:gd name="adj" fmla="val 8000"/>
            </a:avLst>
          </a:prstGeom>
          <a:solidFill>
            <a:srgbClr val="F0F4F8"/>
          </a:solidFill>
          <a:ln/>
        </p:spPr>
      </p:sp>
      <p:sp>
        <p:nvSpPr>
          <p:cNvPr id="14" name="Shape 11"/>
          <p:cNvSpPr/>
          <p:nvPr/>
        </p:nvSpPr>
        <p:spPr>
          <a:xfrm>
            <a:off x="6032500" y="2349500"/>
            <a:ext cx="457200" cy="457200"/>
          </a:xfrm>
          <a:custGeom>
            <a:avLst/>
            <a:gdLst/>
            <a:ahLst/>
            <a:cxnLst/>
            <a:rect l="l" t="t" r="r" b="b"/>
            <a:pathLst>
              <a:path w="457200" h="457200">
                <a:moveTo>
                  <a:pt x="65314" y="28575"/>
                </a:moveTo>
                <a:cubicBezTo>
                  <a:pt x="29289" y="28575"/>
                  <a:pt x="0" y="54203"/>
                  <a:pt x="0" y="85725"/>
                </a:cubicBezTo>
                <a:lnTo>
                  <a:pt x="0" y="232261"/>
                </a:lnTo>
                <a:cubicBezTo>
                  <a:pt x="18472" y="220920"/>
                  <a:pt x="41026" y="214313"/>
                  <a:pt x="65314" y="214313"/>
                </a:cubicBezTo>
                <a:lnTo>
                  <a:pt x="391886" y="214313"/>
                </a:lnTo>
                <a:cubicBezTo>
                  <a:pt x="416174" y="214313"/>
                  <a:pt x="438728" y="220920"/>
                  <a:pt x="457200" y="232261"/>
                </a:cubicBezTo>
                <a:lnTo>
                  <a:pt x="457200" y="85725"/>
                </a:lnTo>
                <a:cubicBezTo>
                  <a:pt x="457200" y="54203"/>
                  <a:pt x="427911" y="28575"/>
                  <a:pt x="391886" y="28575"/>
                </a:cubicBezTo>
                <a:lnTo>
                  <a:pt x="65314" y="28575"/>
                </a:lnTo>
                <a:close/>
                <a:moveTo>
                  <a:pt x="457200" y="314325"/>
                </a:moveTo>
                <a:cubicBezTo>
                  <a:pt x="457200" y="282803"/>
                  <a:pt x="427911" y="257175"/>
                  <a:pt x="391886" y="257175"/>
                </a:cubicBezTo>
                <a:lnTo>
                  <a:pt x="65314" y="257175"/>
                </a:lnTo>
                <a:cubicBezTo>
                  <a:pt x="29289" y="257175"/>
                  <a:pt x="0" y="282803"/>
                  <a:pt x="0" y="314325"/>
                </a:cubicBezTo>
                <a:lnTo>
                  <a:pt x="0" y="371475"/>
                </a:lnTo>
                <a:cubicBezTo>
                  <a:pt x="0" y="402997"/>
                  <a:pt x="29289" y="428625"/>
                  <a:pt x="65314" y="428625"/>
                </a:cubicBezTo>
                <a:lnTo>
                  <a:pt x="391886" y="428625"/>
                </a:lnTo>
                <a:cubicBezTo>
                  <a:pt x="427911" y="428625"/>
                  <a:pt x="457200" y="402997"/>
                  <a:pt x="457200" y="371475"/>
                </a:cubicBezTo>
                <a:lnTo>
                  <a:pt x="457200" y="314325"/>
                </a:lnTo>
                <a:close/>
                <a:moveTo>
                  <a:pt x="228600" y="342900"/>
                </a:moveTo>
                <a:cubicBezTo>
                  <a:pt x="228600" y="327129"/>
                  <a:pt x="243233" y="314325"/>
                  <a:pt x="261257" y="314325"/>
                </a:cubicBezTo>
                <a:cubicBezTo>
                  <a:pt x="279281" y="314325"/>
                  <a:pt x="293914" y="327129"/>
                  <a:pt x="293914" y="342900"/>
                </a:cubicBezTo>
                <a:cubicBezTo>
                  <a:pt x="293914" y="358671"/>
                  <a:pt x="279281" y="371475"/>
                  <a:pt x="261257" y="371475"/>
                </a:cubicBezTo>
                <a:cubicBezTo>
                  <a:pt x="243233" y="371475"/>
                  <a:pt x="228600" y="358671"/>
                  <a:pt x="228600" y="342900"/>
                </a:cubicBezTo>
                <a:close/>
                <a:moveTo>
                  <a:pt x="359229" y="314325"/>
                </a:moveTo>
                <a:cubicBezTo>
                  <a:pt x="377253" y="314325"/>
                  <a:pt x="391886" y="327129"/>
                  <a:pt x="391886" y="342900"/>
                </a:cubicBezTo>
                <a:cubicBezTo>
                  <a:pt x="391886" y="358671"/>
                  <a:pt x="377253" y="371475"/>
                  <a:pt x="359229" y="371475"/>
                </a:cubicBezTo>
                <a:cubicBezTo>
                  <a:pt x="341205" y="371475"/>
                  <a:pt x="326571" y="358671"/>
                  <a:pt x="326571" y="342900"/>
                </a:cubicBezTo>
                <a:cubicBezTo>
                  <a:pt x="326571" y="327129"/>
                  <a:pt x="341205" y="314325"/>
                  <a:pt x="359229" y="314325"/>
                </a:cubicBezTo>
                <a:close/>
              </a:path>
            </a:pathLst>
          </a:custGeom>
          <a:solidFill>
            <a:srgbClr val="FF9900"/>
          </a:solidFill>
          <a:ln/>
        </p:spPr>
      </p:sp>
      <p:sp>
        <p:nvSpPr>
          <p:cNvPr id="15" name="Text 12"/>
          <p:cNvSpPr/>
          <p:nvPr/>
        </p:nvSpPr>
        <p:spPr>
          <a:xfrm>
            <a:off x="6667500" y="2349500"/>
            <a:ext cx="3429000" cy="3810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No Centralized Storage</a:t>
            </a:r>
            <a:endParaRPr lang="en-US" sz="1800" dirty="0"/>
          </a:p>
        </p:txBody>
      </p:sp>
      <p:sp>
        <p:nvSpPr>
          <p:cNvPr id="16" name="Text 13"/>
          <p:cNvSpPr/>
          <p:nvPr/>
        </p:nvSpPr>
        <p:spPr>
          <a:xfrm>
            <a:off x="6032500" y="2857500"/>
            <a:ext cx="4064000" cy="1143000"/>
          </a:xfrm>
          <a:prstGeom prst="rect">
            <a:avLst/>
          </a:prstGeom>
          <a:noFill/>
          <a:ln/>
        </p:spPr>
        <p:txBody>
          <a:bodyPr wrap="square" lIns="0" tIns="0" rIns="0" bIns="0" rtlCol="0" anchor="t"/>
          <a:lstStyle/>
          <a:p>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Notes scattered across devices and locations. No single source for all study materials.</a:t>
            </a:r>
            <a:endParaRPr lang="en-US" sz="1500" dirty="0"/>
          </a:p>
        </p:txBody>
      </p:sp>
      <p:sp>
        <p:nvSpPr>
          <p:cNvPr id="17" name="Shape 14"/>
          <p:cNvSpPr/>
          <p:nvPr/>
        </p:nvSpPr>
        <p:spPr>
          <a:xfrm>
            <a:off x="10668000" y="2095500"/>
            <a:ext cx="4826000" cy="1905000"/>
          </a:xfrm>
          <a:prstGeom prst="roundRect">
            <a:avLst>
              <a:gd name="adj" fmla="val 8000"/>
            </a:avLst>
          </a:prstGeom>
          <a:solidFill>
            <a:srgbClr val="F0F4F8"/>
          </a:solidFill>
          <a:ln/>
        </p:spPr>
      </p:sp>
      <p:sp>
        <p:nvSpPr>
          <p:cNvPr id="18" name="Shape 15"/>
          <p:cNvSpPr/>
          <p:nvPr/>
        </p:nvSpPr>
        <p:spPr>
          <a:xfrm>
            <a:off x="10985500" y="2349500"/>
            <a:ext cx="457200" cy="457200"/>
          </a:xfrm>
          <a:custGeom>
            <a:avLst/>
            <a:gdLst/>
            <a:ahLst/>
            <a:cxnLst/>
            <a:rect l="l" t="t" r="r" b="b"/>
            <a:pathLst>
              <a:path w="457200" h="457200">
                <a:moveTo>
                  <a:pt x="19050" y="57150"/>
                </a:moveTo>
                <a:cubicBezTo>
                  <a:pt x="19050" y="25628"/>
                  <a:pt x="53221" y="0"/>
                  <a:pt x="95250" y="0"/>
                </a:cubicBezTo>
                <a:lnTo>
                  <a:pt x="361950" y="0"/>
                </a:lnTo>
                <a:cubicBezTo>
                  <a:pt x="403979" y="0"/>
                  <a:pt x="438150" y="25628"/>
                  <a:pt x="438150" y="57150"/>
                </a:cubicBezTo>
                <a:lnTo>
                  <a:pt x="438150" y="400050"/>
                </a:lnTo>
                <a:cubicBezTo>
                  <a:pt x="438150" y="431572"/>
                  <a:pt x="403979" y="457200"/>
                  <a:pt x="361950" y="457200"/>
                </a:cubicBezTo>
                <a:lnTo>
                  <a:pt x="95250" y="457200"/>
                </a:lnTo>
                <a:cubicBezTo>
                  <a:pt x="53221" y="457200"/>
                  <a:pt x="19050" y="431572"/>
                  <a:pt x="19050" y="400050"/>
                </a:cubicBezTo>
                <a:lnTo>
                  <a:pt x="19050" y="57150"/>
                </a:lnTo>
                <a:close/>
                <a:moveTo>
                  <a:pt x="152400" y="392906"/>
                </a:moveTo>
                <a:cubicBezTo>
                  <a:pt x="152400" y="404783"/>
                  <a:pt x="165140" y="414338"/>
                  <a:pt x="180975" y="414338"/>
                </a:cubicBezTo>
                <a:lnTo>
                  <a:pt x="276225" y="414338"/>
                </a:lnTo>
                <a:cubicBezTo>
                  <a:pt x="292060" y="414338"/>
                  <a:pt x="304800" y="404783"/>
                  <a:pt x="304800" y="392906"/>
                </a:cubicBezTo>
                <a:cubicBezTo>
                  <a:pt x="304800" y="381030"/>
                  <a:pt x="292060" y="371475"/>
                  <a:pt x="276225" y="371475"/>
                </a:cubicBezTo>
                <a:lnTo>
                  <a:pt x="180975" y="371475"/>
                </a:lnTo>
                <a:cubicBezTo>
                  <a:pt x="165140" y="371475"/>
                  <a:pt x="152400" y="381030"/>
                  <a:pt x="152400" y="392906"/>
                </a:cubicBezTo>
                <a:close/>
                <a:moveTo>
                  <a:pt x="361950" y="57150"/>
                </a:moveTo>
                <a:lnTo>
                  <a:pt x="95250" y="57150"/>
                </a:lnTo>
                <a:lnTo>
                  <a:pt x="95250" y="328613"/>
                </a:lnTo>
                <a:lnTo>
                  <a:pt x="361950" y="328613"/>
                </a:lnTo>
                <a:lnTo>
                  <a:pt x="361950" y="57150"/>
                </a:lnTo>
                <a:close/>
              </a:path>
            </a:pathLst>
          </a:custGeom>
          <a:solidFill>
            <a:srgbClr val="4A6FA5"/>
          </a:solidFill>
          <a:ln/>
        </p:spPr>
      </p:sp>
      <p:sp>
        <p:nvSpPr>
          <p:cNvPr id="19" name="Text 16"/>
          <p:cNvSpPr/>
          <p:nvPr/>
        </p:nvSpPr>
        <p:spPr>
          <a:xfrm>
            <a:off x="11620500" y="2349500"/>
            <a:ext cx="3556000" cy="3810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Limited Accessibility</a:t>
            </a:r>
            <a:endParaRPr lang="en-US" sz="1800" dirty="0"/>
          </a:p>
        </p:txBody>
      </p:sp>
      <p:sp>
        <p:nvSpPr>
          <p:cNvPr id="20" name="Text 17"/>
          <p:cNvSpPr/>
          <p:nvPr/>
        </p:nvSpPr>
        <p:spPr>
          <a:xfrm>
            <a:off x="10985500" y="2857500"/>
            <a:ext cx="4191000" cy="889000"/>
          </a:xfrm>
          <a:prstGeom prst="rect">
            <a:avLst/>
          </a:prstGeom>
          <a:noFill/>
          <a:ln/>
        </p:spPr>
        <p:txBody>
          <a:bodyPr wrap="square" lIns="0" tIns="0" rIns="0" bIns="0" rtlCol="0" anchor="t"/>
          <a:lstStyle/>
          <a:p>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Cannot access notes from different devices or locations. No sharing capability.</a:t>
            </a:r>
            <a:endParaRPr lang="en-US" sz="1500" dirty="0"/>
          </a:p>
        </p:txBody>
      </p:sp>
      <p:sp>
        <p:nvSpPr>
          <p:cNvPr id="21" name="Shape 18"/>
          <p:cNvSpPr/>
          <p:nvPr/>
        </p:nvSpPr>
        <p:spPr>
          <a:xfrm>
            <a:off x="762000" y="4381500"/>
            <a:ext cx="4699000" cy="2159000"/>
          </a:xfrm>
          <a:prstGeom prst="roundRect">
            <a:avLst>
              <a:gd name="adj" fmla="val 8000"/>
            </a:avLst>
          </a:prstGeom>
          <a:solidFill>
            <a:srgbClr val="F0F4F8"/>
          </a:solidFill>
          <a:ln/>
        </p:spPr>
      </p:sp>
      <p:sp>
        <p:nvSpPr>
          <p:cNvPr id="22" name="Shape 19"/>
          <p:cNvSpPr/>
          <p:nvPr/>
        </p:nvSpPr>
        <p:spPr>
          <a:xfrm>
            <a:off x="1079500" y="4635500"/>
            <a:ext cx="457200" cy="457200"/>
          </a:xfrm>
          <a:custGeom>
            <a:avLst/>
            <a:gdLst/>
            <a:ahLst/>
            <a:cxnLst/>
            <a:rect l="l" t="t" r="r" b="b"/>
            <a:pathLst>
              <a:path w="457200" h="457200">
                <a:moveTo>
                  <a:pt x="228600" y="0"/>
                </a:moveTo>
                <a:cubicBezTo>
                  <a:pt x="232708" y="0"/>
                  <a:pt x="236815" y="893"/>
                  <a:pt x="240566" y="2590"/>
                </a:cubicBezTo>
                <a:lnTo>
                  <a:pt x="408801" y="73938"/>
                </a:lnTo>
                <a:cubicBezTo>
                  <a:pt x="428446" y="82242"/>
                  <a:pt x="443091" y="101620"/>
                  <a:pt x="443002" y="125016"/>
                </a:cubicBezTo>
                <a:cubicBezTo>
                  <a:pt x="442555" y="213598"/>
                  <a:pt x="406122" y="375672"/>
                  <a:pt x="252264" y="449342"/>
                </a:cubicBezTo>
                <a:cubicBezTo>
                  <a:pt x="237351" y="456486"/>
                  <a:pt x="220028" y="456486"/>
                  <a:pt x="205115" y="449342"/>
                </a:cubicBezTo>
                <a:cubicBezTo>
                  <a:pt x="51167" y="375672"/>
                  <a:pt x="14823" y="213598"/>
                  <a:pt x="14377" y="125016"/>
                </a:cubicBezTo>
                <a:cubicBezTo>
                  <a:pt x="14287" y="101620"/>
                  <a:pt x="28932" y="82242"/>
                  <a:pt x="48577" y="73938"/>
                </a:cubicBezTo>
                <a:lnTo>
                  <a:pt x="216724" y="2590"/>
                </a:lnTo>
                <a:cubicBezTo>
                  <a:pt x="220474" y="893"/>
                  <a:pt x="224492" y="0"/>
                  <a:pt x="228600" y="0"/>
                </a:cubicBezTo>
                <a:close/>
                <a:moveTo>
                  <a:pt x="228600" y="59650"/>
                </a:moveTo>
                <a:lnTo>
                  <a:pt x="228600" y="397282"/>
                </a:lnTo>
                <a:cubicBezTo>
                  <a:pt x="351830" y="337631"/>
                  <a:pt x="384959" y="205472"/>
                  <a:pt x="385763" y="126355"/>
                </a:cubicBezTo>
                <a:lnTo>
                  <a:pt x="228600" y="59740"/>
                </a:lnTo>
                <a:lnTo>
                  <a:pt x="228600" y="59740"/>
                </a:lnTo>
                <a:close/>
              </a:path>
            </a:pathLst>
          </a:custGeom>
          <a:solidFill>
            <a:srgbClr val="27AE60"/>
          </a:solidFill>
          <a:ln/>
        </p:spPr>
      </p:sp>
      <p:sp>
        <p:nvSpPr>
          <p:cNvPr id="23" name="Text 20"/>
          <p:cNvSpPr/>
          <p:nvPr/>
        </p:nvSpPr>
        <p:spPr>
          <a:xfrm>
            <a:off x="1714500" y="4635500"/>
            <a:ext cx="3429000" cy="3810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No Backup &amp; Recovery</a:t>
            </a:r>
            <a:endParaRPr lang="en-US" sz="1800" dirty="0"/>
          </a:p>
        </p:txBody>
      </p:sp>
      <p:sp>
        <p:nvSpPr>
          <p:cNvPr id="24" name="Text 21"/>
          <p:cNvSpPr/>
          <p:nvPr/>
        </p:nvSpPr>
        <p:spPr>
          <a:xfrm>
            <a:off x="1079500" y="5143500"/>
            <a:ext cx="4064000" cy="1143000"/>
          </a:xfrm>
          <a:prstGeom prst="rect">
            <a:avLst/>
          </a:prstGeom>
          <a:noFill/>
          <a:ln/>
        </p:spPr>
        <p:txBody>
          <a:bodyPr wrap="square" lIns="0" tIns="0" rIns="0" bIns="0" rtlCol="0" anchor="t"/>
          <a:lstStyle/>
          <a:p>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No mechanism to recover lost or deleted notes. Accidental deletion means permanent loss.</a:t>
            </a:r>
            <a:endParaRPr lang="en-US" sz="1500" dirty="0"/>
          </a:p>
        </p:txBody>
      </p:sp>
      <p:sp>
        <p:nvSpPr>
          <p:cNvPr id="25" name="Shape 22"/>
          <p:cNvSpPr/>
          <p:nvPr/>
        </p:nvSpPr>
        <p:spPr>
          <a:xfrm>
            <a:off x="5715000" y="4381500"/>
            <a:ext cx="4699000" cy="2159000"/>
          </a:xfrm>
          <a:prstGeom prst="roundRect">
            <a:avLst>
              <a:gd name="adj" fmla="val 8000"/>
            </a:avLst>
          </a:prstGeom>
          <a:solidFill>
            <a:srgbClr val="F0F4F8"/>
          </a:solidFill>
          <a:ln/>
        </p:spPr>
      </p:sp>
      <p:sp>
        <p:nvSpPr>
          <p:cNvPr id="26" name="Shape 23"/>
          <p:cNvSpPr/>
          <p:nvPr/>
        </p:nvSpPr>
        <p:spPr>
          <a:xfrm>
            <a:off x="6032500" y="4635500"/>
            <a:ext cx="457200" cy="457200"/>
          </a:xfrm>
          <a:custGeom>
            <a:avLst/>
            <a:gdLst/>
            <a:ahLst/>
            <a:cxnLst/>
            <a:rect l="l" t="t" r="r" b="b"/>
            <a:pathLst>
              <a:path w="457200" h="457200">
                <a:moveTo>
                  <a:pt x="228600" y="0"/>
                </a:moveTo>
                <a:cubicBezTo>
                  <a:pt x="354768" y="0"/>
                  <a:pt x="457200" y="102432"/>
                  <a:pt x="457200" y="228600"/>
                </a:cubicBezTo>
                <a:cubicBezTo>
                  <a:pt x="457200" y="354768"/>
                  <a:pt x="354768" y="457200"/>
                  <a:pt x="228600" y="457200"/>
                </a:cubicBezTo>
                <a:cubicBezTo>
                  <a:pt x="102432" y="457200"/>
                  <a:pt x="0" y="354768"/>
                  <a:pt x="0" y="228600"/>
                </a:cubicBezTo>
                <a:cubicBezTo>
                  <a:pt x="0" y="102432"/>
                  <a:pt x="102432" y="0"/>
                  <a:pt x="228600" y="0"/>
                </a:cubicBezTo>
                <a:close/>
                <a:moveTo>
                  <a:pt x="207169" y="107156"/>
                </a:moveTo>
                <a:lnTo>
                  <a:pt x="207169" y="228600"/>
                </a:lnTo>
                <a:cubicBezTo>
                  <a:pt x="207169" y="235744"/>
                  <a:pt x="210741" y="242441"/>
                  <a:pt x="216724" y="246459"/>
                </a:cubicBezTo>
                <a:lnTo>
                  <a:pt x="302449" y="303609"/>
                </a:lnTo>
                <a:cubicBezTo>
                  <a:pt x="312271" y="310217"/>
                  <a:pt x="325576" y="307538"/>
                  <a:pt x="332184" y="297626"/>
                </a:cubicBezTo>
                <a:cubicBezTo>
                  <a:pt x="338792" y="287715"/>
                  <a:pt x="336113" y="274499"/>
                  <a:pt x="326201" y="267891"/>
                </a:cubicBezTo>
                <a:lnTo>
                  <a:pt x="250031" y="217170"/>
                </a:lnTo>
                <a:lnTo>
                  <a:pt x="250031" y="107156"/>
                </a:lnTo>
                <a:cubicBezTo>
                  <a:pt x="250031" y="95280"/>
                  <a:pt x="240476" y="85725"/>
                  <a:pt x="228600" y="85725"/>
                </a:cubicBezTo>
                <a:cubicBezTo>
                  <a:pt x="216724" y="85725"/>
                  <a:pt x="207169" y="95280"/>
                  <a:pt x="207169" y="107156"/>
                </a:cubicBezTo>
                <a:close/>
              </a:path>
            </a:pathLst>
          </a:custGeom>
          <a:solidFill>
            <a:srgbClr val="9B59B6"/>
          </a:solidFill>
          <a:ln/>
        </p:spPr>
      </p:sp>
      <p:sp>
        <p:nvSpPr>
          <p:cNvPr id="27" name="Text 24"/>
          <p:cNvSpPr/>
          <p:nvPr/>
        </p:nvSpPr>
        <p:spPr>
          <a:xfrm>
            <a:off x="6667500" y="4635500"/>
            <a:ext cx="3429000" cy="3810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Inefficient Organization</a:t>
            </a:r>
            <a:endParaRPr lang="en-US" sz="1800" dirty="0"/>
          </a:p>
        </p:txBody>
      </p:sp>
      <p:sp>
        <p:nvSpPr>
          <p:cNvPr id="28" name="Text 25"/>
          <p:cNvSpPr/>
          <p:nvPr/>
        </p:nvSpPr>
        <p:spPr>
          <a:xfrm>
            <a:off x="6032500" y="5143500"/>
            <a:ext cx="4064000" cy="1143000"/>
          </a:xfrm>
          <a:prstGeom prst="rect">
            <a:avLst/>
          </a:prstGeom>
          <a:noFill/>
          <a:ln/>
        </p:spPr>
        <p:txBody>
          <a:bodyPr wrap="square" lIns="0" tIns="0" rIns="0" bIns="0" rtlCol="0" anchor="t"/>
          <a:lstStyle/>
          <a:p>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Manual sorting and searching is time-consuming and error-prone for students.</a:t>
            </a:r>
            <a:endParaRPr lang="en-US" sz="1500" dirty="0"/>
          </a:p>
        </p:txBody>
      </p:sp>
      <p:sp>
        <p:nvSpPr>
          <p:cNvPr id="29" name="Shape 26"/>
          <p:cNvSpPr/>
          <p:nvPr/>
        </p:nvSpPr>
        <p:spPr>
          <a:xfrm>
            <a:off x="762000" y="6794500"/>
            <a:ext cx="14732000" cy="1524000"/>
          </a:xfrm>
          <a:prstGeom prst="roundRect">
            <a:avLst>
              <a:gd name="adj" fmla="val 5000"/>
            </a:avLst>
          </a:prstGeom>
          <a:solidFill>
            <a:srgbClr val="232F3E"/>
          </a:solidFill>
          <a:ln/>
        </p:spPr>
      </p:sp>
      <p:sp>
        <p:nvSpPr>
          <p:cNvPr id="30" name="Shape 27"/>
          <p:cNvSpPr/>
          <p:nvPr/>
        </p:nvSpPr>
        <p:spPr>
          <a:xfrm>
            <a:off x="1143000" y="7137400"/>
            <a:ext cx="508000" cy="508000"/>
          </a:xfrm>
          <a:custGeom>
            <a:avLst/>
            <a:gdLst/>
            <a:ahLst/>
            <a:cxnLst/>
            <a:rect l="l" t="t" r="r" b="b"/>
            <a:pathLst>
              <a:path w="508000" h="508000">
                <a:moveTo>
                  <a:pt x="387482" y="381000"/>
                </a:moveTo>
                <a:cubicBezTo>
                  <a:pt x="397140" y="358874"/>
                  <a:pt x="416454" y="338832"/>
                  <a:pt x="438282" y="321568"/>
                </a:cubicBezTo>
                <a:cubicBezTo>
                  <a:pt x="481542" y="287437"/>
                  <a:pt x="508000" y="241300"/>
                  <a:pt x="508000" y="190500"/>
                </a:cubicBezTo>
                <a:cubicBezTo>
                  <a:pt x="508000" y="85328"/>
                  <a:pt x="394229" y="0"/>
                  <a:pt x="254000" y="0"/>
                </a:cubicBezTo>
                <a:cubicBezTo>
                  <a:pt x="113771" y="0"/>
                  <a:pt x="0" y="85328"/>
                  <a:pt x="0" y="190500"/>
                </a:cubicBezTo>
                <a:cubicBezTo>
                  <a:pt x="0" y="241300"/>
                  <a:pt x="26458" y="287437"/>
                  <a:pt x="69718" y="321568"/>
                </a:cubicBezTo>
                <a:cubicBezTo>
                  <a:pt x="91546" y="338832"/>
                  <a:pt x="110993" y="358874"/>
                  <a:pt x="120518" y="381000"/>
                </a:cubicBezTo>
                <a:lnTo>
                  <a:pt x="387350" y="381000"/>
                </a:lnTo>
                <a:close/>
                <a:moveTo>
                  <a:pt x="381000" y="428625"/>
                </a:moveTo>
                <a:lnTo>
                  <a:pt x="127000" y="428625"/>
                </a:lnTo>
                <a:lnTo>
                  <a:pt x="127000" y="444500"/>
                </a:lnTo>
                <a:cubicBezTo>
                  <a:pt x="127000" y="488355"/>
                  <a:pt x="174360" y="523875"/>
                  <a:pt x="232833" y="523875"/>
                </a:cubicBezTo>
                <a:lnTo>
                  <a:pt x="275167" y="523875"/>
                </a:lnTo>
                <a:cubicBezTo>
                  <a:pt x="333640" y="523875"/>
                  <a:pt x="381000" y="488355"/>
                  <a:pt x="381000" y="444500"/>
                </a:cubicBezTo>
                <a:lnTo>
                  <a:pt x="381000" y="428625"/>
                </a:lnTo>
                <a:close/>
                <a:moveTo>
                  <a:pt x="243417" y="111125"/>
                </a:moveTo>
                <a:cubicBezTo>
                  <a:pt x="190765" y="111125"/>
                  <a:pt x="148167" y="143073"/>
                  <a:pt x="148167" y="182563"/>
                </a:cubicBezTo>
                <a:cubicBezTo>
                  <a:pt x="148167" y="195759"/>
                  <a:pt x="134011" y="206375"/>
                  <a:pt x="116417" y="206375"/>
                </a:cubicBezTo>
                <a:cubicBezTo>
                  <a:pt x="98822" y="206375"/>
                  <a:pt x="84667" y="195759"/>
                  <a:pt x="84667" y="182563"/>
                </a:cubicBezTo>
                <a:cubicBezTo>
                  <a:pt x="84667" y="116780"/>
                  <a:pt x="155707" y="63500"/>
                  <a:pt x="243417" y="63500"/>
                </a:cubicBezTo>
                <a:cubicBezTo>
                  <a:pt x="261011" y="63500"/>
                  <a:pt x="275167" y="74116"/>
                  <a:pt x="275167" y="87313"/>
                </a:cubicBezTo>
                <a:cubicBezTo>
                  <a:pt x="275167" y="100509"/>
                  <a:pt x="261011" y="111125"/>
                  <a:pt x="243417" y="111125"/>
                </a:cubicBezTo>
                <a:close/>
              </a:path>
            </a:pathLst>
          </a:custGeom>
          <a:solidFill>
            <a:srgbClr val="FF9900"/>
          </a:solidFill>
          <a:ln/>
        </p:spPr>
      </p:sp>
      <p:sp>
        <p:nvSpPr>
          <p:cNvPr id="31" name="Text 28"/>
          <p:cNvSpPr/>
          <p:nvPr/>
        </p:nvSpPr>
        <p:spPr>
          <a:xfrm>
            <a:off x="1905000" y="6959600"/>
            <a:ext cx="13208000" cy="1143000"/>
          </a:xfrm>
          <a:prstGeom prst="rect">
            <a:avLst/>
          </a:prstGeom>
          <a:noFill/>
          <a:ln/>
        </p:spPr>
        <p:txBody>
          <a:bodyPr wrap="square" lIns="0" tIns="0" rIns="0" bIns="0" rtlCol="0" anchor="ctr"/>
          <a:lstStyle/>
          <a:p>
            <a:pPr algn="l">
              <a:lnSpc>
                <a:spcPct val="150000"/>
              </a:lnSpc>
            </a:pPr>
            <a:r>
              <a:rPr lang="en-US" sz="1700" b="1" dirty="0">
                <a:solidFill>
                  <a:srgbClr val="FFFFFF"/>
                </a:solidFill>
                <a:latin typeface="Quattrocento Sans" pitchFamily="34" charset="0"/>
                <a:ea typeface="Quattrocento Sans" pitchFamily="34" charset="-122"/>
                <a:cs typeface="Quattrocento Sans" pitchFamily="34" charset="-120"/>
              </a:rPr>
              <a:t>Our Solution:</a:t>
            </a:r>
            <a:pPr algn="l">
              <a:lnSpc>
                <a:spcPct val="150000"/>
              </a:lnSpc>
            </a:pPr>
            <a:r>
              <a:rPr lang="en-US" sz="1700" dirty="0">
                <a:solidFill>
                  <a:srgbClr val="FFFFFF"/>
                </a:solidFill>
                <a:latin typeface="Quattrocento Sans" pitchFamily="34" charset="0"/>
                <a:ea typeface="Quattrocento Sans" pitchFamily="34" charset="-122"/>
                <a:cs typeface="Quattrocento Sans" pitchFamily="34" charset="-120"/>
              </a:rPr>
              <a:t> A cloud-based Student Notes Management System hosted on AWS that addresses all these challenges through centralized storage, high availability, and secure access from anywhere.</a:t>
            </a:r>
            <a:endParaRPr lang="en-US" sz="1700" dirty="0"/>
          </a:p>
        </p:txBody>
      </p:sp>
      <p:sp>
        <p:nvSpPr>
          <p:cNvPr id="32" name="Text 29"/>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03</a:t>
            </a:r>
            <a:endParaRPr lang="en-US" sz="1400" dirty="0"/>
          </a:p>
        </p:txBody>
      </p:sp>
    </p:spTree>
  </p:cSld>
  <p:clrMapOvr>
    <a:masterClrMapping/>
  </p:clrMapOvr>
  <p:transition>
    <p:fade/>
    <p:spd val="med"/>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4737100" y="457200"/>
            <a:ext cx="20320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INTRODUCTION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PROBLEM STATEMENT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OBJECTIVES</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FEATURES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ARCHITECTURE</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PROJECT OBJECTIVES</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651000"/>
            <a:ext cx="4699000" cy="1016000"/>
          </a:xfrm>
          <a:prstGeom prst="roundRect">
            <a:avLst>
              <a:gd name="adj" fmla="val 8000"/>
            </a:avLst>
          </a:prstGeom>
          <a:solidFill>
            <a:srgbClr val="F0F4F8"/>
          </a:solidFill>
          <a:ln/>
        </p:spPr>
      </p:sp>
      <p:sp>
        <p:nvSpPr>
          <p:cNvPr id="9" name="Shape 6"/>
          <p:cNvSpPr/>
          <p:nvPr/>
        </p:nvSpPr>
        <p:spPr>
          <a:xfrm>
            <a:off x="952500" y="1841500"/>
            <a:ext cx="635000" cy="635000"/>
          </a:xfrm>
          <a:prstGeom prst="ellipse">
            <a:avLst/>
          </a:prstGeom>
          <a:solidFill>
            <a:srgbClr val="FF9900"/>
          </a:solidFill>
          <a:ln/>
        </p:spPr>
      </p:sp>
      <p:sp>
        <p:nvSpPr>
          <p:cNvPr id="10" name="Text 7"/>
          <p:cNvSpPr/>
          <p:nvPr/>
        </p:nvSpPr>
        <p:spPr>
          <a:xfrm>
            <a:off x="952500" y="1841500"/>
            <a:ext cx="635000" cy="635000"/>
          </a:xfrm>
          <a:prstGeom prst="rect">
            <a:avLst/>
          </a:prstGeom>
          <a:noFill/>
          <a:ln/>
        </p:spPr>
        <p:txBody>
          <a:bodyPr wrap="none" lIns="0" tIns="0" rIns="0" bIns="0" rtlCol="0" anchor="ctr"/>
          <a:lstStyle/>
          <a:p>
            <a:pPr algn="ctr">
              <a:lnSpc>
                <a:spcPct val="120000"/>
              </a:lnSpc>
            </a:pPr>
            <a:r>
              <a:rPr lang="en-US" sz="2000" b="1" dirty="0">
                <a:solidFill>
                  <a:srgbClr val="FFFFFF"/>
                </a:solidFill>
                <a:latin typeface="Liter" pitchFamily="34" charset="0"/>
                <a:ea typeface="Liter" pitchFamily="34" charset="-122"/>
                <a:cs typeface="Liter" pitchFamily="34" charset="-120"/>
              </a:rPr>
              <a:t>01</a:t>
            </a:r>
            <a:endParaRPr lang="en-US" sz="2000" dirty="0"/>
          </a:p>
        </p:txBody>
      </p:sp>
      <p:sp>
        <p:nvSpPr>
          <p:cNvPr id="11" name="Text 8"/>
          <p:cNvSpPr/>
          <p:nvPr/>
        </p:nvSpPr>
        <p:spPr>
          <a:xfrm>
            <a:off x="1778000" y="1778000"/>
            <a:ext cx="3429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Cloud-Based Notes System</a:t>
            </a:r>
            <a:endParaRPr lang="en-US" sz="1600" dirty="0"/>
          </a:p>
        </p:txBody>
      </p:sp>
      <p:sp>
        <p:nvSpPr>
          <p:cNvPr id="12" name="Text 9"/>
          <p:cNvSpPr/>
          <p:nvPr/>
        </p:nvSpPr>
        <p:spPr>
          <a:xfrm>
            <a:off x="1778000" y="2133600"/>
            <a:ext cx="3429000" cy="3810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Host on AWS for 24/7 availability</a:t>
            </a:r>
            <a:endParaRPr lang="en-US" sz="1400" dirty="0"/>
          </a:p>
        </p:txBody>
      </p:sp>
      <p:sp>
        <p:nvSpPr>
          <p:cNvPr id="13" name="Shape 10"/>
          <p:cNvSpPr/>
          <p:nvPr/>
        </p:nvSpPr>
        <p:spPr>
          <a:xfrm>
            <a:off x="5715000" y="1651000"/>
            <a:ext cx="4699000" cy="1016000"/>
          </a:xfrm>
          <a:prstGeom prst="roundRect">
            <a:avLst>
              <a:gd name="adj" fmla="val 8000"/>
            </a:avLst>
          </a:prstGeom>
          <a:solidFill>
            <a:srgbClr val="F0F4F8"/>
          </a:solidFill>
          <a:ln/>
        </p:spPr>
      </p:sp>
      <p:sp>
        <p:nvSpPr>
          <p:cNvPr id="14" name="Shape 11"/>
          <p:cNvSpPr/>
          <p:nvPr/>
        </p:nvSpPr>
        <p:spPr>
          <a:xfrm>
            <a:off x="5905500" y="1841500"/>
            <a:ext cx="635000" cy="635000"/>
          </a:xfrm>
          <a:prstGeom prst="ellipse">
            <a:avLst/>
          </a:prstGeom>
          <a:solidFill>
            <a:srgbClr val="FF9900"/>
          </a:solidFill>
          <a:ln/>
        </p:spPr>
      </p:sp>
      <p:sp>
        <p:nvSpPr>
          <p:cNvPr id="15" name="Text 12"/>
          <p:cNvSpPr/>
          <p:nvPr/>
        </p:nvSpPr>
        <p:spPr>
          <a:xfrm>
            <a:off x="5905500" y="1841500"/>
            <a:ext cx="635000" cy="635000"/>
          </a:xfrm>
          <a:prstGeom prst="rect">
            <a:avLst/>
          </a:prstGeom>
          <a:noFill/>
          <a:ln/>
        </p:spPr>
        <p:txBody>
          <a:bodyPr wrap="none" lIns="0" tIns="0" rIns="0" bIns="0" rtlCol="0" anchor="ctr"/>
          <a:lstStyle/>
          <a:p>
            <a:pPr algn="ctr">
              <a:lnSpc>
                <a:spcPct val="120000"/>
              </a:lnSpc>
            </a:pPr>
            <a:r>
              <a:rPr lang="en-US" sz="2000" b="1" dirty="0">
                <a:solidFill>
                  <a:srgbClr val="FFFFFF"/>
                </a:solidFill>
                <a:latin typeface="Liter" pitchFamily="34" charset="0"/>
                <a:ea typeface="Liter" pitchFamily="34" charset="-122"/>
                <a:cs typeface="Liter" pitchFamily="34" charset="-120"/>
              </a:rPr>
              <a:t>02</a:t>
            </a:r>
            <a:endParaRPr lang="en-US" sz="2000" dirty="0"/>
          </a:p>
        </p:txBody>
      </p:sp>
      <p:sp>
        <p:nvSpPr>
          <p:cNvPr id="16" name="Text 13"/>
          <p:cNvSpPr/>
          <p:nvPr/>
        </p:nvSpPr>
        <p:spPr>
          <a:xfrm>
            <a:off x="6731000" y="1778000"/>
            <a:ext cx="3429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High Availability</a:t>
            </a:r>
            <a:endParaRPr lang="en-US" sz="1600" dirty="0"/>
          </a:p>
        </p:txBody>
      </p:sp>
      <p:sp>
        <p:nvSpPr>
          <p:cNvPr id="17" name="Text 14"/>
          <p:cNvSpPr/>
          <p:nvPr/>
        </p:nvSpPr>
        <p:spPr>
          <a:xfrm>
            <a:off x="6731000" y="2133600"/>
            <a:ext cx="3429000" cy="3810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Multi-instance deployment with LB</a:t>
            </a:r>
            <a:endParaRPr lang="en-US" sz="1400" dirty="0"/>
          </a:p>
        </p:txBody>
      </p:sp>
      <p:sp>
        <p:nvSpPr>
          <p:cNvPr id="18" name="Shape 15"/>
          <p:cNvSpPr/>
          <p:nvPr/>
        </p:nvSpPr>
        <p:spPr>
          <a:xfrm>
            <a:off x="10668000" y="1651000"/>
            <a:ext cx="4826000" cy="1016000"/>
          </a:xfrm>
          <a:prstGeom prst="roundRect">
            <a:avLst>
              <a:gd name="adj" fmla="val 8000"/>
            </a:avLst>
          </a:prstGeom>
          <a:solidFill>
            <a:srgbClr val="F0F4F8"/>
          </a:solidFill>
          <a:ln/>
        </p:spPr>
      </p:sp>
      <p:sp>
        <p:nvSpPr>
          <p:cNvPr id="19" name="Shape 16"/>
          <p:cNvSpPr/>
          <p:nvPr/>
        </p:nvSpPr>
        <p:spPr>
          <a:xfrm>
            <a:off x="10858500" y="1841500"/>
            <a:ext cx="635000" cy="635000"/>
          </a:xfrm>
          <a:prstGeom prst="ellipse">
            <a:avLst/>
          </a:prstGeom>
          <a:solidFill>
            <a:srgbClr val="FF9900"/>
          </a:solidFill>
          <a:ln/>
        </p:spPr>
      </p:sp>
      <p:sp>
        <p:nvSpPr>
          <p:cNvPr id="20" name="Text 17"/>
          <p:cNvSpPr/>
          <p:nvPr/>
        </p:nvSpPr>
        <p:spPr>
          <a:xfrm>
            <a:off x="10858500" y="1841500"/>
            <a:ext cx="635000" cy="635000"/>
          </a:xfrm>
          <a:prstGeom prst="rect">
            <a:avLst/>
          </a:prstGeom>
          <a:noFill/>
          <a:ln/>
        </p:spPr>
        <p:txBody>
          <a:bodyPr wrap="none" lIns="0" tIns="0" rIns="0" bIns="0" rtlCol="0" anchor="ctr"/>
          <a:lstStyle/>
          <a:p>
            <a:pPr algn="ctr">
              <a:lnSpc>
                <a:spcPct val="120000"/>
              </a:lnSpc>
            </a:pPr>
            <a:r>
              <a:rPr lang="en-US" sz="2000" b="1" dirty="0">
                <a:solidFill>
                  <a:srgbClr val="FFFFFF"/>
                </a:solidFill>
                <a:latin typeface="Liter" pitchFamily="34" charset="0"/>
                <a:ea typeface="Liter" pitchFamily="34" charset="-122"/>
                <a:cs typeface="Liter" pitchFamily="34" charset="-120"/>
              </a:rPr>
              <a:t>03</a:t>
            </a:r>
            <a:endParaRPr lang="en-US" sz="2000" dirty="0"/>
          </a:p>
        </p:txBody>
      </p:sp>
      <p:sp>
        <p:nvSpPr>
          <p:cNvPr id="21" name="Text 18"/>
          <p:cNvSpPr/>
          <p:nvPr/>
        </p:nvSpPr>
        <p:spPr>
          <a:xfrm>
            <a:off x="11684000" y="1778000"/>
            <a:ext cx="3556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Scalability</a:t>
            </a:r>
            <a:endParaRPr lang="en-US" sz="1600" dirty="0"/>
          </a:p>
        </p:txBody>
      </p:sp>
      <p:sp>
        <p:nvSpPr>
          <p:cNvPr id="22" name="Text 19"/>
          <p:cNvSpPr/>
          <p:nvPr/>
        </p:nvSpPr>
        <p:spPr>
          <a:xfrm>
            <a:off x="11684000" y="2133600"/>
            <a:ext cx="3556000" cy="3810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Add servers as user base grows</a:t>
            </a:r>
            <a:endParaRPr lang="en-US" sz="1400" dirty="0"/>
          </a:p>
        </p:txBody>
      </p:sp>
      <p:sp>
        <p:nvSpPr>
          <p:cNvPr id="23" name="Shape 20"/>
          <p:cNvSpPr/>
          <p:nvPr/>
        </p:nvSpPr>
        <p:spPr>
          <a:xfrm>
            <a:off x="762000" y="2921000"/>
            <a:ext cx="4699000" cy="1016000"/>
          </a:xfrm>
          <a:prstGeom prst="roundRect">
            <a:avLst>
              <a:gd name="adj" fmla="val 8000"/>
            </a:avLst>
          </a:prstGeom>
          <a:solidFill>
            <a:srgbClr val="F0F4F8"/>
          </a:solidFill>
          <a:ln/>
        </p:spPr>
      </p:sp>
      <p:sp>
        <p:nvSpPr>
          <p:cNvPr id="24" name="Shape 21"/>
          <p:cNvSpPr/>
          <p:nvPr/>
        </p:nvSpPr>
        <p:spPr>
          <a:xfrm>
            <a:off x="952500" y="3111500"/>
            <a:ext cx="635000" cy="635000"/>
          </a:xfrm>
          <a:prstGeom prst="ellipse">
            <a:avLst/>
          </a:prstGeom>
          <a:solidFill>
            <a:srgbClr val="4A6FA5"/>
          </a:solidFill>
          <a:ln/>
        </p:spPr>
      </p:sp>
      <p:sp>
        <p:nvSpPr>
          <p:cNvPr id="25" name="Text 22"/>
          <p:cNvSpPr/>
          <p:nvPr/>
        </p:nvSpPr>
        <p:spPr>
          <a:xfrm>
            <a:off x="952500" y="3111500"/>
            <a:ext cx="635000" cy="635000"/>
          </a:xfrm>
          <a:prstGeom prst="rect">
            <a:avLst/>
          </a:prstGeom>
          <a:noFill/>
          <a:ln/>
        </p:spPr>
        <p:txBody>
          <a:bodyPr wrap="none" lIns="0" tIns="0" rIns="0" bIns="0" rtlCol="0" anchor="ctr"/>
          <a:lstStyle/>
          <a:p>
            <a:pPr algn="ctr">
              <a:lnSpc>
                <a:spcPct val="120000"/>
              </a:lnSpc>
            </a:pPr>
            <a:r>
              <a:rPr lang="en-US" sz="2000" b="1" dirty="0">
                <a:solidFill>
                  <a:srgbClr val="FFFFFF"/>
                </a:solidFill>
                <a:latin typeface="Liter" pitchFamily="34" charset="0"/>
                <a:ea typeface="Liter" pitchFamily="34" charset="-122"/>
                <a:cs typeface="Liter" pitchFamily="34" charset="-120"/>
              </a:rPr>
              <a:t>04</a:t>
            </a:r>
            <a:endParaRPr lang="en-US" sz="2000" dirty="0"/>
          </a:p>
        </p:txBody>
      </p:sp>
      <p:sp>
        <p:nvSpPr>
          <p:cNvPr id="26" name="Text 23"/>
          <p:cNvSpPr/>
          <p:nvPr/>
        </p:nvSpPr>
        <p:spPr>
          <a:xfrm>
            <a:off x="1778000" y="3048000"/>
            <a:ext cx="3429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Centralized Database</a:t>
            </a:r>
            <a:endParaRPr lang="en-US" sz="1600" dirty="0"/>
          </a:p>
        </p:txBody>
      </p:sp>
      <p:sp>
        <p:nvSpPr>
          <p:cNvPr id="27" name="Text 24"/>
          <p:cNvSpPr/>
          <p:nvPr/>
        </p:nvSpPr>
        <p:spPr>
          <a:xfrm>
            <a:off x="1778000" y="3403600"/>
            <a:ext cx="3429000" cy="3810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RDS MySQL for consistent data</a:t>
            </a:r>
            <a:endParaRPr lang="en-US" sz="1400" dirty="0"/>
          </a:p>
        </p:txBody>
      </p:sp>
      <p:sp>
        <p:nvSpPr>
          <p:cNvPr id="28" name="Shape 25"/>
          <p:cNvSpPr/>
          <p:nvPr/>
        </p:nvSpPr>
        <p:spPr>
          <a:xfrm>
            <a:off x="5715000" y="2921000"/>
            <a:ext cx="4699000" cy="1016000"/>
          </a:xfrm>
          <a:prstGeom prst="roundRect">
            <a:avLst>
              <a:gd name="adj" fmla="val 8000"/>
            </a:avLst>
          </a:prstGeom>
          <a:solidFill>
            <a:srgbClr val="F0F4F8"/>
          </a:solidFill>
          <a:ln/>
        </p:spPr>
      </p:sp>
      <p:sp>
        <p:nvSpPr>
          <p:cNvPr id="29" name="Shape 26"/>
          <p:cNvSpPr/>
          <p:nvPr/>
        </p:nvSpPr>
        <p:spPr>
          <a:xfrm>
            <a:off x="5905500" y="3111500"/>
            <a:ext cx="635000" cy="635000"/>
          </a:xfrm>
          <a:prstGeom prst="ellipse">
            <a:avLst/>
          </a:prstGeom>
          <a:solidFill>
            <a:srgbClr val="4A6FA5"/>
          </a:solidFill>
          <a:ln/>
        </p:spPr>
      </p:sp>
      <p:sp>
        <p:nvSpPr>
          <p:cNvPr id="30" name="Text 27"/>
          <p:cNvSpPr/>
          <p:nvPr/>
        </p:nvSpPr>
        <p:spPr>
          <a:xfrm>
            <a:off x="5905500" y="3111500"/>
            <a:ext cx="635000" cy="635000"/>
          </a:xfrm>
          <a:prstGeom prst="rect">
            <a:avLst/>
          </a:prstGeom>
          <a:noFill/>
          <a:ln/>
        </p:spPr>
        <p:txBody>
          <a:bodyPr wrap="none" lIns="0" tIns="0" rIns="0" bIns="0" rtlCol="0" anchor="ctr"/>
          <a:lstStyle/>
          <a:p>
            <a:pPr algn="ctr">
              <a:lnSpc>
                <a:spcPct val="120000"/>
              </a:lnSpc>
            </a:pPr>
            <a:r>
              <a:rPr lang="en-US" sz="2000" b="1" dirty="0">
                <a:solidFill>
                  <a:srgbClr val="FFFFFF"/>
                </a:solidFill>
                <a:latin typeface="Liter" pitchFamily="34" charset="0"/>
                <a:ea typeface="Liter" pitchFamily="34" charset="-122"/>
                <a:cs typeface="Liter" pitchFamily="34" charset="-120"/>
              </a:rPr>
              <a:t>05</a:t>
            </a:r>
            <a:endParaRPr lang="en-US" sz="2000" dirty="0"/>
          </a:p>
        </p:txBody>
      </p:sp>
      <p:sp>
        <p:nvSpPr>
          <p:cNvPr id="31" name="Text 28"/>
          <p:cNvSpPr/>
          <p:nvPr/>
        </p:nvSpPr>
        <p:spPr>
          <a:xfrm>
            <a:off x="6731000" y="3048000"/>
            <a:ext cx="3429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Load Balancing</a:t>
            </a:r>
            <a:endParaRPr lang="en-US" sz="1600" dirty="0"/>
          </a:p>
        </p:txBody>
      </p:sp>
      <p:sp>
        <p:nvSpPr>
          <p:cNvPr id="32" name="Text 29"/>
          <p:cNvSpPr/>
          <p:nvPr/>
        </p:nvSpPr>
        <p:spPr>
          <a:xfrm>
            <a:off x="6731000" y="3403600"/>
            <a:ext cx="3429000" cy="3810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Even traffic distribution via ALB</a:t>
            </a:r>
            <a:endParaRPr lang="en-US" sz="1400" dirty="0"/>
          </a:p>
        </p:txBody>
      </p:sp>
      <p:sp>
        <p:nvSpPr>
          <p:cNvPr id="33" name="Shape 30"/>
          <p:cNvSpPr/>
          <p:nvPr/>
        </p:nvSpPr>
        <p:spPr>
          <a:xfrm>
            <a:off x="10668000" y="2921000"/>
            <a:ext cx="4826000" cy="1016000"/>
          </a:xfrm>
          <a:prstGeom prst="roundRect">
            <a:avLst>
              <a:gd name="adj" fmla="val 8000"/>
            </a:avLst>
          </a:prstGeom>
          <a:solidFill>
            <a:srgbClr val="F0F4F8"/>
          </a:solidFill>
          <a:ln/>
        </p:spPr>
      </p:sp>
      <p:sp>
        <p:nvSpPr>
          <p:cNvPr id="34" name="Shape 31"/>
          <p:cNvSpPr/>
          <p:nvPr/>
        </p:nvSpPr>
        <p:spPr>
          <a:xfrm>
            <a:off x="10858500" y="3111500"/>
            <a:ext cx="635000" cy="635000"/>
          </a:xfrm>
          <a:prstGeom prst="ellipse">
            <a:avLst/>
          </a:prstGeom>
          <a:solidFill>
            <a:srgbClr val="4A6FA5"/>
          </a:solidFill>
          <a:ln/>
        </p:spPr>
      </p:sp>
      <p:sp>
        <p:nvSpPr>
          <p:cNvPr id="35" name="Text 32"/>
          <p:cNvSpPr/>
          <p:nvPr/>
        </p:nvSpPr>
        <p:spPr>
          <a:xfrm>
            <a:off x="10858500" y="3111500"/>
            <a:ext cx="635000" cy="635000"/>
          </a:xfrm>
          <a:prstGeom prst="rect">
            <a:avLst/>
          </a:prstGeom>
          <a:noFill/>
          <a:ln/>
        </p:spPr>
        <p:txBody>
          <a:bodyPr wrap="none" lIns="0" tIns="0" rIns="0" bIns="0" rtlCol="0" anchor="ctr"/>
          <a:lstStyle/>
          <a:p>
            <a:pPr algn="ctr">
              <a:lnSpc>
                <a:spcPct val="120000"/>
              </a:lnSpc>
            </a:pPr>
            <a:r>
              <a:rPr lang="en-US" sz="2000" b="1" dirty="0">
                <a:solidFill>
                  <a:srgbClr val="FFFFFF"/>
                </a:solidFill>
                <a:latin typeface="Liter" pitchFamily="34" charset="0"/>
                <a:ea typeface="Liter" pitchFamily="34" charset="-122"/>
                <a:cs typeface="Liter" pitchFamily="34" charset="-120"/>
              </a:rPr>
              <a:t>06</a:t>
            </a:r>
            <a:endParaRPr lang="en-US" sz="2000" dirty="0"/>
          </a:p>
        </p:txBody>
      </p:sp>
      <p:sp>
        <p:nvSpPr>
          <p:cNvPr id="36" name="Text 33"/>
          <p:cNvSpPr/>
          <p:nvPr/>
        </p:nvSpPr>
        <p:spPr>
          <a:xfrm>
            <a:off x="11684000" y="3048000"/>
            <a:ext cx="3556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Monitoring &amp; Alerts</a:t>
            </a:r>
            <a:endParaRPr lang="en-US" sz="1600" dirty="0"/>
          </a:p>
        </p:txBody>
      </p:sp>
      <p:sp>
        <p:nvSpPr>
          <p:cNvPr id="37" name="Text 34"/>
          <p:cNvSpPr/>
          <p:nvPr/>
        </p:nvSpPr>
        <p:spPr>
          <a:xfrm>
            <a:off x="11684000" y="3403600"/>
            <a:ext cx="3556000" cy="3810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CloudWatch + SNS for real-time alerts</a:t>
            </a:r>
            <a:endParaRPr lang="en-US" sz="1400" dirty="0"/>
          </a:p>
        </p:txBody>
      </p:sp>
      <p:sp>
        <p:nvSpPr>
          <p:cNvPr id="38" name="Shape 35"/>
          <p:cNvSpPr/>
          <p:nvPr/>
        </p:nvSpPr>
        <p:spPr>
          <a:xfrm>
            <a:off x="762000" y="4318000"/>
            <a:ext cx="14732000" cy="3937000"/>
          </a:xfrm>
          <a:prstGeom prst="roundRect">
            <a:avLst>
              <a:gd name="adj" fmla="val 3000"/>
            </a:avLst>
          </a:prstGeom>
          <a:solidFill>
            <a:srgbClr val="232F3E"/>
          </a:solidFill>
          <a:ln/>
        </p:spPr>
      </p:sp>
      <p:sp>
        <p:nvSpPr>
          <p:cNvPr id="39" name="Text 36"/>
          <p:cNvSpPr/>
          <p:nvPr/>
        </p:nvSpPr>
        <p:spPr>
          <a:xfrm>
            <a:off x="1270000" y="4508500"/>
            <a:ext cx="5080000" cy="381000"/>
          </a:xfrm>
          <a:prstGeom prst="rect">
            <a:avLst/>
          </a:prstGeom>
          <a:noFill/>
          <a:ln/>
        </p:spPr>
        <p:txBody>
          <a:bodyPr wrap="none" lIns="0" tIns="0" rIns="0" bIns="0" rtlCol="0" anchor="ctr"/>
          <a:lstStyle/>
          <a:p>
            <a:pPr algn="l">
              <a:lnSpc>
                <a:spcPct val="120000"/>
              </a:lnSpc>
            </a:pPr>
            <a:r>
              <a:rPr lang="en-US" sz="1800" b="1" dirty="0">
                <a:solidFill>
                  <a:srgbClr val="FFFFFF"/>
                </a:solidFill>
                <a:latin typeface="Liter" pitchFamily="34" charset="0"/>
                <a:ea typeface="Liter" pitchFamily="34" charset="-122"/>
                <a:cs typeface="Liter" pitchFamily="34" charset="-120"/>
              </a:rPr>
              <a:t>Objective Achievement Flow</a:t>
            </a:r>
            <a:endParaRPr lang="en-US" sz="1800" dirty="0"/>
          </a:p>
        </p:txBody>
      </p:sp>
      <p:sp>
        <p:nvSpPr>
          <p:cNvPr id="40" name="Shape 37"/>
          <p:cNvSpPr/>
          <p:nvPr/>
        </p:nvSpPr>
        <p:spPr>
          <a:xfrm>
            <a:off x="1270000" y="5207000"/>
            <a:ext cx="1905000" cy="762000"/>
          </a:xfrm>
          <a:prstGeom prst="roundRect">
            <a:avLst>
              <a:gd name="adj" fmla="val 12000"/>
            </a:avLst>
          </a:prstGeom>
          <a:solidFill>
            <a:srgbClr val="FF9900"/>
          </a:solidFill>
          <a:ln/>
        </p:spPr>
      </p:sp>
      <p:sp>
        <p:nvSpPr>
          <p:cNvPr id="41" name="Text 38"/>
          <p:cNvSpPr/>
          <p:nvPr/>
        </p:nvSpPr>
        <p:spPr>
          <a:xfrm>
            <a:off x="1270000" y="5207000"/>
            <a:ext cx="1905000" cy="762000"/>
          </a:xfrm>
          <a:prstGeom prst="rect">
            <a:avLst/>
          </a:prstGeom>
          <a:noFill/>
          <a:ln/>
        </p:spPr>
        <p:txBody>
          <a:bodyPr wrap="non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Deploy on</a:t>
            </a:r>
            <a:endParaRPr lang="en-US" sz="1300" dirty="0"/>
          </a:p>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AWS Cloud</a:t>
            </a:r>
            <a:endParaRPr lang="en-US" sz="1300" dirty="0"/>
          </a:p>
        </p:txBody>
      </p:sp>
      <p:sp>
        <p:nvSpPr>
          <p:cNvPr id="42" name="Shape 39"/>
          <p:cNvSpPr/>
          <p:nvPr/>
        </p:nvSpPr>
        <p:spPr>
          <a:xfrm>
            <a:off x="3302000" y="5524500"/>
            <a:ext cx="635000" cy="0"/>
          </a:xfrm>
          <a:prstGeom prst="straightConnector1">
            <a:avLst/>
          </a:prstGeom>
          <a:noFill/>
          <a:ln w="25400">
            <a:solidFill>
              <a:srgbClr val="FF9900"/>
            </a:solidFill>
            <a:prstDash val="solid"/>
            <a:headEnd type="none"/>
            <a:tailEnd type="arrow"/>
          </a:ln>
        </p:spPr>
      </p:sp>
      <p:sp>
        <p:nvSpPr>
          <p:cNvPr id="43" name="Shape 40"/>
          <p:cNvSpPr/>
          <p:nvPr/>
        </p:nvSpPr>
        <p:spPr>
          <a:xfrm>
            <a:off x="4064000" y="5207000"/>
            <a:ext cx="1905000" cy="762000"/>
          </a:xfrm>
          <a:prstGeom prst="roundRect">
            <a:avLst>
              <a:gd name="adj" fmla="val 12000"/>
            </a:avLst>
          </a:prstGeom>
          <a:solidFill>
            <a:srgbClr val="4A6FA5"/>
          </a:solidFill>
          <a:ln/>
        </p:spPr>
      </p:sp>
      <p:sp>
        <p:nvSpPr>
          <p:cNvPr id="44" name="Text 41"/>
          <p:cNvSpPr/>
          <p:nvPr/>
        </p:nvSpPr>
        <p:spPr>
          <a:xfrm>
            <a:off x="4064000" y="5207000"/>
            <a:ext cx="1905000" cy="762000"/>
          </a:xfrm>
          <a:prstGeom prst="rect">
            <a:avLst/>
          </a:prstGeom>
          <a:noFill/>
          <a:ln/>
        </p:spPr>
        <p:txBody>
          <a:bodyPr wrap="non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Multi-Server</a:t>
            </a:r>
            <a:endParaRPr lang="en-US" sz="1300" dirty="0"/>
          </a:p>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Architecture</a:t>
            </a:r>
            <a:endParaRPr lang="en-US" sz="1300" dirty="0"/>
          </a:p>
        </p:txBody>
      </p:sp>
      <p:sp>
        <p:nvSpPr>
          <p:cNvPr id="45" name="Shape 42"/>
          <p:cNvSpPr/>
          <p:nvPr/>
        </p:nvSpPr>
        <p:spPr>
          <a:xfrm>
            <a:off x="6096000" y="5524500"/>
            <a:ext cx="635000" cy="0"/>
          </a:xfrm>
          <a:prstGeom prst="straightConnector1">
            <a:avLst/>
          </a:prstGeom>
          <a:noFill/>
          <a:ln w="25400">
            <a:solidFill>
              <a:srgbClr val="FF9900"/>
            </a:solidFill>
            <a:prstDash val="solid"/>
            <a:headEnd type="none"/>
            <a:tailEnd type="arrow"/>
          </a:ln>
        </p:spPr>
      </p:sp>
      <p:sp>
        <p:nvSpPr>
          <p:cNvPr id="46" name="Shape 43"/>
          <p:cNvSpPr/>
          <p:nvPr/>
        </p:nvSpPr>
        <p:spPr>
          <a:xfrm>
            <a:off x="6858000" y="5207000"/>
            <a:ext cx="1905000" cy="762000"/>
          </a:xfrm>
          <a:prstGeom prst="roundRect">
            <a:avLst>
              <a:gd name="adj" fmla="val 12000"/>
            </a:avLst>
          </a:prstGeom>
          <a:solidFill>
            <a:srgbClr val="4A6FA5"/>
          </a:solidFill>
          <a:ln/>
        </p:spPr>
      </p:sp>
      <p:sp>
        <p:nvSpPr>
          <p:cNvPr id="47" name="Text 44"/>
          <p:cNvSpPr/>
          <p:nvPr/>
        </p:nvSpPr>
        <p:spPr>
          <a:xfrm>
            <a:off x="6858000" y="5207000"/>
            <a:ext cx="1905000" cy="762000"/>
          </a:xfrm>
          <a:prstGeom prst="rect">
            <a:avLst/>
          </a:prstGeom>
          <a:noFill/>
          <a:ln/>
        </p:spPr>
        <p:txBody>
          <a:bodyPr wrap="non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Centralized</a:t>
            </a:r>
            <a:endParaRPr lang="en-US" sz="1300" dirty="0"/>
          </a:p>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Database</a:t>
            </a:r>
            <a:endParaRPr lang="en-US" sz="1300" dirty="0"/>
          </a:p>
        </p:txBody>
      </p:sp>
      <p:sp>
        <p:nvSpPr>
          <p:cNvPr id="48" name="Shape 45"/>
          <p:cNvSpPr/>
          <p:nvPr/>
        </p:nvSpPr>
        <p:spPr>
          <a:xfrm>
            <a:off x="8890000" y="5524500"/>
            <a:ext cx="635000" cy="0"/>
          </a:xfrm>
          <a:prstGeom prst="straightConnector1">
            <a:avLst/>
          </a:prstGeom>
          <a:noFill/>
          <a:ln w="25400">
            <a:solidFill>
              <a:srgbClr val="FF9900"/>
            </a:solidFill>
            <a:prstDash val="solid"/>
            <a:headEnd type="none"/>
            <a:tailEnd type="arrow"/>
          </a:ln>
        </p:spPr>
      </p:sp>
      <p:sp>
        <p:nvSpPr>
          <p:cNvPr id="49" name="Shape 46"/>
          <p:cNvSpPr/>
          <p:nvPr/>
        </p:nvSpPr>
        <p:spPr>
          <a:xfrm>
            <a:off x="9652000" y="5207000"/>
            <a:ext cx="1905000" cy="762000"/>
          </a:xfrm>
          <a:prstGeom prst="roundRect">
            <a:avLst>
              <a:gd name="adj" fmla="val 12000"/>
            </a:avLst>
          </a:prstGeom>
          <a:solidFill>
            <a:srgbClr val="4A6FA5"/>
          </a:solidFill>
          <a:ln/>
        </p:spPr>
      </p:sp>
      <p:sp>
        <p:nvSpPr>
          <p:cNvPr id="50" name="Text 47"/>
          <p:cNvSpPr/>
          <p:nvPr/>
        </p:nvSpPr>
        <p:spPr>
          <a:xfrm>
            <a:off x="9652000" y="5207000"/>
            <a:ext cx="1905000" cy="762000"/>
          </a:xfrm>
          <a:prstGeom prst="rect">
            <a:avLst/>
          </a:prstGeom>
          <a:noFill/>
          <a:ln/>
        </p:spPr>
        <p:txBody>
          <a:bodyPr wrap="non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Load</a:t>
            </a:r>
            <a:endParaRPr lang="en-US" sz="1300" dirty="0"/>
          </a:p>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Balancing</a:t>
            </a:r>
            <a:endParaRPr lang="en-US" sz="1300" dirty="0"/>
          </a:p>
        </p:txBody>
      </p:sp>
      <p:sp>
        <p:nvSpPr>
          <p:cNvPr id="51" name="Shape 48"/>
          <p:cNvSpPr/>
          <p:nvPr/>
        </p:nvSpPr>
        <p:spPr>
          <a:xfrm>
            <a:off x="11684000" y="5524500"/>
            <a:ext cx="635000" cy="0"/>
          </a:xfrm>
          <a:prstGeom prst="straightConnector1">
            <a:avLst/>
          </a:prstGeom>
          <a:noFill/>
          <a:ln w="25400">
            <a:solidFill>
              <a:srgbClr val="FF9900"/>
            </a:solidFill>
            <a:prstDash val="solid"/>
            <a:headEnd type="none"/>
            <a:tailEnd type="arrow"/>
          </a:ln>
        </p:spPr>
      </p:sp>
      <p:sp>
        <p:nvSpPr>
          <p:cNvPr id="52" name="Shape 49"/>
          <p:cNvSpPr/>
          <p:nvPr/>
        </p:nvSpPr>
        <p:spPr>
          <a:xfrm>
            <a:off x="12446000" y="5207000"/>
            <a:ext cx="1905000" cy="762000"/>
          </a:xfrm>
          <a:prstGeom prst="roundRect">
            <a:avLst>
              <a:gd name="adj" fmla="val 12000"/>
            </a:avLst>
          </a:prstGeom>
          <a:solidFill>
            <a:srgbClr val="27AE60"/>
          </a:solidFill>
          <a:ln/>
        </p:spPr>
      </p:sp>
      <p:sp>
        <p:nvSpPr>
          <p:cNvPr id="53" name="Text 50"/>
          <p:cNvSpPr/>
          <p:nvPr/>
        </p:nvSpPr>
        <p:spPr>
          <a:xfrm>
            <a:off x="12446000" y="5207000"/>
            <a:ext cx="1905000" cy="762000"/>
          </a:xfrm>
          <a:prstGeom prst="rect">
            <a:avLst/>
          </a:prstGeom>
          <a:noFill/>
          <a:ln/>
        </p:spPr>
        <p:txBody>
          <a:bodyPr wrap="non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Monitoring</a:t>
            </a:r>
            <a:endParaRPr lang="en-US" sz="1300" dirty="0"/>
          </a:p>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&amp; Alerts</a:t>
            </a:r>
            <a:endParaRPr lang="en-US" sz="1300" dirty="0"/>
          </a:p>
        </p:txBody>
      </p:sp>
      <p:sp>
        <p:nvSpPr>
          <p:cNvPr id="54" name="Text 51"/>
          <p:cNvSpPr/>
          <p:nvPr/>
        </p:nvSpPr>
        <p:spPr>
          <a:xfrm>
            <a:off x="1270000" y="6477000"/>
            <a:ext cx="13716000" cy="1270000"/>
          </a:xfrm>
          <a:prstGeom prst="rect">
            <a:avLst/>
          </a:prstGeom>
          <a:noFill/>
          <a:ln/>
        </p:spPr>
        <p:txBody>
          <a:bodyPr wrap="square" lIns="0" tIns="0" rIns="0" bIns="0" rtlCol="0" anchor="t"/>
          <a:lstStyle/>
          <a:p>
            <a:pPr algn="ctr">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Each objective builds upon the previous one, creating a complete cloud-native architecture</a:t>
            </a:r>
            <a:endParaRPr lang="en-US" sz="1500" dirty="0"/>
          </a:p>
          <a:p>
            <a:pPr algn="ctr">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that is </a:t>
            </a:r>
            <a:pPr algn="ctr">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scalable, reliable, and production-ready</a:t>
            </a:r>
            <a:pPr algn="ctr">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for student note management.</a:t>
            </a:r>
            <a:endParaRPr lang="en-US" sz="1500" dirty="0"/>
          </a:p>
        </p:txBody>
      </p:sp>
      <p:sp>
        <p:nvSpPr>
          <p:cNvPr id="55" name="Text 52"/>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04</a:t>
            </a:r>
            <a:endParaRPr lang="en-US" sz="1400" dirty="0"/>
          </a:p>
        </p:txBody>
      </p:sp>
    </p:spTree>
  </p:cSld>
  <p:clrMapOvr>
    <a:masterClrMapping/>
  </p:clrMapOvr>
  <p:transition>
    <p:fade/>
    <p:spd val="med"/>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6769100" y="457200"/>
            <a:ext cx="20320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INTRODUCTION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PROBLEM STATEMENT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OBJECTIVES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FEATURES</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ARCHITECTURE</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PROJECT FEATURES</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651000"/>
            <a:ext cx="3429000" cy="2032000"/>
          </a:xfrm>
          <a:prstGeom prst="roundRect">
            <a:avLst>
              <a:gd name="adj" fmla="val 8000"/>
            </a:avLst>
          </a:prstGeom>
          <a:solidFill>
            <a:srgbClr val="F0F4F8"/>
          </a:solidFill>
          <a:ln/>
        </p:spPr>
      </p:sp>
      <p:sp>
        <p:nvSpPr>
          <p:cNvPr id="9" name="Shape 6"/>
          <p:cNvSpPr/>
          <p:nvPr/>
        </p:nvSpPr>
        <p:spPr>
          <a:xfrm>
            <a:off x="1016000" y="1879600"/>
            <a:ext cx="457200" cy="457200"/>
          </a:xfrm>
          <a:custGeom>
            <a:avLst/>
            <a:gdLst/>
            <a:ahLst/>
            <a:cxnLst/>
            <a:rect l="l" t="t" r="r" b="b"/>
            <a:pathLst>
              <a:path w="457200" h="457200">
                <a:moveTo>
                  <a:pt x="228600" y="457200"/>
                </a:moveTo>
                <a:cubicBezTo>
                  <a:pt x="354768" y="457200"/>
                  <a:pt x="457200" y="354768"/>
                  <a:pt x="457200" y="228600"/>
                </a:cubicBezTo>
                <a:cubicBezTo>
                  <a:pt x="457200" y="102432"/>
                  <a:pt x="354768" y="0"/>
                  <a:pt x="228600" y="0"/>
                </a:cubicBezTo>
                <a:cubicBezTo>
                  <a:pt x="102432" y="0"/>
                  <a:pt x="0" y="102432"/>
                  <a:pt x="0" y="228600"/>
                </a:cubicBezTo>
                <a:cubicBezTo>
                  <a:pt x="0" y="354768"/>
                  <a:pt x="102432" y="457200"/>
                  <a:pt x="228600" y="457200"/>
                </a:cubicBezTo>
                <a:close/>
                <a:moveTo>
                  <a:pt x="207169" y="307181"/>
                </a:moveTo>
                <a:lnTo>
                  <a:pt x="207169" y="250031"/>
                </a:lnTo>
                <a:lnTo>
                  <a:pt x="150019" y="250031"/>
                </a:lnTo>
                <a:cubicBezTo>
                  <a:pt x="138142" y="250031"/>
                  <a:pt x="128588" y="240476"/>
                  <a:pt x="128588" y="228600"/>
                </a:cubicBezTo>
                <a:cubicBezTo>
                  <a:pt x="128588" y="216724"/>
                  <a:pt x="138142" y="207169"/>
                  <a:pt x="150019" y="207169"/>
                </a:cubicBezTo>
                <a:lnTo>
                  <a:pt x="207169" y="207169"/>
                </a:lnTo>
                <a:lnTo>
                  <a:pt x="207169" y="150019"/>
                </a:lnTo>
                <a:cubicBezTo>
                  <a:pt x="207169" y="138142"/>
                  <a:pt x="216724" y="128588"/>
                  <a:pt x="228600" y="128588"/>
                </a:cubicBezTo>
                <a:cubicBezTo>
                  <a:pt x="240476" y="128588"/>
                  <a:pt x="250031" y="138142"/>
                  <a:pt x="250031" y="150019"/>
                </a:cubicBezTo>
                <a:lnTo>
                  <a:pt x="250031" y="207169"/>
                </a:lnTo>
                <a:lnTo>
                  <a:pt x="307181" y="207169"/>
                </a:lnTo>
                <a:cubicBezTo>
                  <a:pt x="319058" y="207169"/>
                  <a:pt x="328613" y="216724"/>
                  <a:pt x="328613" y="228600"/>
                </a:cubicBezTo>
                <a:cubicBezTo>
                  <a:pt x="328613" y="240476"/>
                  <a:pt x="319058" y="250031"/>
                  <a:pt x="307181" y="250031"/>
                </a:cubicBezTo>
                <a:lnTo>
                  <a:pt x="250031" y="250031"/>
                </a:lnTo>
                <a:lnTo>
                  <a:pt x="250031" y="307181"/>
                </a:lnTo>
                <a:cubicBezTo>
                  <a:pt x="250031" y="319058"/>
                  <a:pt x="240476" y="328613"/>
                  <a:pt x="228600" y="328613"/>
                </a:cubicBezTo>
                <a:cubicBezTo>
                  <a:pt x="216724" y="328613"/>
                  <a:pt x="207169" y="319058"/>
                  <a:pt x="207169" y="307181"/>
                </a:cubicBezTo>
                <a:close/>
              </a:path>
            </a:pathLst>
          </a:custGeom>
          <a:solidFill>
            <a:srgbClr val="FF9900"/>
          </a:solidFill>
          <a:ln/>
        </p:spPr>
      </p:sp>
      <p:sp>
        <p:nvSpPr>
          <p:cNvPr id="10" name="Text 7"/>
          <p:cNvSpPr/>
          <p:nvPr/>
        </p:nvSpPr>
        <p:spPr>
          <a:xfrm>
            <a:off x="1016000" y="2438400"/>
            <a:ext cx="292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Add Notes</a:t>
            </a:r>
            <a:endParaRPr lang="en-US" sz="1600" dirty="0"/>
          </a:p>
        </p:txBody>
      </p:sp>
      <p:sp>
        <p:nvSpPr>
          <p:cNvPr id="11" name="Text 8"/>
          <p:cNvSpPr/>
          <p:nvPr/>
        </p:nvSpPr>
        <p:spPr>
          <a:xfrm>
            <a:off x="1016000" y="2794000"/>
            <a:ext cx="2921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Create and save notes with title and content</a:t>
            </a:r>
            <a:endParaRPr lang="en-US" sz="1400" dirty="0"/>
          </a:p>
        </p:txBody>
      </p:sp>
      <p:sp>
        <p:nvSpPr>
          <p:cNvPr id="12" name="Shape 9"/>
          <p:cNvSpPr/>
          <p:nvPr/>
        </p:nvSpPr>
        <p:spPr>
          <a:xfrm>
            <a:off x="4445000" y="1651000"/>
            <a:ext cx="3429000" cy="2032000"/>
          </a:xfrm>
          <a:prstGeom prst="roundRect">
            <a:avLst>
              <a:gd name="adj" fmla="val 8000"/>
            </a:avLst>
          </a:prstGeom>
          <a:solidFill>
            <a:srgbClr val="F0F4F8"/>
          </a:solidFill>
          <a:ln/>
        </p:spPr>
      </p:sp>
      <p:sp>
        <p:nvSpPr>
          <p:cNvPr id="13" name="Shape 10"/>
          <p:cNvSpPr/>
          <p:nvPr/>
        </p:nvSpPr>
        <p:spPr>
          <a:xfrm>
            <a:off x="4699000" y="1879600"/>
            <a:ext cx="457200" cy="457200"/>
          </a:xfrm>
          <a:custGeom>
            <a:avLst/>
            <a:gdLst/>
            <a:ahLst/>
            <a:cxnLst/>
            <a:rect l="l" t="t" r="r" b="b"/>
            <a:pathLst>
              <a:path w="457200" h="457200">
                <a:moveTo>
                  <a:pt x="228600" y="28575"/>
                </a:moveTo>
                <a:cubicBezTo>
                  <a:pt x="164465" y="28575"/>
                  <a:pt x="113109" y="61436"/>
                  <a:pt x="75724" y="100548"/>
                </a:cubicBezTo>
                <a:cubicBezTo>
                  <a:pt x="38576" y="139392"/>
                  <a:pt x="13732" y="185738"/>
                  <a:pt x="1905" y="217616"/>
                </a:cubicBezTo>
                <a:cubicBezTo>
                  <a:pt x="-714" y="224671"/>
                  <a:pt x="-714" y="232529"/>
                  <a:pt x="1905" y="239584"/>
                </a:cubicBezTo>
                <a:cubicBezTo>
                  <a:pt x="13732" y="271463"/>
                  <a:pt x="38576" y="317897"/>
                  <a:pt x="75724" y="356652"/>
                </a:cubicBezTo>
                <a:cubicBezTo>
                  <a:pt x="113109" y="395674"/>
                  <a:pt x="164465" y="428625"/>
                  <a:pt x="228600" y="428625"/>
                </a:cubicBezTo>
                <a:cubicBezTo>
                  <a:pt x="292735" y="428625"/>
                  <a:pt x="344091" y="395764"/>
                  <a:pt x="381476" y="356652"/>
                </a:cubicBezTo>
                <a:cubicBezTo>
                  <a:pt x="418624" y="317808"/>
                  <a:pt x="443468" y="271463"/>
                  <a:pt x="455295" y="239584"/>
                </a:cubicBezTo>
                <a:cubicBezTo>
                  <a:pt x="457914" y="232529"/>
                  <a:pt x="457914" y="224671"/>
                  <a:pt x="455295" y="217616"/>
                </a:cubicBezTo>
                <a:cubicBezTo>
                  <a:pt x="443468" y="185737"/>
                  <a:pt x="418624" y="139303"/>
                  <a:pt x="381476" y="100548"/>
                </a:cubicBezTo>
                <a:cubicBezTo>
                  <a:pt x="344091" y="61526"/>
                  <a:pt x="292735" y="28575"/>
                  <a:pt x="228600" y="28575"/>
                </a:cubicBezTo>
                <a:close/>
                <a:moveTo>
                  <a:pt x="114300" y="228600"/>
                </a:moveTo>
                <a:cubicBezTo>
                  <a:pt x="114300" y="157631"/>
                  <a:pt x="165516" y="100013"/>
                  <a:pt x="228600" y="100013"/>
                </a:cubicBezTo>
                <a:cubicBezTo>
                  <a:pt x="291684" y="100013"/>
                  <a:pt x="342900" y="157631"/>
                  <a:pt x="342900" y="228600"/>
                </a:cubicBezTo>
                <a:cubicBezTo>
                  <a:pt x="342900" y="299569"/>
                  <a:pt x="291684" y="357188"/>
                  <a:pt x="228600" y="357188"/>
                </a:cubicBezTo>
                <a:cubicBezTo>
                  <a:pt x="165516" y="357188"/>
                  <a:pt x="114300" y="299569"/>
                  <a:pt x="114300" y="228600"/>
                </a:cubicBezTo>
                <a:close/>
                <a:moveTo>
                  <a:pt x="228600" y="171450"/>
                </a:moveTo>
                <a:cubicBezTo>
                  <a:pt x="228600" y="202972"/>
                  <a:pt x="205819" y="228600"/>
                  <a:pt x="177800" y="228600"/>
                </a:cubicBezTo>
                <a:cubicBezTo>
                  <a:pt x="168672" y="228600"/>
                  <a:pt x="160099" y="225921"/>
                  <a:pt x="152638" y="221099"/>
                </a:cubicBezTo>
                <a:cubicBezTo>
                  <a:pt x="151844" y="230832"/>
                  <a:pt x="152559" y="240834"/>
                  <a:pt x="154940" y="250746"/>
                </a:cubicBezTo>
                <a:cubicBezTo>
                  <a:pt x="165814" y="296466"/>
                  <a:pt x="207645" y="323612"/>
                  <a:pt x="248285" y="311378"/>
                </a:cubicBezTo>
                <a:cubicBezTo>
                  <a:pt x="288925" y="299145"/>
                  <a:pt x="313055" y="252085"/>
                  <a:pt x="302181" y="206365"/>
                </a:cubicBezTo>
                <a:cubicBezTo>
                  <a:pt x="292497" y="165556"/>
                  <a:pt x="258128" y="139571"/>
                  <a:pt x="221933" y="143143"/>
                </a:cubicBezTo>
                <a:cubicBezTo>
                  <a:pt x="226139" y="151448"/>
                  <a:pt x="228600" y="161092"/>
                  <a:pt x="228600" y="171450"/>
                </a:cubicBezTo>
                <a:close/>
              </a:path>
            </a:pathLst>
          </a:custGeom>
          <a:solidFill>
            <a:srgbClr val="FF9900"/>
          </a:solidFill>
          <a:ln/>
        </p:spPr>
      </p:sp>
      <p:sp>
        <p:nvSpPr>
          <p:cNvPr id="14" name="Text 11"/>
          <p:cNvSpPr/>
          <p:nvPr/>
        </p:nvSpPr>
        <p:spPr>
          <a:xfrm>
            <a:off x="4699000" y="2438400"/>
            <a:ext cx="292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View Notes</a:t>
            </a:r>
            <a:endParaRPr lang="en-US" sz="1600" dirty="0"/>
          </a:p>
        </p:txBody>
      </p:sp>
      <p:sp>
        <p:nvSpPr>
          <p:cNvPr id="15" name="Text 12"/>
          <p:cNvSpPr/>
          <p:nvPr/>
        </p:nvSpPr>
        <p:spPr>
          <a:xfrm>
            <a:off x="4699000" y="2794000"/>
            <a:ext cx="2921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Display all saved notes in organized layout</a:t>
            </a:r>
            <a:endParaRPr lang="en-US" sz="1400" dirty="0"/>
          </a:p>
        </p:txBody>
      </p:sp>
      <p:sp>
        <p:nvSpPr>
          <p:cNvPr id="16" name="Shape 13"/>
          <p:cNvSpPr/>
          <p:nvPr/>
        </p:nvSpPr>
        <p:spPr>
          <a:xfrm>
            <a:off x="8128000" y="1651000"/>
            <a:ext cx="3429000" cy="2032000"/>
          </a:xfrm>
          <a:prstGeom prst="roundRect">
            <a:avLst>
              <a:gd name="adj" fmla="val 8000"/>
            </a:avLst>
          </a:prstGeom>
          <a:solidFill>
            <a:srgbClr val="F0F4F8"/>
          </a:solidFill>
          <a:ln/>
        </p:spPr>
      </p:sp>
      <p:sp>
        <p:nvSpPr>
          <p:cNvPr id="17" name="Shape 14"/>
          <p:cNvSpPr/>
          <p:nvPr/>
        </p:nvSpPr>
        <p:spPr>
          <a:xfrm>
            <a:off x="8382000" y="1879600"/>
            <a:ext cx="457200" cy="457200"/>
          </a:xfrm>
          <a:custGeom>
            <a:avLst/>
            <a:gdLst/>
            <a:ahLst/>
            <a:cxnLst/>
            <a:rect l="l" t="t" r="r" b="b"/>
            <a:pathLst>
              <a:path w="457200" h="457200">
                <a:moveTo>
                  <a:pt x="421124" y="19377"/>
                </a:moveTo>
                <a:cubicBezTo>
                  <a:pt x="401568" y="-179"/>
                  <a:pt x="369957" y="-179"/>
                  <a:pt x="350401" y="19377"/>
                </a:cubicBezTo>
                <a:lnTo>
                  <a:pt x="328613" y="41166"/>
                </a:lnTo>
                <a:lnTo>
                  <a:pt x="416034" y="128588"/>
                </a:lnTo>
                <a:lnTo>
                  <a:pt x="437823" y="106799"/>
                </a:lnTo>
                <a:cubicBezTo>
                  <a:pt x="457379" y="87243"/>
                  <a:pt x="457379" y="55632"/>
                  <a:pt x="437823" y="36076"/>
                </a:cubicBezTo>
                <a:lnTo>
                  <a:pt x="421124" y="19377"/>
                </a:lnTo>
                <a:close/>
                <a:moveTo>
                  <a:pt x="153948" y="215831"/>
                </a:moveTo>
                <a:cubicBezTo>
                  <a:pt x="148501" y="221278"/>
                  <a:pt x="144304" y="227975"/>
                  <a:pt x="141893" y="235387"/>
                </a:cubicBezTo>
                <a:lnTo>
                  <a:pt x="115461" y="314682"/>
                </a:lnTo>
                <a:cubicBezTo>
                  <a:pt x="112871" y="322362"/>
                  <a:pt x="114925" y="330845"/>
                  <a:pt x="120640" y="336649"/>
                </a:cubicBezTo>
                <a:cubicBezTo>
                  <a:pt x="126355" y="342454"/>
                  <a:pt x="134838" y="344418"/>
                  <a:pt x="142607" y="341828"/>
                </a:cubicBezTo>
                <a:lnTo>
                  <a:pt x="221903" y="315397"/>
                </a:lnTo>
                <a:cubicBezTo>
                  <a:pt x="229225" y="312986"/>
                  <a:pt x="235922" y="308789"/>
                  <a:pt x="241459" y="303341"/>
                </a:cubicBezTo>
                <a:lnTo>
                  <a:pt x="385763" y="158859"/>
                </a:lnTo>
                <a:lnTo>
                  <a:pt x="298341" y="71438"/>
                </a:lnTo>
                <a:lnTo>
                  <a:pt x="153948" y="215831"/>
                </a:lnTo>
                <a:close/>
                <a:moveTo>
                  <a:pt x="85725" y="57150"/>
                </a:moveTo>
                <a:cubicBezTo>
                  <a:pt x="38398" y="57150"/>
                  <a:pt x="0" y="95548"/>
                  <a:pt x="0" y="142875"/>
                </a:cubicBezTo>
                <a:lnTo>
                  <a:pt x="0" y="371475"/>
                </a:lnTo>
                <a:cubicBezTo>
                  <a:pt x="0" y="418802"/>
                  <a:pt x="38398" y="457200"/>
                  <a:pt x="85725" y="457200"/>
                </a:cubicBezTo>
                <a:lnTo>
                  <a:pt x="314325" y="457200"/>
                </a:lnTo>
                <a:cubicBezTo>
                  <a:pt x="361652" y="457200"/>
                  <a:pt x="400050" y="418802"/>
                  <a:pt x="400050" y="371475"/>
                </a:cubicBezTo>
                <a:lnTo>
                  <a:pt x="400050" y="285750"/>
                </a:lnTo>
                <a:cubicBezTo>
                  <a:pt x="400050" y="269944"/>
                  <a:pt x="387281" y="257175"/>
                  <a:pt x="371475" y="257175"/>
                </a:cubicBezTo>
                <a:cubicBezTo>
                  <a:pt x="355669" y="257175"/>
                  <a:pt x="342900" y="269944"/>
                  <a:pt x="342900" y="285750"/>
                </a:cubicBezTo>
                <a:lnTo>
                  <a:pt x="342900" y="371475"/>
                </a:lnTo>
                <a:cubicBezTo>
                  <a:pt x="342900" y="387281"/>
                  <a:pt x="330131" y="400050"/>
                  <a:pt x="314325" y="400050"/>
                </a:cubicBezTo>
                <a:lnTo>
                  <a:pt x="85725" y="400050"/>
                </a:lnTo>
                <a:cubicBezTo>
                  <a:pt x="69919" y="400050"/>
                  <a:pt x="57150" y="387281"/>
                  <a:pt x="57150" y="371475"/>
                </a:cubicBezTo>
                <a:lnTo>
                  <a:pt x="57150" y="142875"/>
                </a:lnTo>
                <a:cubicBezTo>
                  <a:pt x="57150" y="127069"/>
                  <a:pt x="69919" y="114300"/>
                  <a:pt x="85725" y="114300"/>
                </a:cubicBezTo>
                <a:lnTo>
                  <a:pt x="171450" y="114300"/>
                </a:lnTo>
                <a:cubicBezTo>
                  <a:pt x="187256" y="114300"/>
                  <a:pt x="200025" y="101531"/>
                  <a:pt x="200025" y="85725"/>
                </a:cubicBezTo>
                <a:cubicBezTo>
                  <a:pt x="200025" y="69919"/>
                  <a:pt x="187256" y="57150"/>
                  <a:pt x="171450" y="57150"/>
                </a:cubicBezTo>
                <a:lnTo>
                  <a:pt x="85725" y="57150"/>
                </a:lnTo>
                <a:close/>
              </a:path>
            </a:pathLst>
          </a:custGeom>
          <a:solidFill>
            <a:srgbClr val="FF9900"/>
          </a:solidFill>
          <a:ln/>
        </p:spPr>
      </p:sp>
      <p:sp>
        <p:nvSpPr>
          <p:cNvPr id="18" name="Text 15"/>
          <p:cNvSpPr/>
          <p:nvPr/>
        </p:nvSpPr>
        <p:spPr>
          <a:xfrm>
            <a:off x="8382000" y="2438400"/>
            <a:ext cx="292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Edit Notes</a:t>
            </a:r>
            <a:endParaRPr lang="en-US" sz="1600" dirty="0"/>
          </a:p>
        </p:txBody>
      </p:sp>
      <p:sp>
        <p:nvSpPr>
          <p:cNvPr id="19" name="Text 16"/>
          <p:cNvSpPr/>
          <p:nvPr/>
        </p:nvSpPr>
        <p:spPr>
          <a:xfrm>
            <a:off x="8382000" y="2794000"/>
            <a:ext cx="2921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Modify existing notes with real-time updates</a:t>
            </a:r>
            <a:endParaRPr lang="en-US" sz="1400" dirty="0"/>
          </a:p>
        </p:txBody>
      </p:sp>
      <p:sp>
        <p:nvSpPr>
          <p:cNvPr id="20" name="Shape 17"/>
          <p:cNvSpPr/>
          <p:nvPr/>
        </p:nvSpPr>
        <p:spPr>
          <a:xfrm>
            <a:off x="11811000" y="1651000"/>
            <a:ext cx="3683000" cy="2032000"/>
          </a:xfrm>
          <a:prstGeom prst="roundRect">
            <a:avLst>
              <a:gd name="adj" fmla="val 8000"/>
            </a:avLst>
          </a:prstGeom>
          <a:solidFill>
            <a:srgbClr val="F0F4F8"/>
          </a:solidFill>
          <a:ln/>
        </p:spPr>
      </p:sp>
      <p:sp>
        <p:nvSpPr>
          <p:cNvPr id="21" name="Shape 18"/>
          <p:cNvSpPr/>
          <p:nvPr/>
        </p:nvSpPr>
        <p:spPr>
          <a:xfrm>
            <a:off x="12065000" y="1879600"/>
            <a:ext cx="457200" cy="457200"/>
          </a:xfrm>
          <a:custGeom>
            <a:avLst/>
            <a:gdLst/>
            <a:ahLst/>
            <a:cxnLst/>
            <a:rect l="l" t="t" r="r" b="b"/>
            <a:pathLst>
              <a:path w="457200" h="457200">
                <a:moveTo>
                  <a:pt x="139507" y="5269"/>
                </a:moveTo>
                <a:cubicBezTo>
                  <a:pt x="143998" y="-6429"/>
                  <a:pt x="156448" y="-14287"/>
                  <a:pt x="170532" y="-14287"/>
                </a:cubicBezTo>
                <a:lnTo>
                  <a:pt x="286771" y="-14287"/>
                </a:lnTo>
                <a:cubicBezTo>
                  <a:pt x="300854" y="-14287"/>
                  <a:pt x="313304" y="-6429"/>
                  <a:pt x="317795" y="5269"/>
                </a:cubicBezTo>
                <a:lnTo>
                  <a:pt x="326571" y="28575"/>
                </a:lnTo>
                <a:lnTo>
                  <a:pt x="424543" y="28575"/>
                </a:lnTo>
                <a:cubicBezTo>
                  <a:pt x="442606" y="28575"/>
                  <a:pt x="457200" y="41344"/>
                  <a:pt x="457200" y="57150"/>
                </a:cubicBezTo>
                <a:cubicBezTo>
                  <a:pt x="457200" y="72956"/>
                  <a:pt x="442606" y="85725"/>
                  <a:pt x="424543" y="85725"/>
                </a:cubicBezTo>
                <a:lnTo>
                  <a:pt x="32657" y="85725"/>
                </a:lnTo>
                <a:cubicBezTo>
                  <a:pt x="14594" y="85725"/>
                  <a:pt x="0" y="72956"/>
                  <a:pt x="0" y="57150"/>
                </a:cubicBezTo>
                <a:cubicBezTo>
                  <a:pt x="0" y="41344"/>
                  <a:pt x="14594" y="28575"/>
                  <a:pt x="32657" y="28575"/>
                </a:cubicBezTo>
                <a:lnTo>
                  <a:pt x="130629" y="28575"/>
                </a:lnTo>
                <a:lnTo>
                  <a:pt x="139507" y="5269"/>
                </a:lnTo>
                <a:close/>
                <a:moveTo>
                  <a:pt x="32657" y="128588"/>
                </a:moveTo>
                <a:lnTo>
                  <a:pt x="424543" y="128588"/>
                </a:lnTo>
                <a:lnTo>
                  <a:pt x="424543" y="400050"/>
                </a:lnTo>
                <a:cubicBezTo>
                  <a:pt x="424543" y="431572"/>
                  <a:pt x="395253" y="457200"/>
                  <a:pt x="359229" y="457200"/>
                </a:cubicBezTo>
                <a:lnTo>
                  <a:pt x="97971" y="457200"/>
                </a:lnTo>
                <a:cubicBezTo>
                  <a:pt x="61947" y="457200"/>
                  <a:pt x="32657" y="431572"/>
                  <a:pt x="32657" y="400050"/>
                </a:cubicBezTo>
                <a:lnTo>
                  <a:pt x="32657" y="128588"/>
                </a:lnTo>
                <a:close/>
                <a:moveTo>
                  <a:pt x="122464" y="185738"/>
                </a:moveTo>
                <a:cubicBezTo>
                  <a:pt x="108891" y="185738"/>
                  <a:pt x="97971" y="195292"/>
                  <a:pt x="97971" y="207169"/>
                </a:cubicBezTo>
                <a:lnTo>
                  <a:pt x="97971" y="378619"/>
                </a:lnTo>
                <a:cubicBezTo>
                  <a:pt x="97971" y="390495"/>
                  <a:pt x="108891" y="400050"/>
                  <a:pt x="122464" y="400050"/>
                </a:cubicBezTo>
                <a:cubicBezTo>
                  <a:pt x="136037" y="400050"/>
                  <a:pt x="146957" y="390495"/>
                  <a:pt x="146957" y="378619"/>
                </a:cubicBezTo>
                <a:lnTo>
                  <a:pt x="146957" y="207169"/>
                </a:lnTo>
                <a:cubicBezTo>
                  <a:pt x="146957" y="195292"/>
                  <a:pt x="136037" y="185738"/>
                  <a:pt x="122464" y="185738"/>
                </a:cubicBezTo>
                <a:close/>
                <a:moveTo>
                  <a:pt x="228600" y="185738"/>
                </a:moveTo>
                <a:cubicBezTo>
                  <a:pt x="215027" y="185738"/>
                  <a:pt x="204107" y="195292"/>
                  <a:pt x="204107" y="207169"/>
                </a:cubicBezTo>
                <a:lnTo>
                  <a:pt x="204107" y="378619"/>
                </a:lnTo>
                <a:cubicBezTo>
                  <a:pt x="204107" y="390495"/>
                  <a:pt x="215027" y="400050"/>
                  <a:pt x="228600" y="400050"/>
                </a:cubicBezTo>
                <a:cubicBezTo>
                  <a:pt x="242173" y="400050"/>
                  <a:pt x="253093" y="390495"/>
                  <a:pt x="253093" y="378619"/>
                </a:cubicBezTo>
                <a:lnTo>
                  <a:pt x="253093" y="207169"/>
                </a:lnTo>
                <a:cubicBezTo>
                  <a:pt x="253093" y="195292"/>
                  <a:pt x="242173" y="185738"/>
                  <a:pt x="228600" y="185738"/>
                </a:cubicBezTo>
                <a:close/>
                <a:moveTo>
                  <a:pt x="334736" y="185738"/>
                </a:moveTo>
                <a:cubicBezTo>
                  <a:pt x="321163" y="185738"/>
                  <a:pt x="310243" y="195292"/>
                  <a:pt x="310243" y="207169"/>
                </a:cubicBezTo>
                <a:lnTo>
                  <a:pt x="310243" y="378619"/>
                </a:lnTo>
                <a:cubicBezTo>
                  <a:pt x="310243" y="390495"/>
                  <a:pt x="321163" y="400050"/>
                  <a:pt x="334736" y="400050"/>
                </a:cubicBezTo>
                <a:cubicBezTo>
                  <a:pt x="348309" y="400050"/>
                  <a:pt x="359229" y="390495"/>
                  <a:pt x="359229" y="378619"/>
                </a:cubicBezTo>
                <a:lnTo>
                  <a:pt x="359229" y="207169"/>
                </a:lnTo>
                <a:cubicBezTo>
                  <a:pt x="359229" y="195292"/>
                  <a:pt x="348309" y="185738"/>
                  <a:pt x="334736" y="185738"/>
                </a:cubicBezTo>
                <a:close/>
              </a:path>
            </a:pathLst>
          </a:custGeom>
          <a:solidFill>
            <a:srgbClr val="FF9900"/>
          </a:solidFill>
          <a:ln/>
        </p:spPr>
      </p:sp>
      <p:sp>
        <p:nvSpPr>
          <p:cNvPr id="22" name="Text 19"/>
          <p:cNvSpPr/>
          <p:nvPr/>
        </p:nvSpPr>
        <p:spPr>
          <a:xfrm>
            <a:off x="12065000" y="2438400"/>
            <a:ext cx="3175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Delete Notes</a:t>
            </a:r>
            <a:endParaRPr lang="en-US" sz="1600" dirty="0"/>
          </a:p>
        </p:txBody>
      </p:sp>
      <p:sp>
        <p:nvSpPr>
          <p:cNvPr id="23" name="Text 20"/>
          <p:cNvSpPr/>
          <p:nvPr/>
        </p:nvSpPr>
        <p:spPr>
          <a:xfrm>
            <a:off x="12065000" y="2794000"/>
            <a:ext cx="3175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Remove notes with confirmation dialog</a:t>
            </a:r>
            <a:endParaRPr lang="en-US" sz="1400" dirty="0"/>
          </a:p>
        </p:txBody>
      </p:sp>
      <p:sp>
        <p:nvSpPr>
          <p:cNvPr id="24" name="Shape 21"/>
          <p:cNvSpPr/>
          <p:nvPr/>
        </p:nvSpPr>
        <p:spPr>
          <a:xfrm>
            <a:off x="762000" y="3937000"/>
            <a:ext cx="4699000" cy="2032000"/>
          </a:xfrm>
          <a:prstGeom prst="roundRect">
            <a:avLst>
              <a:gd name="adj" fmla="val 8000"/>
            </a:avLst>
          </a:prstGeom>
          <a:solidFill>
            <a:srgbClr val="F0F4F8"/>
          </a:solidFill>
          <a:ln/>
        </p:spPr>
      </p:sp>
      <p:sp>
        <p:nvSpPr>
          <p:cNvPr id="25" name="Shape 22"/>
          <p:cNvSpPr/>
          <p:nvPr/>
        </p:nvSpPr>
        <p:spPr>
          <a:xfrm>
            <a:off x="1016000" y="4165600"/>
            <a:ext cx="457200" cy="457200"/>
          </a:xfrm>
          <a:custGeom>
            <a:avLst/>
            <a:gdLst/>
            <a:ahLst/>
            <a:cxnLst/>
            <a:rect l="l" t="t" r="r" b="b"/>
            <a:pathLst>
              <a:path w="457200" h="457200">
                <a:moveTo>
                  <a:pt x="371475" y="185738"/>
                </a:moveTo>
                <a:cubicBezTo>
                  <a:pt x="371475" y="226725"/>
                  <a:pt x="358170" y="264587"/>
                  <a:pt x="335756" y="295305"/>
                </a:cubicBezTo>
                <a:lnTo>
                  <a:pt x="448806" y="408444"/>
                </a:lnTo>
                <a:cubicBezTo>
                  <a:pt x="459968" y="419606"/>
                  <a:pt x="459968" y="437733"/>
                  <a:pt x="448806" y="448895"/>
                </a:cubicBezTo>
                <a:cubicBezTo>
                  <a:pt x="437644" y="460058"/>
                  <a:pt x="419517" y="460058"/>
                  <a:pt x="408355" y="448895"/>
                </a:cubicBezTo>
                <a:lnTo>
                  <a:pt x="295305" y="335756"/>
                </a:lnTo>
                <a:cubicBezTo>
                  <a:pt x="264587" y="358170"/>
                  <a:pt x="226725" y="371475"/>
                  <a:pt x="185738" y="371475"/>
                </a:cubicBezTo>
                <a:cubicBezTo>
                  <a:pt x="83135" y="371475"/>
                  <a:pt x="0" y="288340"/>
                  <a:pt x="0" y="185738"/>
                </a:cubicBezTo>
                <a:cubicBezTo>
                  <a:pt x="0" y="83135"/>
                  <a:pt x="83135" y="0"/>
                  <a:pt x="185738" y="0"/>
                </a:cubicBezTo>
                <a:cubicBezTo>
                  <a:pt x="288340" y="0"/>
                  <a:pt x="371475" y="83135"/>
                  <a:pt x="371475" y="185738"/>
                </a:cubicBezTo>
                <a:close/>
                <a:moveTo>
                  <a:pt x="185738" y="314325"/>
                </a:moveTo>
                <a:cubicBezTo>
                  <a:pt x="256707" y="314325"/>
                  <a:pt x="314325" y="256707"/>
                  <a:pt x="314325" y="185738"/>
                </a:cubicBezTo>
                <a:cubicBezTo>
                  <a:pt x="314325" y="114768"/>
                  <a:pt x="256707" y="57150"/>
                  <a:pt x="185738" y="57150"/>
                </a:cubicBezTo>
                <a:cubicBezTo>
                  <a:pt x="114768" y="57150"/>
                  <a:pt x="57150" y="114768"/>
                  <a:pt x="57150" y="185737"/>
                </a:cubicBezTo>
                <a:cubicBezTo>
                  <a:pt x="57150" y="256707"/>
                  <a:pt x="114768" y="314325"/>
                  <a:pt x="185737" y="314325"/>
                </a:cubicBezTo>
                <a:close/>
              </a:path>
            </a:pathLst>
          </a:custGeom>
          <a:solidFill>
            <a:srgbClr val="4A6FA5"/>
          </a:solidFill>
          <a:ln/>
        </p:spPr>
      </p:sp>
      <p:sp>
        <p:nvSpPr>
          <p:cNvPr id="26" name="Text 23"/>
          <p:cNvSpPr/>
          <p:nvPr/>
        </p:nvSpPr>
        <p:spPr>
          <a:xfrm>
            <a:off x="1016000" y="4724400"/>
            <a:ext cx="419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Search Notes</a:t>
            </a:r>
            <a:endParaRPr lang="en-US" sz="1600" dirty="0"/>
          </a:p>
        </p:txBody>
      </p:sp>
      <p:sp>
        <p:nvSpPr>
          <p:cNvPr id="27" name="Text 24"/>
          <p:cNvSpPr/>
          <p:nvPr/>
        </p:nvSpPr>
        <p:spPr>
          <a:xfrm>
            <a:off x="1016000" y="5080000"/>
            <a:ext cx="4191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Quickly find notes using keyword search functionality across all saved content</a:t>
            </a:r>
            <a:endParaRPr lang="en-US" sz="1400" dirty="0"/>
          </a:p>
        </p:txBody>
      </p:sp>
      <p:sp>
        <p:nvSpPr>
          <p:cNvPr id="28" name="Shape 25"/>
          <p:cNvSpPr/>
          <p:nvPr/>
        </p:nvSpPr>
        <p:spPr>
          <a:xfrm>
            <a:off x="5715000" y="3937000"/>
            <a:ext cx="4699000" cy="2032000"/>
          </a:xfrm>
          <a:prstGeom prst="roundRect">
            <a:avLst>
              <a:gd name="adj" fmla="val 8000"/>
            </a:avLst>
          </a:prstGeom>
          <a:solidFill>
            <a:srgbClr val="F0F4F8"/>
          </a:solidFill>
          <a:ln/>
        </p:spPr>
      </p:sp>
      <p:sp>
        <p:nvSpPr>
          <p:cNvPr id="29" name="Shape 26"/>
          <p:cNvSpPr/>
          <p:nvPr/>
        </p:nvSpPr>
        <p:spPr>
          <a:xfrm>
            <a:off x="5969000" y="4165600"/>
            <a:ext cx="457200" cy="457200"/>
          </a:xfrm>
          <a:custGeom>
            <a:avLst/>
            <a:gdLst/>
            <a:ahLst/>
            <a:cxnLst/>
            <a:rect l="l" t="t" r="r" b="b"/>
            <a:pathLst>
              <a:path w="457200" h="457200">
                <a:moveTo>
                  <a:pt x="19050" y="57150"/>
                </a:moveTo>
                <a:cubicBezTo>
                  <a:pt x="19050" y="25628"/>
                  <a:pt x="53221" y="0"/>
                  <a:pt x="95250" y="0"/>
                </a:cubicBezTo>
                <a:lnTo>
                  <a:pt x="361950" y="0"/>
                </a:lnTo>
                <a:cubicBezTo>
                  <a:pt x="403979" y="0"/>
                  <a:pt x="438150" y="25628"/>
                  <a:pt x="438150" y="57150"/>
                </a:cubicBezTo>
                <a:lnTo>
                  <a:pt x="438150" y="400050"/>
                </a:lnTo>
                <a:cubicBezTo>
                  <a:pt x="438150" y="431572"/>
                  <a:pt x="403979" y="457200"/>
                  <a:pt x="361950" y="457200"/>
                </a:cubicBezTo>
                <a:lnTo>
                  <a:pt x="95250" y="457200"/>
                </a:lnTo>
                <a:cubicBezTo>
                  <a:pt x="53221" y="457200"/>
                  <a:pt x="19050" y="431572"/>
                  <a:pt x="19050" y="400050"/>
                </a:cubicBezTo>
                <a:lnTo>
                  <a:pt x="19050" y="57150"/>
                </a:lnTo>
                <a:close/>
                <a:moveTo>
                  <a:pt x="95250" y="57150"/>
                </a:moveTo>
                <a:lnTo>
                  <a:pt x="95250" y="328613"/>
                </a:lnTo>
                <a:lnTo>
                  <a:pt x="361950" y="328613"/>
                </a:lnTo>
                <a:lnTo>
                  <a:pt x="361950" y="57150"/>
                </a:lnTo>
                <a:lnTo>
                  <a:pt x="95250" y="57150"/>
                </a:lnTo>
                <a:close/>
                <a:moveTo>
                  <a:pt x="228600" y="421481"/>
                </a:moveTo>
                <a:cubicBezTo>
                  <a:pt x="249674" y="421481"/>
                  <a:pt x="266700" y="408712"/>
                  <a:pt x="266700" y="392906"/>
                </a:cubicBezTo>
                <a:cubicBezTo>
                  <a:pt x="266700" y="377101"/>
                  <a:pt x="249674" y="364331"/>
                  <a:pt x="228600" y="364331"/>
                </a:cubicBezTo>
                <a:cubicBezTo>
                  <a:pt x="207526" y="364331"/>
                  <a:pt x="190500" y="377101"/>
                  <a:pt x="190500" y="392906"/>
                </a:cubicBezTo>
                <a:cubicBezTo>
                  <a:pt x="190500" y="408712"/>
                  <a:pt x="207526" y="421481"/>
                  <a:pt x="228600" y="421481"/>
                </a:cubicBezTo>
                <a:close/>
              </a:path>
            </a:pathLst>
          </a:custGeom>
          <a:solidFill>
            <a:srgbClr val="4A6FA5"/>
          </a:solidFill>
          <a:ln/>
        </p:spPr>
      </p:sp>
      <p:sp>
        <p:nvSpPr>
          <p:cNvPr id="30" name="Text 27"/>
          <p:cNvSpPr/>
          <p:nvPr/>
        </p:nvSpPr>
        <p:spPr>
          <a:xfrm>
            <a:off x="5969000" y="4724400"/>
            <a:ext cx="419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Responsive UI</a:t>
            </a:r>
            <a:endParaRPr lang="en-US" sz="1600" dirty="0"/>
          </a:p>
        </p:txBody>
      </p:sp>
      <p:sp>
        <p:nvSpPr>
          <p:cNvPr id="31" name="Text 28"/>
          <p:cNvSpPr/>
          <p:nvPr/>
        </p:nvSpPr>
        <p:spPr>
          <a:xfrm>
            <a:off x="5969000" y="5080000"/>
            <a:ext cx="4191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Clean HTML/CSS/JS frontend that adapts to desktops, tablets, and mobile devices</a:t>
            </a:r>
            <a:endParaRPr lang="en-US" sz="1400" dirty="0"/>
          </a:p>
        </p:txBody>
      </p:sp>
      <p:sp>
        <p:nvSpPr>
          <p:cNvPr id="32" name="Shape 29"/>
          <p:cNvSpPr/>
          <p:nvPr/>
        </p:nvSpPr>
        <p:spPr>
          <a:xfrm>
            <a:off x="10668000" y="3937000"/>
            <a:ext cx="4826000" cy="2032000"/>
          </a:xfrm>
          <a:prstGeom prst="roundRect">
            <a:avLst>
              <a:gd name="adj" fmla="val 8000"/>
            </a:avLst>
          </a:prstGeom>
          <a:solidFill>
            <a:srgbClr val="F0F4F8"/>
          </a:solidFill>
          <a:ln/>
        </p:spPr>
      </p:sp>
      <p:sp>
        <p:nvSpPr>
          <p:cNvPr id="33" name="Shape 30"/>
          <p:cNvSpPr/>
          <p:nvPr/>
        </p:nvSpPr>
        <p:spPr>
          <a:xfrm>
            <a:off x="10922000" y="4165600"/>
            <a:ext cx="457200" cy="457200"/>
          </a:xfrm>
          <a:custGeom>
            <a:avLst/>
            <a:gdLst/>
            <a:ahLst/>
            <a:cxnLst/>
            <a:rect l="l" t="t" r="r" b="b"/>
            <a:pathLst>
              <a:path w="457200" h="457200">
                <a:moveTo>
                  <a:pt x="65314" y="28575"/>
                </a:moveTo>
                <a:cubicBezTo>
                  <a:pt x="29289" y="28575"/>
                  <a:pt x="0" y="54203"/>
                  <a:pt x="0" y="85725"/>
                </a:cubicBezTo>
                <a:lnTo>
                  <a:pt x="0" y="142875"/>
                </a:lnTo>
                <a:cubicBezTo>
                  <a:pt x="0" y="174397"/>
                  <a:pt x="29289" y="200025"/>
                  <a:pt x="65314" y="200025"/>
                </a:cubicBezTo>
                <a:lnTo>
                  <a:pt x="391886" y="200025"/>
                </a:lnTo>
                <a:cubicBezTo>
                  <a:pt x="427911" y="200025"/>
                  <a:pt x="457200" y="174397"/>
                  <a:pt x="457200" y="142875"/>
                </a:cubicBezTo>
                <a:lnTo>
                  <a:pt x="457200" y="85725"/>
                </a:lnTo>
                <a:cubicBezTo>
                  <a:pt x="457200" y="54203"/>
                  <a:pt x="427911" y="28575"/>
                  <a:pt x="391886" y="28575"/>
                </a:cubicBezTo>
                <a:lnTo>
                  <a:pt x="65314" y="28575"/>
                </a:lnTo>
                <a:close/>
                <a:moveTo>
                  <a:pt x="285750" y="92869"/>
                </a:moveTo>
                <a:cubicBezTo>
                  <a:pt x="299268" y="92869"/>
                  <a:pt x="310243" y="102472"/>
                  <a:pt x="310243" y="114300"/>
                </a:cubicBezTo>
                <a:cubicBezTo>
                  <a:pt x="310243" y="126128"/>
                  <a:pt x="299268" y="135731"/>
                  <a:pt x="285750" y="135731"/>
                </a:cubicBezTo>
                <a:cubicBezTo>
                  <a:pt x="272232" y="135731"/>
                  <a:pt x="261257" y="126128"/>
                  <a:pt x="261257" y="114300"/>
                </a:cubicBezTo>
                <a:cubicBezTo>
                  <a:pt x="261257" y="102472"/>
                  <a:pt x="272232" y="92869"/>
                  <a:pt x="285750" y="92869"/>
                </a:cubicBezTo>
                <a:close/>
                <a:moveTo>
                  <a:pt x="342900" y="114300"/>
                </a:moveTo>
                <a:cubicBezTo>
                  <a:pt x="342900" y="102472"/>
                  <a:pt x="353875" y="92869"/>
                  <a:pt x="367393" y="92869"/>
                </a:cubicBezTo>
                <a:cubicBezTo>
                  <a:pt x="380911" y="92869"/>
                  <a:pt x="391886" y="102472"/>
                  <a:pt x="391886" y="114300"/>
                </a:cubicBezTo>
                <a:cubicBezTo>
                  <a:pt x="391886" y="126128"/>
                  <a:pt x="380911" y="135731"/>
                  <a:pt x="367393" y="135731"/>
                </a:cubicBezTo>
                <a:cubicBezTo>
                  <a:pt x="353875" y="135731"/>
                  <a:pt x="342900" y="126128"/>
                  <a:pt x="342900" y="114300"/>
                </a:cubicBezTo>
                <a:close/>
                <a:moveTo>
                  <a:pt x="65314" y="257175"/>
                </a:moveTo>
                <a:cubicBezTo>
                  <a:pt x="29289" y="257175"/>
                  <a:pt x="0" y="282803"/>
                  <a:pt x="0" y="314325"/>
                </a:cubicBezTo>
                <a:lnTo>
                  <a:pt x="0" y="371475"/>
                </a:lnTo>
                <a:cubicBezTo>
                  <a:pt x="0" y="402997"/>
                  <a:pt x="29289" y="428625"/>
                  <a:pt x="65314" y="428625"/>
                </a:cubicBezTo>
                <a:lnTo>
                  <a:pt x="391886" y="428625"/>
                </a:lnTo>
                <a:cubicBezTo>
                  <a:pt x="427911" y="428625"/>
                  <a:pt x="457200" y="402997"/>
                  <a:pt x="457200" y="371475"/>
                </a:cubicBezTo>
                <a:lnTo>
                  <a:pt x="457200" y="314325"/>
                </a:lnTo>
                <a:cubicBezTo>
                  <a:pt x="457200" y="282803"/>
                  <a:pt x="427911" y="257175"/>
                  <a:pt x="391886" y="257175"/>
                </a:cubicBezTo>
                <a:lnTo>
                  <a:pt x="65314" y="257175"/>
                </a:lnTo>
                <a:close/>
                <a:moveTo>
                  <a:pt x="285750" y="321469"/>
                </a:moveTo>
                <a:cubicBezTo>
                  <a:pt x="299268" y="321469"/>
                  <a:pt x="310243" y="331072"/>
                  <a:pt x="310243" y="342900"/>
                </a:cubicBezTo>
                <a:cubicBezTo>
                  <a:pt x="310243" y="354728"/>
                  <a:pt x="299268" y="364331"/>
                  <a:pt x="285750" y="364331"/>
                </a:cubicBezTo>
                <a:cubicBezTo>
                  <a:pt x="272232" y="364331"/>
                  <a:pt x="261257" y="354728"/>
                  <a:pt x="261257" y="342900"/>
                </a:cubicBezTo>
                <a:cubicBezTo>
                  <a:pt x="261257" y="331072"/>
                  <a:pt x="272232" y="321469"/>
                  <a:pt x="285750" y="321469"/>
                </a:cubicBezTo>
                <a:close/>
                <a:moveTo>
                  <a:pt x="342900" y="342900"/>
                </a:moveTo>
                <a:cubicBezTo>
                  <a:pt x="342900" y="331072"/>
                  <a:pt x="353875" y="321469"/>
                  <a:pt x="367393" y="321469"/>
                </a:cubicBezTo>
                <a:cubicBezTo>
                  <a:pt x="380911" y="321469"/>
                  <a:pt x="391886" y="331072"/>
                  <a:pt x="391886" y="342900"/>
                </a:cubicBezTo>
                <a:cubicBezTo>
                  <a:pt x="391886" y="354728"/>
                  <a:pt x="380911" y="364331"/>
                  <a:pt x="367393" y="364331"/>
                </a:cubicBezTo>
                <a:cubicBezTo>
                  <a:pt x="353875" y="364331"/>
                  <a:pt x="342900" y="354728"/>
                  <a:pt x="342900" y="342900"/>
                </a:cubicBezTo>
                <a:close/>
              </a:path>
            </a:pathLst>
          </a:custGeom>
          <a:solidFill>
            <a:srgbClr val="4A6FA5"/>
          </a:solidFill>
          <a:ln/>
        </p:spPr>
      </p:sp>
      <p:sp>
        <p:nvSpPr>
          <p:cNvPr id="34" name="Text 31"/>
          <p:cNvSpPr/>
          <p:nvPr/>
        </p:nvSpPr>
        <p:spPr>
          <a:xfrm>
            <a:off x="10922000" y="4724400"/>
            <a:ext cx="4318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Multi-Server Architecture</a:t>
            </a:r>
            <a:endParaRPr lang="en-US" sz="1600" dirty="0"/>
          </a:p>
        </p:txBody>
      </p:sp>
      <p:sp>
        <p:nvSpPr>
          <p:cNvPr id="35" name="Text 32"/>
          <p:cNvSpPr/>
          <p:nvPr/>
        </p:nvSpPr>
        <p:spPr>
          <a:xfrm>
            <a:off x="10922000" y="5080000"/>
            <a:ext cx="4318000" cy="698500"/>
          </a:xfrm>
          <a:prstGeom prst="rect">
            <a:avLst/>
          </a:prstGeom>
          <a:noFill/>
          <a:ln/>
        </p:spPr>
        <p:txBody>
          <a:bodyPr wrap="square" lIns="0" tIns="0" rIns="0" bIns="0" rtlCol="0" anchor="t"/>
          <a:lstStyle/>
          <a:p>
            <a:pPr algn="l">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Two EC2 instances behind a load balancer for redundancy and high availability</a:t>
            </a:r>
            <a:endParaRPr lang="en-US" sz="1400" dirty="0"/>
          </a:p>
        </p:txBody>
      </p:sp>
      <p:sp>
        <p:nvSpPr>
          <p:cNvPr id="36" name="Shape 33"/>
          <p:cNvSpPr/>
          <p:nvPr/>
        </p:nvSpPr>
        <p:spPr>
          <a:xfrm>
            <a:off x="762000" y="6350000"/>
            <a:ext cx="14732000" cy="1905000"/>
          </a:xfrm>
          <a:prstGeom prst="roundRect">
            <a:avLst>
              <a:gd name="adj" fmla="val 5000"/>
            </a:avLst>
          </a:prstGeom>
          <a:solidFill>
            <a:srgbClr val="FFF3E0"/>
          </a:solidFill>
          <a:ln/>
        </p:spPr>
      </p:sp>
      <p:sp>
        <p:nvSpPr>
          <p:cNvPr id="37" name="Shape 34"/>
          <p:cNvSpPr/>
          <p:nvPr/>
        </p:nvSpPr>
        <p:spPr>
          <a:xfrm>
            <a:off x="1143000" y="6858000"/>
            <a:ext cx="508000" cy="508000"/>
          </a:xfrm>
          <a:custGeom>
            <a:avLst/>
            <a:gdLst/>
            <a:ahLst/>
            <a:cxnLst/>
            <a:rect l="l" t="t" r="r" b="b"/>
            <a:pathLst>
              <a:path w="508000" h="508000">
                <a:moveTo>
                  <a:pt x="272962" y="-18752"/>
                </a:moveTo>
                <a:cubicBezTo>
                  <a:pt x="269346" y="-26690"/>
                  <a:pt x="262026" y="-31750"/>
                  <a:pt x="254088" y="-31750"/>
                </a:cubicBezTo>
                <a:cubicBezTo>
                  <a:pt x="246151" y="-31750"/>
                  <a:pt x="238831" y="-26690"/>
                  <a:pt x="235215" y="-18752"/>
                </a:cubicBezTo>
                <a:lnTo>
                  <a:pt x="170303" y="124321"/>
                </a:lnTo>
                <a:lnTo>
                  <a:pt x="29281" y="149523"/>
                </a:lnTo>
                <a:cubicBezTo>
                  <a:pt x="21431" y="150912"/>
                  <a:pt x="14905" y="157162"/>
                  <a:pt x="12435" y="165695"/>
                </a:cubicBezTo>
                <a:cubicBezTo>
                  <a:pt x="9966" y="174228"/>
                  <a:pt x="11994" y="183555"/>
                  <a:pt x="17551" y="189905"/>
                </a:cubicBezTo>
                <a:lnTo>
                  <a:pt x="118445" y="303510"/>
                </a:lnTo>
                <a:lnTo>
                  <a:pt x="96220" y="462161"/>
                </a:lnTo>
                <a:cubicBezTo>
                  <a:pt x="94985" y="470991"/>
                  <a:pt x="98249" y="479921"/>
                  <a:pt x="104687" y="485180"/>
                </a:cubicBezTo>
                <a:cubicBezTo>
                  <a:pt x="111125" y="490438"/>
                  <a:pt x="119592" y="491232"/>
                  <a:pt x="126735" y="487164"/>
                </a:cubicBezTo>
                <a:lnTo>
                  <a:pt x="254088" y="414338"/>
                </a:lnTo>
                <a:lnTo>
                  <a:pt x="381353" y="487164"/>
                </a:lnTo>
                <a:cubicBezTo>
                  <a:pt x="388408" y="491232"/>
                  <a:pt x="396963" y="490438"/>
                  <a:pt x="403401" y="485180"/>
                </a:cubicBezTo>
                <a:cubicBezTo>
                  <a:pt x="409840" y="479921"/>
                  <a:pt x="413103" y="471091"/>
                  <a:pt x="411868" y="462161"/>
                </a:cubicBezTo>
                <a:lnTo>
                  <a:pt x="389555" y="303510"/>
                </a:lnTo>
                <a:lnTo>
                  <a:pt x="490449" y="189905"/>
                </a:lnTo>
                <a:cubicBezTo>
                  <a:pt x="496094" y="183555"/>
                  <a:pt x="498034" y="174228"/>
                  <a:pt x="495565" y="165695"/>
                </a:cubicBezTo>
                <a:cubicBezTo>
                  <a:pt x="493095" y="157163"/>
                  <a:pt x="486657" y="150912"/>
                  <a:pt x="478719" y="149523"/>
                </a:cubicBezTo>
                <a:lnTo>
                  <a:pt x="337785" y="124321"/>
                </a:lnTo>
                <a:lnTo>
                  <a:pt x="272962" y="-18752"/>
                </a:lnTo>
                <a:close/>
              </a:path>
            </a:pathLst>
          </a:custGeom>
          <a:solidFill>
            <a:srgbClr val="FF9900"/>
          </a:solidFill>
          <a:ln/>
        </p:spPr>
      </p:sp>
      <p:sp>
        <p:nvSpPr>
          <p:cNvPr id="38" name="Text 35"/>
          <p:cNvSpPr/>
          <p:nvPr/>
        </p:nvSpPr>
        <p:spPr>
          <a:xfrm>
            <a:off x="1905000" y="6604000"/>
            <a:ext cx="13208000" cy="1397000"/>
          </a:xfrm>
          <a:prstGeom prst="rect">
            <a:avLst/>
          </a:prstGeom>
          <a:noFill/>
          <a:ln/>
        </p:spPr>
        <p:txBody>
          <a:bodyPr wrap="square" lIns="0" tIns="0" rIns="0" bIns="0" rtlCol="0" anchor="ctr"/>
          <a:lstStyle/>
          <a:p>
            <a:pPr algn="l">
              <a:lnSpc>
                <a:spcPct val="160000"/>
              </a:lnSpc>
            </a:pPr>
            <a:r>
              <a:rPr lang="en-US" sz="1600" b="1" dirty="0">
                <a:solidFill>
                  <a:srgbClr val="232F3E"/>
                </a:solidFill>
                <a:latin typeface="Quattrocento Sans" pitchFamily="34" charset="0"/>
                <a:ea typeface="Quattrocento Sans" pitchFamily="34" charset="-122"/>
                <a:cs typeface="Quattrocento Sans" pitchFamily="34" charset="-120"/>
              </a:rPr>
              <a:t>Key Highlight:</a:t>
            </a:r>
            <a:pPr algn="l">
              <a:lnSpc>
                <a:spcPct val="160000"/>
              </a:lnSpc>
            </a:pPr>
            <a:r>
              <a:rPr lang="en-US" sz="1600" dirty="0">
                <a:solidFill>
                  <a:srgbClr val="232F3E"/>
                </a:solidFill>
                <a:latin typeface="Quattrocento Sans" pitchFamily="34" charset="0"/>
                <a:ea typeface="Quattrocento Sans" pitchFamily="34" charset="-122"/>
                <a:cs typeface="Quattrocento Sans" pitchFamily="34" charset="-120"/>
              </a:rPr>
              <a:t> The application is completely stateless — all data persists in the centralized RDS database. This means any EC2 instance can handle any request, and users always see consistent data regardless of which server responds.</a:t>
            </a:r>
            <a:endParaRPr lang="en-US" sz="1600" dirty="0"/>
          </a:p>
        </p:txBody>
      </p:sp>
      <p:sp>
        <p:nvSpPr>
          <p:cNvPr id="39" name="Text 36"/>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05</a:t>
            </a:r>
            <a:endParaRPr lang="en-US" sz="1400" dirty="0"/>
          </a:p>
        </p:txBody>
      </p:sp>
    </p:spTree>
  </p:cSld>
  <p:clrMapOvr>
    <a:masterClrMapping/>
  </p:clrMapOvr>
  <p:transition>
    <p:fade/>
    <p:spd val="med"/>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8801100" y="457200"/>
            <a:ext cx="27051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INTRODUCTION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PROBLEM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OBJECTIVES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FEATURES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ARCHITECTURE</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SYSTEM ARCHITECTURE</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6858000" y="1587500"/>
            <a:ext cx="2540000" cy="698500"/>
          </a:xfrm>
          <a:prstGeom prst="roundRect">
            <a:avLst>
              <a:gd name="adj" fmla="val 12000"/>
            </a:avLst>
          </a:prstGeom>
          <a:solidFill>
            <a:srgbClr val="4A6FA5"/>
          </a:solidFill>
          <a:ln/>
        </p:spPr>
      </p:sp>
      <p:sp>
        <p:nvSpPr>
          <p:cNvPr id="9" name="Shape 6"/>
          <p:cNvSpPr/>
          <p:nvPr/>
        </p:nvSpPr>
        <p:spPr>
          <a:xfrm>
            <a:off x="7048500" y="1739900"/>
            <a:ext cx="381000" cy="381000"/>
          </a:xfrm>
          <a:custGeom>
            <a:avLst/>
            <a:gdLst/>
            <a:ahLst/>
            <a:cxnLst/>
            <a:rect l="l" t="t" r="r" b="b"/>
            <a:pathLst>
              <a:path w="381000" h="381000">
                <a:moveTo>
                  <a:pt x="190500" y="11906"/>
                </a:moveTo>
                <a:cubicBezTo>
                  <a:pt x="224670" y="11906"/>
                  <a:pt x="252413" y="46584"/>
                  <a:pt x="252413" y="89297"/>
                </a:cubicBezTo>
                <a:cubicBezTo>
                  <a:pt x="252413" y="132010"/>
                  <a:pt x="224670" y="166688"/>
                  <a:pt x="190500" y="166688"/>
                </a:cubicBezTo>
                <a:cubicBezTo>
                  <a:pt x="156330" y="166688"/>
                  <a:pt x="128588" y="132010"/>
                  <a:pt x="128588" y="89297"/>
                </a:cubicBezTo>
                <a:cubicBezTo>
                  <a:pt x="128588" y="46584"/>
                  <a:pt x="156330" y="11906"/>
                  <a:pt x="190500" y="11906"/>
                </a:cubicBezTo>
                <a:close/>
                <a:moveTo>
                  <a:pt x="57150" y="65484"/>
                </a:moveTo>
                <a:cubicBezTo>
                  <a:pt x="80806" y="65484"/>
                  <a:pt x="100013" y="89492"/>
                  <a:pt x="100013" y="119063"/>
                </a:cubicBezTo>
                <a:cubicBezTo>
                  <a:pt x="100013" y="148633"/>
                  <a:pt x="80806" y="172641"/>
                  <a:pt x="57150" y="172641"/>
                </a:cubicBezTo>
                <a:cubicBezTo>
                  <a:pt x="33494" y="172641"/>
                  <a:pt x="14288" y="148633"/>
                  <a:pt x="14288" y="119063"/>
                </a:cubicBezTo>
                <a:cubicBezTo>
                  <a:pt x="14288" y="89492"/>
                  <a:pt x="33494" y="65484"/>
                  <a:pt x="57150" y="65484"/>
                </a:cubicBezTo>
                <a:close/>
                <a:moveTo>
                  <a:pt x="0" y="309563"/>
                </a:moveTo>
                <a:cubicBezTo>
                  <a:pt x="0" y="256952"/>
                  <a:pt x="34111" y="214313"/>
                  <a:pt x="76200" y="214313"/>
                </a:cubicBezTo>
                <a:cubicBezTo>
                  <a:pt x="83820" y="214313"/>
                  <a:pt x="91202" y="215726"/>
                  <a:pt x="98167" y="218331"/>
                </a:cubicBezTo>
                <a:cubicBezTo>
                  <a:pt x="78581" y="245715"/>
                  <a:pt x="66675" y="281880"/>
                  <a:pt x="66675" y="321469"/>
                </a:cubicBezTo>
                <a:lnTo>
                  <a:pt x="66675" y="333375"/>
                </a:lnTo>
                <a:cubicBezTo>
                  <a:pt x="66675" y="341858"/>
                  <a:pt x="68104" y="349895"/>
                  <a:pt x="70664" y="357188"/>
                </a:cubicBezTo>
                <a:lnTo>
                  <a:pt x="19050" y="357188"/>
                </a:lnTo>
                <a:cubicBezTo>
                  <a:pt x="8513" y="357188"/>
                  <a:pt x="0" y="346546"/>
                  <a:pt x="0" y="333375"/>
                </a:cubicBezTo>
                <a:lnTo>
                  <a:pt x="0" y="309563"/>
                </a:lnTo>
                <a:close/>
                <a:moveTo>
                  <a:pt x="310336" y="357188"/>
                </a:moveTo>
                <a:cubicBezTo>
                  <a:pt x="312896" y="349895"/>
                  <a:pt x="314325" y="341858"/>
                  <a:pt x="314325" y="333375"/>
                </a:cubicBezTo>
                <a:lnTo>
                  <a:pt x="314325" y="321469"/>
                </a:lnTo>
                <a:cubicBezTo>
                  <a:pt x="314325" y="281880"/>
                  <a:pt x="302419" y="245715"/>
                  <a:pt x="282833" y="218331"/>
                </a:cubicBezTo>
                <a:cubicBezTo>
                  <a:pt x="289798" y="215726"/>
                  <a:pt x="297180" y="214313"/>
                  <a:pt x="304800" y="214313"/>
                </a:cubicBezTo>
                <a:cubicBezTo>
                  <a:pt x="346889" y="214313"/>
                  <a:pt x="381000" y="256952"/>
                  <a:pt x="381000" y="309563"/>
                </a:cubicBezTo>
                <a:lnTo>
                  <a:pt x="381000" y="333375"/>
                </a:lnTo>
                <a:cubicBezTo>
                  <a:pt x="381000" y="346546"/>
                  <a:pt x="372487" y="357188"/>
                  <a:pt x="361950" y="357188"/>
                </a:cubicBezTo>
                <a:lnTo>
                  <a:pt x="310336" y="357188"/>
                </a:lnTo>
                <a:close/>
                <a:moveTo>
                  <a:pt x="280987" y="119063"/>
                </a:moveTo>
                <a:cubicBezTo>
                  <a:pt x="280987" y="89492"/>
                  <a:pt x="300194" y="65484"/>
                  <a:pt x="323850" y="65484"/>
                </a:cubicBezTo>
                <a:cubicBezTo>
                  <a:pt x="347506" y="65484"/>
                  <a:pt x="366712" y="89492"/>
                  <a:pt x="366712" y="119062"/>
                </a:cubicBezTo>
                <a:cubicBezTo>
                  <a:pt x="366712" y="148633"/>
                  <a:pt x="347506" y="172641"/>
                  <a:pt x="323850" y="172641"/>
                </a:cubicBezTo>
                <a:cubicBezTo>
                  <a:pt x="300194" y="172641"/>
                  <a:pt x="280987" y="148633"/>
                  <a:pt x="280987" y="119063"/>
                </a:cubicBezTo>
                <a:close/>
                <a:moveTo>
                  <a:pt x="95250" y="321469"/>
                </a:moveTo>
                <a:cubicBezTo>
                  <a:pt x="95250" y="255687"/>
                  <a:pt x="137874" y="202406"/>
                  <a:pt x="190500" y="202406"/>
                </a:cubicBezTo>
                <a:cubicBezTo>
                  <a:pt x="243126" y="202406"/>
                  <a:pt x="285750" y="255687"/>
                  <a:pt x="285750" y="321469"/>
                </a:cubicBezTo>
                <a:lnTo>
                  <a:pt x="285750" y="333375"/>
                </a:lnTo>
                <a:cubicBezTo>
                  <a:pt x="285750" y="346546"/>
                  <a:pt x="277237" y="357188"/>
                  <a:pt x="266700" y="357188"/>
                </a:cubicBezTo>
                <a:lnTo>
                  <a:pt x="114300" y="357188"/>
                </a:lnTo>
                <a:cubicBezTo>
                  <a:pt x="103763" y="357188"/>
                  <a:pt x="95250" y="346546"/>
                  <a:pt x="95250" y="333375"/>
                </a:cubicBezTo>
                <a:lnTo>
                  <a:pt x="95250" y="321469"/>
                </a:lnTo>
                <a:close/>
              </a:path>
            </a:pathLst>
          </a:custGeom>
          <a:solidFill>
            <a:srgbClr val="FFFFFF"/>
          </a:solidFill>
          <a:ln/>
        </p:spPr>
      </p:sp>
      <p:sp>
        <p:nvSpPr>
          <p:cNvPr id="10" name="Text 7"/>
          <p:cNvSpPr/>
          <p:nvPr/>
        </p:nvSpPr>
        <p:spPr>
          <a:xfrm>
            <a:off x="7493000" y="1587500"/>
            <a:ext cx="1778000" cy="698500"/>
          </a:xfrm>
          <a:prstGeom prst="rect">
            <a:avLst/>
          </a:prstGeom>
          <a:noFill/>
          <a:ln/>
        </p:spPr>
        <p:txBody>
          <a:bodyPr wrap="none" lIns="0" tIns="0" rIns="0" bIns="0" rtlCol="0" anchor="ctr"/>
          <a:lstStyle/>
          <a:p>
            <a:pPr algn="l">
              <a:lnSpc>
                <a:spcPct val="120000"/>
              </a:lnSpc>
            </a:pPr>
            <a:r>
              <a:rPr lang="en-US" sz="1400" b="1" dirty="0">
                <a:solidFill>
                  <a:srgbClr val="FFFFFF"/>
                </a:solidFill>
                <a:latin typeface="Liter" pitchFamily="34" charset="0"/>
                <a:ea typeface="Liter" pitchFamily="34" charset="-122"/>
                <a:cs typeface="Liter" pitchFamily="34" charset="-120"/>
              </a:rPr>
              <a:t>Users</a:t>
            </a:r>
            <a:endParaRPr lang="en-US" sz="1400" dirty="0"/>
          </a:p>
        </p:txBody>
      </p:sp>
      <p:sp>
        <p:nvSpPr>
          <p:cNvPr id="11" name="Shape 8"/>
          <p:cNvSpPr/>
          <p:nvPr/>
        </p:nvSpPr>
        <p:spPr>
          <a:xfrm>
            <a:off x="8001000" y="2286000"/>
            <a:ext cx="0" cy="381000"/>
          </a:xfrm>
          <a:prstGeom prst="straightConnector1">
            <a:avLst/>
          </a:prstGeom>
          <a:noFill/>
          <a:ln w="25400">
            <a:solidFill>
              <a:srgbClr val="FF9900"/>
            </a:solidFill>
            <a:prstDash val="solid"/>
            <a:headEnd type="none"/>
            <a:tailEnd type="arrow"/>
          </a:ln>
        </p:spPr>
      </p:sp>
      <p:sp>
        <p:nvSpPr>
          <p:cNvPr id="12" name="Shape 9"/>
          <p:cNvSpPr/>
          <p:nvPr/>
        </p:nvSpPr>
        <p:spPr>
          <a:xfrm>
            <a:off x="5588000" y="2667000"/>
            <a:ext cx="5080000" cy="762000"/>
          </a:xfrm>
          <a:prstGeom prst="roundRect">
            <a:avLst>
              <a:gd name="adj" fmla="val 10000"/>
            </a:avLst>
          </a:prstGeom>
          <a:solidFill>
            <a:srgbClr val="FF9900"/>
          </a:solidFill>
          <a:ln/>
        </p:spPr>
      </p:sp>
      <p:sp>
        <p:nvSpPr>
          <p:cNvPr id="13" name="Shape 10"/>
          <p:cNvSpPr/>
          <p:nvPr/>
        </p:nvSpPr>
        <p:spPr>
          <a:xfrm>
            <a:off x="5842000" y="2819400"/>
            <a:ext cx="444500" cy="444500"/>
          </a:xfrm>
          <a:custGeom>
            <a:avLst/>
            <a:gdLst/>
            <a:ahLst/>
            <a:cxnLst/>
            <a:rect l="l" t="t" r="r" b="b"/>
            <a:pathLst>
              <a:path w="444500" h="444500">
                <a:moveTo>
                  <a:pt x="191382" y="76398"/>
                </a:moveTo>
                <a:lnTo>
                  <a:pt x="253118" y="76398"/>
                </a:lnTo>
                <a:lnTo>
                  <a:pt x="253118" y="118070"/>
                </a:lnTo>
                <a:lnTo>
                  <a:pt x="191382" y="118070"/>
                </a:lnTo>
                <a:lnTo>
                  <a:pt x="191382" y="76398"/>
                </a:lnTo>
                <a:close/>
                <a:moveTo>
                  <a:pt x="185208" y="27781"/>
                </a:moveTo>
                <a:cubicBezTo>
                  <a:pt x="164758" y="27781"/>
                  <a:pt x="148167" y="46447"/>
                  <a:pt x="148167" y="69453"/>
                </a:cubicBezTo>
                <a:lnTo>
                  <a:pt x="148167" y="125016"/>
                </a:lnTo>
                <a:cubicBezTo>
                  <a:pt x="148167" y="148022"/>
                  <a:pt x="164758" y="166688"/>
                  <a:pt x="185208" y="166688"/>
                </a:cubicBezTo>
                <a:lnTo>
                  <a:pt x="197556" y="166688"/>
                </a:lnTo>
                <a:lnTo>
                  <a:pt x="197556" y="194469"/>
                </a:lnTo>
                <a:lnTo>
                  <a:pt x="24694" y="194469"/>
                </a:lnTo>
                <a:cubicBezTo>
                  <a:pt x="11035" y="194469"/>
                  <a:pt x="0" y="206883"/>
                  <a:pt x="0" y="222250"/>
                </a:cubicBezTo>
                <a:cubicBezTo>
                  <a:pt x="0" y="237617"/>
                  <a:pt x="11035" y="250031"/>
                  <a:pt x="24694" y="250031"/>
                </a:cubicBezTo>
                <a:lnTo>
                  <a:pt x="98778" y="250031"/>
                </a:lnTo>
                <a:lnTo>
                  <a:pt x="98778" y="277813"/>
                </a:lnTo>
                <a:lnTo>
                  <a:pt x="86431" y="277813"/>
                </a:lnTo>
                <a:cubicBezTo>
                  <a:pt x="65980" y="277813"/>
                  <a:pt x="49389" y="296478"/>
                  <a:pt x="49389" y="319484"/>
                </a:cubicBezTo>
                <a:lnTo>
                  <a:pt x="49389" y="375047"/>
                </a:lnTo>
                <a:cubicBezTo>
                  <a:pt x="49389" y="398053"/>
                  <a:pt x="65980" y="416719"/>
                  <a:pt x="86431" y="416719"/>
                </a:cubicBezTo>
                <a:lnTo>
                  <a:pt x="160514" y="416719"/>
                </a:lnTo>
                <a:cubicBezTo>
                  <a:pt x="180964" y="416719"/>
                  <a:pt x="197556" y="398053"/>
                  <a:pt x="197556" y="375047"/>
                </a:cubicBezTo>
                <a:lnTo>
                  <a:pt x="197556" y="319484"/>
                </a:lnTo>
                <a:cubicBezTo>
                  <a:pt x="197556" y="296478"/>
                  <a:pt x="180964" y="277813"/>
                  <a:pt x="160514" y="277813"/>
                </a:cubicBezTo>
                <a:lnTo>
                  <a:pt x="148167" y="277813"/>
                </a:lnTo>
                <a:lnTo>
                  <a:pt x="148167" y="250031"/>
                </a:lnTo>
                <a:lnTo>
                  <a:pt x="296333" y="250031"/>
                </a:lnTo>
                <a:lnTo>
                  <a:pt x="296333" y="277813"/>
                </a:lnTo>
                <a:lnTo>
                  <a:pt x="283986" y="277813"/>
                </a:lnTo>
                <a:cubicBezTo>
                  <a:pt x="263536" y="277813"/>
                  <a:pt x="246944" y="296478"/>
                  <a:pt x="246944" y="319484"/>
                </a:cubicBezTo>
                <a:lnTo>
                  <a:pt x="246944" y="375047"/>
                </a:lnTo>
                <a:cubicBezTo>
                  <a:pt x="246944" y="398053"/>
                  <a:pt x="263536" y="416719"/>
                  <a:pt x="283986" y="416719"/>
                </a:cubicBezTo>
                <a:lnTo>
                  <a:pt x="358069" y="416719"/>
                </a:lnTo>
                <a:cubicBezTo>
                  <a:pt x="378520" y="416719"/>
                  <a:pt x="395111" y="398053"/>
                  <a:pt x="395111" y="375047"/>
                </a:cubicBezTo>
                <a:lnTo>
                  <a:pt x="395111" y="319484"/>
                </a:lnTo>
                <a:cubicBezTo>
                  <a:pt x="395111" y="296478"/>
                  <a:pt x="378520" y="277813"/>
                  <a:pt x="358069" y="277813"/>
                </a:cubicBezTo>
                <a:lnTo>
                  <a:pt x="345722" y="277813"/>
                </a:lnTo>
                <a:lnTo>
                  <a:pt x="345722" y="250031"/>
                </a:lnTo>
                <a:lnTo>
                  <a:pt x="419806" y="250031"/>
                </a:lnTo>
                <a:cubicBezTo>
                  <a:pt x="433465" y="250031"/>
                  <a:pt x="444500" y="237617"/>
                  <a:pt x="444500" y="222250"/>
                </a:cubicBezTo>
                <a:cubicBezTo>
                  <a:pt x="444500" y="206883"/>
                  <a:pt x="433465" y="194469"/>
                  <a:pt x="419806" y="194469"/>
                </a:cubicBezTo>
                <a:lnTo>
                  <a:pt x="246944" y="194469"/>
                </a:lnTo>
                <a:lnTo>
                  <a:pt x="246944" y="166688"/>
                </a:lnTo>
                <a:lnTo>
                  <a:pt x="259292" y="166688"/>
                </a:lnTo>
                <a:cubicBezTo>
                  <a:pt x="279742" y="166688"/>
                  <a:pt x="296333" y="148022"/>
                  <a:pt x="296333" y="125016"/>
                </a:cubicBezTo>
                <a:lnTo>
                  <a:pt x="296333" y="69453"/>
                </a:lnTo>
                <a:cubicBezTo>
                  <a:pt x="296333" y="46447"/>
                  <a:pt x="279742" y="27781"/>
                  <a:pt x="259292" y="27781"/>
                </a:cubicBezTo>
                <a:lnTo>
                  <a:pt x="185208" y="27781"/>
                </a:lnTo>
                <a:close/>
                <a:moveTo>
                  <a:pt x="345722" y="326430"/>
                </a:moveTo>
                <a:lnTo>
                  <a:pt x="351896" y="326430"/>
                </a:lnTo>
                <a:lnTo>
                  <a:pt x="351896" y="368102"/>
                </a:lnTo>
                <a:lnTo>
                  <a:pt x="290160" y="368102"/>
                </a:lnTo>
                <a:lnTo>
                  <a:pt x="290160" y="326430"/>
                </a:lnTo>
                <a:lnTo>
                  <a:pt x="345722" y="326430"/>
                </a:lnTo>
                <a:close/>
                <a:moveTo>
                  <a:pt x="148167" y="326430"/>
                </a:moveTo>
                <a:lnTo>
                  <a:pt x="154340" y="326430"/>
                </a:lnTo>
                <a:lnTo>
                  <a:pt x="154340" y="368102"/>
                </a:lnTo>
                <a:lnTo>
                  <a:pt x="92604" y="368102"/>
                </a:lnTo>
                <a:lnTo>
                  <a:pt x="92604" y="326430"/>
                </a:lnTo>
                <a:lnTo>
                  <a:pt x="148167" y="326430"/>
                </a:lnTo>
                <a:close/>
              </a:path>
            </a:pathLst>
          </a:custGeom>
          <a:solidFill>
            <a:srgbClr val="FFFFFF"/>
          </a:solidFill>
          <a:ln/>
        </p:spPr>
      </p:sp>
      <p:sp>
        <p:nvSpPr>
          <p:cNvPr id="14" name="Text 11"/>
          <p:cNvSpPr/>
          <p:nvPr/>
        </p:nvSpPr>
        <p:spPr>
          <a:xfrm>
            <a:off x="6413500" y="2667000"/>
            <a:ext cx="4064000" cy="762000"/>
          </a:xfrm>
          <a:prstGeom prst="rect">
            <a:avLst/>
          </a:prstGeom>
          <a:noFill/>
          <a:ln/>
        </p:spPr>
        <p:txBody>
          <a:bodyPr wrap="none" lIns="0" tIns="0" rIns="0" bIns="0" rtlCol="0" anchor="ctr"/>
          <a:lstStyle/>
          <a:p>
            <a:pPr algn="l">
              <a:lnSpc>
                <a:spcPct val="120000"/>
              </a:lnSpc>
            </a:pPr>
            <a:r>
              <a:rPr lang="en-US" sz="1400" b="1" dirty="0">
                <a:solidFill>
                  <a:srgbClr val="FFFFFF"/>
                </a:solidFill>
                <a:latin typeface="Liter" pitchFamily="34" charset="0"/>
                <a:ea typeface="Liter" pitchFamily="34" charset="-122"/>
                <a:cs typeface="Liter" pitchFamily="34" charset="-120"/>
              </a:rPr>
              <a:t>Application Load Balancer</a:t>
            </a:r>
            <a:endParaRPr lang="en-US" sz="1400" dirty="0"/>
          </a:p>
        </p:txBody>
      </p:sp>
      <p:sp>
        <p:nvSpPr>
          <p:cNvPr id="15" name="Shape 12"/>
          <p:cNvSpPr/>
          <p:nvPr/>
        </p:nvSpPr>
        <p:spPr>
          <a:xfrm>
            <a:off x="8001000" y="3429000"/>
            <a:ext cx="0" cy="381000"/>
          </a:xfrm>
          <a:prstGeom prst="straightConnector1">
            <a:avLst/>
          </a:prstGeom>
          <a:noFill/>
          <a:ln w="25400">
            <a:solidFill>
              <a:srgbClr val="FF9900"/>
            </a:solidFill>
            <a:prstDash val="solid"/>
            <a:headEnd type="none"/>
            <a:tailEnd type="arrow"/>
          </a:ln>
        </p:spPr>
      </p:sp>
      <p:sp>
        <p:nvSpPr>
          <p:cNvPr id="16" name="Shape 13"/>
          <p:cNvSpPr/>
          <p:nvPr/>
        </p:nvSpPr>
        <p:spPr>
          <a:xfrm>
            <a:off x="3683000" y="3810000"/>
            <a:ext cx="3556000" cy="952500"/>
          </a:xfrm>
          <a:prstGeom prst="roundRect">
            <a:avLst>
              <a:gd name="adj" fmla="val 10000"/>
            </a:avLst>
          </a:prstGeom>
          <a:solidFill>
            <a:srgbClr val="232F3E"/>
          </a:solidFill>
          <a:ln/>
        </p:spPr>
      </p:sp>
      <p:sp>
        <p:nvSpPr>
          <p:cNvPr id="17" name="Shape 14"/>
          <p:cNvSpPr/>
          <p:nvPr/>
        </p:nvSpPr>
        <p:spPr>
          <a:xfrm>
            <a:off x="3873500" y="3962400"/>
            <a:ext cx="381000" cy="381000"/>
          </a:xfrm>
          <a:custGeom>
            <a:avLst/>
            <a:gdLst/>
            <a:ahLst/>
            <a:cxnLst/>
            <a:rect l="l" t="t" r="r" b="b"/>
            <a:pathLst>
              <a:path w="381000" h="381000">
                <a:moveTo>
                  <a:pt x="54429" y="23812"/>
                </a:moveTo>
                <a:cubicBezTo>
                  <a:pt x="24408" y="23812"/>
                  <a:pt x="0" y="45169"/>
                  <a:pt x="0" y="71438"/>
                </a:cubicBezTo>
                <a:lnTo>
                  <a:pt x="0" y="119063"/>
                </a:lnTo>
                <a:cubicBezTo>
                  <a:pt x="0" y="145331"/>
                  <a:pt x="24408" y="166688"/>
                  <a:pt x="54429" y="166688"/>
                </a:cubicBezTo>
                <a:lnTo>
                  <a:pt x="326571" y="166688"/>
                </a:lnTo>
                <a:cubicBezTo>
                  <a:pt x="356592" y="166688"/>
                  <a:pt x="381000" y="145331"/>
                  <a:pt x="381000" y="119063"/>
                </a:cubicBezTo>
                <a:lnTo>
                  <a:pt x="381000" y="71438"/>
                </a:lnTo>
                <a:cubicBezTo>
                  <a:pt x="381000" y="45169"/>
                  <a:pt x="356592" y="23812"/>
                  <a:pt x="326571" y="23812"/>
                </a:cubicBezTo>
                <a:lnTo>
                  <a:pt x="54429" y="23812"/>
                </a:lnTo>
                <a:close/>
                <a:moveTo>
                  <a:pt x="238125" y="77391"/>
                </a:moveTo>
                <a:cubicBezTo>
                  <a:pt x="249390" y="77391"/>
                  <a:pt x="258536" y="85393"/>
                  <a:pt x="258536" y="95250"/>
                </a:cubicBezTo>
                <a:cubicBezTo>
                  <a:pt x="258536" y="105107"/>
                  <a:pt x="249390" y="113109"/>
                  <a:pt x="238125" y="113109"/>
                </a:cubicBezTo>
                <a:cubicBezTo>
                  <a:pt x="226860" y="113109"/>
                  <a:pt x="217714" y="105107"/>
                  <a:pt x="217714" y="95250"/>
                </a:cubicBezTo>
                <a:cubicBezTo>
                  <a:pt x="217714" y="85393"/>
                  <a:pt x="226860" y="77391"/>
                  <a:pt x="238125" y="77391"/>
                </a:cubicBezTo>
                <a:close/>
                <a:moveTo>
                  <a:pt x="285750" y="95250"/>
                </a:moveTo>
                <a:cubicBezTo>
                  <a:pt x="285750" y="85393"/>
                  <a:pt x="294896" y="77391"/>
                  <a:pt x="306161" y="77391"/>
                </a:cubicBezTo>
                <a:cubicBezTo>
                  <a:pt x="317426" y="77391"/>
                  <a:pt x="326571" y="85393"/>
                  <a:pt x="326571" y="95250"/>
                </a:cubicBezTo>
                <a:cubicBezTo>
                  <a:pt x="326571" y="105107"/>
                  <a:pt x="317426" y="113109"/>
                  <a:pt x="306161" y="113109"/>
                </a:cubicBezTo>
                <a:cubicBezTo>
                  <a:pt x="294896" y="113109"/>
                  <a:pt x="285750" y="105107"/>
                  <a:pt x="285750" y="95250"/>
                </a:cubicBezTo>
                <a:close/>
                <a:moveTo>
                  <a:pt x="54429" y="214313"/>
                </a:moveTo>
                <a:cubicBezTo>
                  <a:pt x="24408" y="214313"/>
                  <a:pt x="0" y="235669"/>
                  <a:pt x="0" y="261938"/>
                </a:cubicBezTo>
                <a:lnTo>
                  <a:pt x="0" y="309563"/>
                </a:lnTo>
                <a:cubicBezTo>
                  <a:pt x="0" y="335831"/>
                  <a:pt x="24408" y="357188"/>
                  <a:pt x="54429" y="357188"/>
                </a:cubicBezTo>
                <a:lnTo>
                  <a:pt x="326571" y="357188"/>
                </a:lnTo>
                <a:cubicBezTo>
                  <a:pt x="356592" y="357188"/>
                  <a:pt x="381000" y="335831"/>
                  <a:pt x="381000" y="309563"/>
                </a:cubicBezTo>
                <a:lnTo>
                  <a:pt x="381000" y="261938"/>
                </a:lnTo>
                <a:cubicBezTo>
                  <a:pt x="381000" y="235669"/>
                  <a:pt x="356592" y="214313"/>
                  <a:pt x="326571" y="214313"/>
                </a:cubicBezTo>
                <a:lnTo>
                  <a:pt x="54429" y="214313"/>
                </a:lnTo>
                <a:close/>
                <a:moveTo>
                  <a:pt x="238125" y="267891"/>
                </a:moveTo>
                <a:cubicBezTo>
                  <a:pt x="249390" y="267891"/>
                  <a:pt x="258536" y="275893"/>
                  <a:pt x="258536" y="285750"/>
                </a:cubicBezTo>
                <a:cubicBezTo>
                  <a:pt x="258536" y="295607"/>
                  <a:pt x="249390" y="303609"/>
                  <a:pt x="238125" y="303609"/>
                </a:cubicBezTo>
                <a:cubicBezTo>
                  <a:pt x="226860" y="303609"/>
                  <a:pt x="217714" y="295607"/>
                  <a:pt x="217714" y="285750"/>
                </a:cubicBezTo>
                <a:cubicBezTo>
                  <a:pt x="217714" y="275893"/>
                  <a:pt x="226860" y="267891"/>
                  <a:pt x="238125" y="267891"/>
                </a:cubicBezTo>
                <a:close/>
                <a:moveTo>
                  <a:pt x="285750" y="285750"/>
                </a:moveTo>
                <a:cubicBezTo>
                  <a:pt x="285750" y="275893"/>
                  <a:pt x="294896" y="267891"/>
                  <a:pt x="306161" y="267891"/>
                </a:cubicBezTo>
                <a:cubicBezTo>
                  <a:pt x="317426" y="267891"/>
                  <a:pt x="326571" y="275893"/>
                  <a:pt x="326571" y="285750"/>
                </a:cubicBezTo>
                <a:cubicBezTo>
                  <a:pt x="326571" y="295607"/>
                  <a:pt x="317426" y="303609"/>
                  <a:pt x="306161" y="303609"/>
                </a:cubicBezTo>
                <a:cubicBezTo>
                  <a:pt x="294896" y="303609"/>
                  <a:pt x="285750" y="295607"/>
                  <a:pt x="285750" y="285750"/>
                </a:cubicBezTo>
                <a:close/>
              </a:path>
            </a:pathLst>
          </a:custGeom>
          <a:solidFill>
            <a:srgbClr val="FF9900"/>
          </a:solidFill>
          <a:ln/>
        </p:spPr>
      </p:sp>
      <p:sp>
        <p:nvSpPr>
          <p:cNvPr id="18" name="Text 15"/>
          <p:cNvSpPr/>
          <p:nvPr/>
        </p:nvSpPr>
        <p:spPr>
          <a:xfrm>
            <a:off x="4381500" y="3810000"/>
            <a:ext cx="2667000" cy="952500"/>
          </a:xfrm>
          <a:prstGeom prst="rect">
            <a:avLst/>
          </a:prstGeom>
          <a:noFill/>
          <a:ln/>
        </p:spPr>
        <p:txBody>
          <a:bodyPr wrap="square" lIns="0" tIns="0" rIns="0" bIns="0" rtlCol="0" anchor="ctr"/>
          <a:lstStyle/>
          <a:p>
            <a:pPr algn="l">
              <a:lnSpc>
                <a:spcPct val="140000"/>
              </a:lnSpc>
            </a:pPr>
            <a:r>
              <a:rPr lang="en-US" sz="1300" b="1" dirty="0">
                <a:solidFill>
                  <a:srgbClr val="FFFFFF"/>
                </a:solidFill>
                <a:latin typeface="Quattrocento Sans" pitchFamily="34" charset="0"/>
                <a:ea typeface="Quattrocento Sans" pitchFamily="34" charset="-122"/>
                <a:cs typeface="Quattrocento Sans" pitchFamily="34" charset="-120"/>
              </a:rPr>
              <a:t>EC2 Instance 1</a:t>
            </a:r>
            <a:endParaRPr lang="en-US" sz="1300" dirty="0"/>
          </a:p>
          <a:p>
            <a:pPr algn="l">
              <a:lnSpc>
                <a:spcPct val="140000"/>
              </a:lnSpc>
            </a:pPr>
            <a:r>
              <a:rPr lang="en-US" sz="1300" dirty="0">
                <a:solidFill>
                  <a:srgbClr val="FFFFFF"/>
                </a:solidFill>
                <a:latin typeface="Quattrocento Sans" pitchFamily="34" charset="0"/>
                <a:ea typeface="Quattrocento Sans" pitchFamily="34" charset="-122"/>
                <a:cs typeface="Quattrocento Sans" pitchFamily="34" charset="-120"/>
              </a:rPr>
              <a:t>Ubuntu + Apache + Flask</a:t>
            </a:r>
            <a:endParaRPr lang="en-US" sz="1300" dirty="0"/>
          </a:p>
        </p:txBody>
      </p:sp>
      <p:sp>
        <p:nvSpPr>
          <p:cNvPr id="19" name="Shape 16"/>
          <p:cNvSpPr/>
          <p:nvPr/>
        </p:nvSpPr>
        <p:spPr>
          <a:xfrm>
            <a:off x="9017000" y="3810000"/>
            <a:ext cx="3556000" cy="952500"/>
          </a:xfrm>
          <a:prstGeom prst="roundRect">
            <a:avLst>
              <a:gd name="adj" fmla="val 10000"/>
            </a:avLst>
          </a:prstGeom>
          <a:solidFill>
            <a:srgbClr val="232F3E"/>
          </a:solidFill>
          <a:ln/>
        </p:spPr>
      </p:sp>
      <p:sp>
        <p:nvSpPr>
          <p:cNvPr id="20" name="Shape 17"/>
          <p:cNvSpPr/>
          <p:nvPr/>
        </p:nvSpPr>
        <p:spPr>
          <a:xfrm>
            <a:off x="9207500" y="3962400"/>
            <a:ext cx="381000" cy="381000"/>
          </a:xfrm>
          <a:custGeom>
            <a:avLst/>
            <a:gdLst/>
            <a:ahLst/>
            <a:cxnLst/>
            <a:rect l="l" t="t" r="r" b="b"/>
            <a:pathLst>
              <a:path w="381000" h="381000">
                <a:moveTo>
                  <a:pt x="54429" y="23812"/>
                </a:moveTo>
                <a:cubicBezTo>
                  <a:pt x="24408" y="23812"/>
                  <a:pt x="0" y="45169"/>
                  <a:pt x="0" y="71438"/>
                </a:cubicBezTo>
                <a:lnTo>
                  <a:pt x="0" y="119063"/>
                </a:lnTo>
                <a:cubicBezTo>
                  <a:pt x="0" y="145331"/>
                  <a:pt x="24408" y="166688"/>
                  <a:pt x="54429" y="166688"/>
                </a:cubicBezTo>
                <a:lnTo>
                  <a:pt x="326571" y="166688"/>
                </a:lnTo>
                <a:cubicBezTo>
                  <a:pt x="356592" y="166688"/>
                  <a:pt x="381000" y="145331"/>
                  <a:pt x="381000" y="119063"/>
                </a:cubicBezTo>
                <a:lnTo>
                  <a:pt x="381000" y="71438"/>
                </a:lnTo>
                <a:cubicBezTo>
                  <a:pt x="381000" y="45169"/>
                  <a:pt x="356592" y="23812"/>
                  <a:pt x="326571" y="23812"/>
                </a:cubicBezTo>
                <a:lnTo>
                  <a:pt x="54429" y="23812"/>
                </a:lnTo>
                <a:close/>
                <a:moveTo>
                  <a:pt x="238125" y="77391"/>
                </a:moveTo>
                <a:cubicBezTo>
                  <a:pt x="249390" y="77391"/>
                  <a:pt x="258536" y="85393"/>
                  <a:pt x="258536" y="95250"/>
                </a:cubicBezTo>
                <a:cubicBezTo>
                  <a:pt x="258536" y="105107"/>
                  <a:pt x="249390" y="113109"/>
                  <a:pt x="238125" y="113109"/>
                </a:cubicBezTo>
                <a:cubicBezTo>
                  <a:pt x="226860" y="113109"/>
                  <a:pt x="217714" y="105107"/>
                  <a:pt x="217714" y="95250"/>
                </a:cubicBezTo>
                <a:cubicBezTo>
                  <a:pt x="217714" y="85393"/>
                  <a:pt x="226860" y="77391"/>
                  <a:pt x="238125" y="77391"/>
                </a:cubicBezTo>
                <a:close/>
                <a:moveTo>
                  <a:pt x="285750" y="95250"/>
                </a:moveTo>
                <a:cubicBezTo>
                  <a:pt x="285750" y="85393"/>
                  <a:pt x="294896" y="77391"/>
                  <a:pt x="306161" y="77391"/>
                </a:cubicBezTo>
                <a:cubicBezTo>
                  <a:pt x="317426" y="77391"/>
                  <a:pt x="326571" y="85393"/>
                  <a:pt x="326571" y="95250"/>
                </a:cubicBezTo>
                <a:cubicBezTo>
                  <a:pt x="326571" y="105107"/>
                  <a:pt x="317426" y="113109"/>
                  <a:pt x="306161" y="113109"/>
                </a:cubicBezTo>
                <a:cubicBezTo>
                  <a:pt x="294896" y="113109"/>
                  <a:pt x="285750" y="105107"/>
                  <a:pt x="285750" y="95250"/>
                </a:cubicBezTo>
                <a:close/>
                <a:moveTo>
                  <a:pt x="54429" y="214313"/>
                </a:moveTo>
                <a:cubicBezTo>
                  <a:pt x="24408" y="214313"/>
                  <a:pt x="0" y="235669"/>
                  <a:pt x="0" y="261938"/>
                </a:cubicBezTo>
                <a:lnTo>
                  <a:pt x="0" y="309563"/>
                </a:lnTo>
                <a:cubicBezTo>
                  <a:pt x="0" y="335831"/>
                  <a:pt x="24408" y="357188"/>
                  <a:pt x="54429" y="357188"/>
                </a:cubicBezTo>
                <a:lnTo>
                  <a:pt x="326571" y="357188"/>
                </a:lnTo>
                <a:cubicBezTo>
                  <a:pt x="356592" y="357188"/>
                  <a:pt x="381000" y="335831"/>
                  <a:pt x="381000" y="309563"/>
                </a:cubicBezTo>
                <a:lnTo>
                  <a:pt x="381000" y="261938"/>
                </a:lnTo>
                <a:cubicBezTo>
                  <a:pt x="381000" y="235669"/>
                  <a:pt x="356592" y="214313"/>
                  <a:pt x="326571" y="214313"/>
                </a:cubicBezTo>
                <a:lnTo>
                  <a:pt x="54429" y="214313"/>
                </a:lnTo>
                <a:close/>
                <a:moveTo>
                  <a:pt x="238125" y="267891"/>
                </a:moveTo>
                <a:cubicBezTo>
                  <a:pt x="249390" y="267891"/>
                  <a:pt x="258536" y="275893"/>
                  <a:pt x="258536" y="285750"/>
                </a:cubicBezTo>
                <a:cubicBezTo>
                  <a:pt x="258536" y="295607"/>
                  <a:pt x="249390" y="303609"/>
                  <a:pt x="238125" y="303609"/>
                </a:cubicBezTo>
                <a:cubicBezTo>
                  <a:pt x="226860" y="303609"/>
                  <a:pt x="217714" y="295607"/>
                  <a:pt x="217714" y="285750"/>
                </a:cubicBezTo>
                <a:cubicBezTo>
                  <a:pt x="217714" y="275893"/>
                  <a:pt x="226860" y="267891"/>
                  <a:pt x="238125" y="267891"/>
                </a:cubicBezTo>
                <a:close/>
                <a:moveTo>
                  <a:pt x="285750" y="285750"/>
                </a:moveTo>
                <a:cubicBezTo>
                  <a:pt x="285750" y="275893"/>
                  <a:pt x="294896" y="267891"/>
                  <a:pt x="306161" y="267891"/>
                </a:cubicBezTo>
                <a:cubicBezTo>
                  <a:pt x="317426" y="267891"/>
                  <a:pt x="326571" y="275893"/>
                  <a:pt x="326571" y="285750"/>
                </a:cubicBezTo>
                <a:cubicBezTo>
                  <a:pt x="326571" y="295607"/>
                  <a:pt x="317426" y="303609"/>
                  <a:pt x="306161" y="303609"/>
                </a:cubicBezTo>
                <a:cubicBezTo>
                  <a:pt x="294896" y="303609"/>
                  <a:pt x="285750" y="295607"/>
                  <a:pt x="285750" y="285750"/>
                </a:cubicBezTo>
                <a:close/>
              </a:path>
            </a:pathLst>
          </a:custGeom>
          <a:solidFill>
            <a:srgbClr val="FF9900"/>
          </a:solidFill>
          <a:ln/>
        </p:spPr>
      </p:sp>
      <p:sp>
        <p:nvSpPr>
          <p:cNvPr id="21" name="Text 18"/>
          <p:cNvSpPr/>
          <p:nvPr/>
        </p:nvSpPr>
        <p:spPr>
          <a:xfrm>
            <a:off x="9715500" y="3810000"/>
            <a:ext cx="2667000" cy="952500"/>
          </a:xfrm>
          <a:prstGeom prst="rect">
            <a:avLst/>
          </a:prstGeom>
          <a:noFill/>
          <a:ln/>
        </p:spPr>
        <p:txBody>
          <a:bodyPr wrap="square" lIns="0" tIns="0" rIns="0" bIns="0" rtlCol="0" anchor="ctr"/>
          <a:lstStyle/>
          <a:p>
            <a:pPr algn="l">
              <a:lnSpc>
                <a:spcPct val="140000"/>
              </a:lnSpc>
            </a:pPr>
            <a:r>
              <a:rPr lang="en-US" sz="1300" b="1" dirty="0">
                <a:solidFill>
                  <a:srgbClr val="FFFFFF"/>
                </a:solidFill>
                <a:latin typeface="Quattrocento Sans" pitchFamily="34" charset="0"/>
                <a:ea typeface="Quattrocento Sans" pitchFamily="34" charset="-122"/>
                <a:cs typeface="Quattrocento Sans" pitchFamily="34" charset="-120"/>
              </a:rPr>
              <a:t>EC2 Instance 2</a:t>
            </a:r>
            <a:endParaRPr lang="en-US" sz="1300" dirty="0"/>
          </a:p>
          <a:p>
            <a:pPr algn="l">
              <a:lnSpc>
                <a:spcPct val="140000"/>
              </a:lnSpc>
            </a:pPr>
            <a:r>
              <a:rPr lang="en-US" sz="1300" dirty="0">
                <a:solidFill>
                  <a:srgbClr val="FFFFFF"/>
                </a:solidFill>
                <a:latin typeface="Quattrocento Sans" pitchFamily="34" charset="0"/>
                <a:ea typeface="Quattrocento Sans" pitchFamily="34" charset="-122"/>
                <a:cs typeface="Quattrocento Sans" pitchFamily="34" charset="-120"/>
              </a:rPr>
              <a:t>Ubuntu + Apache + Flask</a:t>
            </a:r>
            <a:endParaRPr lang="en-US" sz="1300" dirty="0"/>
          </a:p>
        </p:txBody>
      </p:sp>
      <p:sp>
        <p:nvSpPr>
          <p:cNvPr id="22" name="Shape 19"/>
          <p:cNvSpPr/>
          <p:nvPr/>
        </p:nvSpPr>
        <p:spPr>
          <a:xfrm>
            <a:off x="5461000" y="4762500"/>
            <a:ext cx="2540000" cy="444500"/>
          </a:xfrm>
          <a:prstGeom prst="straightConnector1">
            <a:avLst/>
          </a:prstGeom>
          <a:noFill/>
          <a:ln w="25400">
            <a:solidFill>
              <a:srgbClr val="FF9900"/>
            </a:solidFill>
            <a:prstDash val="solid"/>
            <a:headEnd type="none"/>
            <a:tailEnd type="arrow"/>
          </a:ln>
        </p:spPr>
      </p:sp>
      <p:sp>
        <p:nvSpPr>
          <p:cNvPr id="23" name="Shape 20"/>
          <p:cNvSpPr/>
          <p:nvPr/>
        </p:nvSpPr>
        <p:spPr>
          <a:xfrm>
            <a:off x="10795000" y="4762500"/>
            <a:ext cx="0" cy="444500"/>
          </a:xfrm>
          <a:prstGeom prst="straightConnector1">
            <a:avLst/>
          </a:prstGeom>
          <a:noFill/>
          <a:ln w="25400">
            <a:solidFill>
              <a:srgbClr val="FF9900"/>
            </a:solidFill>
            <a:prstDash val="solid"/>
            <a:headEnd type="none"/>
            <a:tailEnd type="arrow"/>
          </a:ln>
        </p:spPr>
      </p:sp>
      <p:sp>
        <p:nvSpPr>
          <p:cNvPr id="24" name="Shape 21"/>
          <p:cNvSpPr/>
          <p:nvPr/>
        </p:nvSpPr>
        <p:spPr>
          <a:xfrm>
            <a:off x="4953000" y="5207000"/>
            <a:ext cx="6350000" cy="825500"/>
          </a:xfrm>
          <a:prstGeom prst="roundRect">
            <a:avLst>
              <a:gd name="adj" fmla="val 10000"/>
            </a:avLst>
          </a:prstGeom>
          <a:solidFill>
            <a:srgbClr val="27AE60"/>
          </a:solidFill>
          <a:ln/>
        </p:spPr>
      </p:sp>
      <p:sp>
        <p:nvSpPr>
          <p:cNvPr id="25" name="Shape 22"/>
          <p:cNvSpPr/>
          <p:nvPr/>
        </p:nvSpPr>
        <p:spPr>
          <a:xfrm>
            <a:off x="5207000" y="5359400"/>
            <a:ext cx="381000" cy="381000"/>
          </a:xfrm>
          <a:custGeom>
            <a:avLst/>
            <a:gdLst/>
            <a:ahLst/>
            <a:cxnLst/>
            <a:rect l="l" t="t" r="r" b="b"/>
            <a:pathLst>
              <a:path w="381000" h="381000">
                <a:moveTo>
                  <a:pt x="381000" y="153144"/>
                </a:moveTo>
                <a:cubicBezTo>
                  <a:pt x="368413" y="160437"/>
                  <a:pt x="353956" y="166315"/>
                  <a:pt x="338903" y="171004"/>
                </a:cubicBezTo>
                <a:cubicBezTo>
                  <a:pt x="298932" y="183505"/>
                  <a:pt x="246459" y="190500"/>
                  <a:pt x="190500" y="190500"/>
                </a:cubicBezTo>
                <a:cubicBezTo>
                  <a:pt x="134541" y="190500"/>
                  <a:pt x="81983" y="183431"/>
                  <a:pt x="42097" y="171004"/>
                </a:cubicBezTo>
                <a:cubicBezTo>
                  <a:pt x="27129" y="166315"/>
                  <a:pt x="12587" y="160437"/>
                  <a:pt x="0" y="153144"/>
                </a:cubicBezTo>
                <a:lnTo>
                  <a:pt x="0" y="214313"/>
                </a:lnTo>
                <a:cubicBezTo>
                  <a:pt x="0" y="247204"/>
                  <a:pt x="85300" y="273844"/>
                  <a:pt x="190500" y="273844"/>
                </a:cubicBezTo>
                <a:cubicBezTo>
                  <a:pt x="295700" y="273844"/>
                  <a:pt x="381000" y="247204"/>
                  <a:pt x="381000" y="214313"/>
                </a:cubicBezTo>
                <a:lnTo>
                  <a:pt x="381000" y="153144"/>
                </a:lnTo>
                <a:close/>
                <a:moveTo>
                  <a:pt x="381000" y="95250"/>
                </a:moveTo>
                <a:lnTo>
                  <a:pt x="381000" y="59531"/>
                </a:lnTo>
                <a:cubicBezTo>
                  <a:pt x="381000" y="26640"/>
                  <a:pt x="295700" y="0"/>
                  <a:pt x="190500" y="0"/>
                </a:cubicBezTo>
                <a:cubicBezTo>
                  <a:pt x="85300" y="0"/>
                  <a:pt x="0" y="26640"/>
                  <a:pt x="0" y="59531"/>
                </a:cubicBezTo>
                <a:lnTo>
                  <a:pt x="0" y="95250"/>
                </a:lnTo>
                <a:cubicBezTo>
                  <a:pt x="0" y="128141"/>
                  <a:pt x="85300" y="154781"/>
                  <a:pt x="190500" y="154781"/>
                </a:cubicBezTo>
                <a:cubicBezTo>
                  <a:pt x="295700" y="154781"/>
                  <a:pt x="381000" y="128141"/>
                  <a:pt x="381000" y="95250"/>
                </a:cubicBezTo>
                <a:close/>
                <a:moveTo>
                  <a:pt x="338903" y="290066"/>
                </a:moveTo>
                <a:cubicBezTo>
                  <a:pt x="299017" y="302493"/>
                  <a:pt x="246544" y="309563"/>
                  <a:pt x="190500" y="309563"/>
                </a:cubicBezTo>
                <a:cubicBezTo>
                  <a:pt x="134456" y="309563"/>
                  <a:pt x="81983" y="302493"/>
                  <a:pt x="42097" y="290066"/>
                </a:cubicBezTo>
                <a:cubicBezTo>
                  <a:pt x="27129" y="285378"/>
                  <a:pt x="12587" y="279499"/>
                  <a:pt x="0" y="272207"/>
                </a:cubicBezTo>
                <a:lnTo>
                  <a:pt x="0" y="321469"/>
                </a:lnTo>
                <a:cubicBezTo>
                  <a:pt x="0" y="354360"/>
                  <a:pt x="85300" y="381000"/>
                  <a:pt x="190500" y="381000"/>
                </a:cubicBezTo>
                <a:cubicBezTo>
                  <a:pt x="295700" y="381000"/>
                  <a:pt x="381000" y="354360"/>
                  <a:pt x="381000" y="321469"/>
                </a:cubicBezTo>
                <a:lnTo>
                  <a:pt x="381000" y="272207"/>
                </a:lnTo>
                <a:cubicBezTo>
                  <a:pt x="368413" y="279499"/>
                  <a:pt x="353956" y="285378"/>
                  <a:pt x="338903" y="290066"/>
                </a:cubicBezTo>
                <a:close/>
              </a:path>
            </a:pathLst>
          </a:custGeom>
          <a:solidFill>
            <a:srgbClr val="FFFFFF"/>
          </a:solidFill>
          <a:ln/>
        </p:spPr>
      </p:sp>
      <p:sp>
        <p:nvSpPr>
          <p:cNvPr id="26" name="Text 23"/>
          <p:cNvSpPr/>
          <p:nvPr/>
        </p:nvSpPr>
        <p:spPr>
          <a:xfrm>
            <a:off x="5715000" y="5207000"/>
            <a:ext cx="5334000" cy="825500"/>
          </a:xfrm>
          <a:prstGeom prst="rect">
            <a:avLst/>
          </a:prstGeom>
          <a:noFill/>
          <a:ln/>
        </p:spPr>
        <p:txBody>
          <a:bodyPr wrap="none" lIns="0" tIns="0" rIns="0" bIns="0" rtlCol="0" anchor="ctr"/>
          <a:lstStyle/>
          <a:p>
            <a:pPr algn="l">
              <a:lnSpc>
                <a:spcPct val="120000"/>
              </a:lnSpc>
            </a:pPr>
            <a:r>
              <a:rPr lang="en-US" sz="1400" b="1" dirty="0">
                <a:solidFill>
                  <a:srgbClr val="FFFFFF"/>
                </a:solidFill>
                <a:latin typeface="Liter" pitchFamily="34" charset="0"/>
                <a:ea typeface="Liter" pitchFamily="34" charset="-122"/>
                <a:cs typeface="Liter" pitchFamily="34" charset="-120"/>
              </a:rPr>
              <a:t>Amazon RDS (MySQL)</a:t>
            </a:r>
            <a:endParaRPr lang="en-US" sz="1400" dirty="0"/>
          </a:p>
        </p:txBody>
      </p:sp>
      <p:sp>
        <p:nvSpPr>
          <p:cNvPr id="27" name="Text 24"/>
          <p:cNvSpPr/>
          <p:nvPr/>
        </p:nvSpPr>
        <p:spPr>
          <a:xfrm>
            <a:off x="762000" y="1587500"/>
            <a:ext cx="2413000" cy="317500"/>
          </a:xfrm>
          <a:prstGeom prst="rect">
            <a:avLst/>
          </a:prstGeom>
          <a:noFill/>
          <a:ln/>
        </p:spPr>
        <p:txBody>
          <a:bodyPr wrap="none" lIns="0" tIns="0" rIns="0" bIns="0" rtlCol="0" anchor="ctr"/>
          <a:lstStyle/>
          <a:p>
            <a:pPr algn="l">
              <a:lnSpc>
                <a:spcPct val="120000"/>
              </a:lnSpc>
            </a:pPr>
            <a:r>
              <a:rPr lang="en-US" sz="1300" b="1" spc="100" kern="0" dirty="0">
                <a:solidFill>
                  <a:srgbClr val="64748B"/>
                </a:solidFill>
                <a:latin typeface="Liter" pitchFamily="34" charset="0"/>
                <a:ea typeface="Liter" pitchFamily="34" charset="-122"/>
                <a:cs typeface="Liter" pitchFamily="34" charset="-120"/>
              </a:rPr>
              <a:t>SUPPORTING SERVICES</a:t>
            </a:r>
            <a:endParaRPr lang="en-US" sz="1300" dirty="0"/>
          </a:p>
        </p:txBody>
      </p:sp>
      <p:sp>
        <p:nvSpPr>
          <p:cNvPr id="28" name="Shape 25"/>
          <p:cNvSpPr/>
          <p:nvPr/>
        </p:nvSpPr>
        <p:spPr>
          <a:xfrm>
            <a:off x="762000" y="2032000"/>
            <a:ext cx="2286000" cy="635000"/>
          </a:xfrm>
          <a:prstGeom prst="roundRect">
            <a:avLst>
              <a:gd name="adj" fmla="val 12000"/>
            </a:avLst>
          </a:prstGeom>
          <a:solidFill>
            <a:srgbClr val="F0F4F8"/>
          </a:solidFill>
          <a:ln w="12700">
            <a:solidFill>
              <a:srgbClr val="E2E8F0"/>
            </a:solidFill>
            <a:prstDash val="solid"/>
          </a:ln>
        </p:spPr>
      </p:sp>
      <p:sp>
        <p:nvSpPr>
          <p:cNvPr id="29" name="Shape 26"/>
          <p:cNvSpPr/>
          <p:nvPr/>
        </p:nvSpPr>
        <p:spPr>
          <a:xfrm>
            <a:off x="914400" y="2159000"/>
            <a:ext cx="355600" cy="355600"/>
          </a:xfrm>
          <a:custGeom>
            <a:avLst/>
            <a:gdLst/>
            <a:ahLst/>
            <a:cxnLst/>
            <a:rect l="l" t="t" r="r" b="b"/>
            <a:pathLst>
              <a:path w="355600" h="355600">
                <a:moveTo>
                  <a:pt x="311317" y="164743"/>
                </a:moveTo>
                <a:cubicBezTo>
                  <a:pt x="317095" y="172938"/>
                  <a:pt x="327041" y="174744"/>
                  <a:pt x="334542" y="168563"/>
                </a:cubicBezTo>
                <a:cubicBezTo>
                  <a:pt x="342709" y="161756"/>
                  <a:pt x="344932" y="147935"/>
                  <a:pt x="339487" y="137726"/>
                </a:cubicBezTo>
                <a:lnTo>
                  <a:pt x="312817" y="87719"/>
                </a:lnTo>
                <a:cubicBezTo>
                  <a:pt x="311261" y="84802"/>
                  <a:pt x="309150" y="82371"/>
                  <a:pt x="306649" y="80635"/>
                </a:cubicBezTo>
                <a:lnTo>
                  <a:pt x="195247" y="3264"/>
                </a:lnTo>
                <a:cubicBezTo>
                  <a:pt x="184523" y="-4167"/>
                  <a:pt x="171466" y="-4167"/>
                  <a:pt x="160687" y="3264"/>
                </a:cubicBezTo>
                <a:lnTo>
                  <a:pt x="49340" y="80566"/>
                </a:lnTo>
                <a:cubicBezTo>
                  <a:pt x="46339" y="82649"/>
                  <a:pt x="43950" y="85705"/>
                  <a:pt x="42339" y="89456"/>
                </a:cubicBezTo>
                <a:lnTo>
                  <a:pt x="15391" y="151894"/>
                </a:lnTo>
                <a:cubicBezTo>
                  <a:pt x="8390" y="168146"/>
                  <a:pt x="13279" y="188357"/>
                  <a:pt x="26281" y="197108"/>
                </a:cubicBezTo>
                <a:lnTo>
                  <a:pt x="44617" y="209401"/>
                </a:lnTo>
                <a:lnTo>
                  <a:pt x="44617" y="246420"/>
                </a:lnTo>
                <a:cubicBezTo>
                  <a:pt x="44617" y="262394"/>
                  <a:pt x="51506" y="277187"/>
                  <a:pt x="62619" y="285105"/>
                </a:cubicBezTo>
                <a:lnTo>
                  <a:pt x="160409" y="354350"/>
                </a:lnTo>
                <a:cubicBezTo>
                  <a:pt x="171299" y="362059"/>
                  <a:pt x="184579" y="362059"/>
                  <a:pt x="195469" y="354350"/>
                </a:cubicBezTo>
                <a:lnTo>
                  <a:pt x="293259" y="285105"/>
                </a:lnTo>
                <a:cubicBezTo>
                  <a:pt x="304427" y="277187"/>
                  <a:pt x="311261" y="262463"/>
                  <a:pt x="311261" y="246420"/>
                </a:cubicBezTo>
                <a:lnTo>
                  <a:pt x="311261" y="164812"/>
                </a:lnTo>
                <a:close/>
                <a:moveTo>
                  <a:pt x="177967" y="157936"/>
                </a:moveTo>
                <a:lnTo>
                  <a:pt x="94567" y="100013"/>
                </a:lnTo>
                <a:lnTo>
                  <a:pt x="177967" y="42089"/>
                </a:lnTo>
                <a:lnTo>
                  <a:pt x="261366" y="100013"/>
                </a:lnTo>
                <a:lnTo>
                  <a:pt x="177967" y="157936"/>
                </a:lnTo>
                <a:close/>
                <a:moveTo>
                  <a:pt x="154908" y="192802"/>
                </a:moveTo>
                <a:lnTo>
                  <a:pt x="143073" y="224889"/>
                </a:lnTo>
                <a:lnTo>
                  <a:pt x="50951" y="163215"/>
                </a:lnTo>
                <a:lnTo>
                  <a:pt x="65064" y="130433"/>
                </a:lnTo>
                <a:lnTo>
                  <a:pt x="154908" y="192802"/>
                </a:lnTo>
                <a:close/>
              </a:path>
            </a:pathLst>
          </a:custGeom>
          <a:solidFill>
            <a:srgbClr val="4A6FA5"/>
          </a:solidFill>
          <a:ln/>
        </p:spPr>
      </p:sp>
      <p:sp>
        <p:nvSpPr>
          <p:cNvPr id="30" name="Text 27"/>
          <p:cNvSpPr/>
          <p:nvPr/>
        </p:nvSpPr>
        <p:spPr>
          <a:xfrm>
            <a:off x="1371600" y="2032000"/>
            <a:ext cx="1524000" cy="635000"/>
          </a:xfrm>
          <a:prstGeom prst="rect">
            <a:avLst/>
          </a:prstGeom>
          <a:noFill/>
          <a:ln/>
        </p:spPr>
        <p:txBody>
          <a:bodyPr wrap="none" lIns="0" tIns="0" rIns="0" bIns="0" rtlCol="0" anchor="ctr"/>
          <a:lstStyle/>
          <a:p>
            <a:pPr algn="l">
              <a:lnSpc>
                <a:spcPct val="120000"/>
              </a:lnSpc>
            </a:pPr>
            <a:r>
              <a:rPr lang="en-US" sz="1300" b="1" dirty="0">
                <a:solidFill>
                  <a:srgbClr val="232F3E"/>
                </a:solidFill>
                <a:latin typeface="Quattrocento Sans" pitchFamily="34" charset="0"/>
                <a:ea typeface="Quattrocento Sans" pitchFamily="34" charset="-122"/>
                <a:cs typeface="Quattrocento Sans" pitchFamily="34" charset="-120"/>
              </a:rPr>
              <a:t>Amazon S3</a:t>
            </a:r>
            <a:endParaRPr lang="en-US" sz="1300" dirty="0"/>
          </a:p>
        </p:txBody>
      </p:sp>
      <p:sp>
        <p:nvSpPr>
          <p:cNvPr id="31" name="Shape 28"/>
          <p:cNvSpPr/>
          <p:nvPr/>
        </p:nvSpPr>
        <p:spPr>
          <a:xfrm>
            <a:off x="762000" y="2857500"/>
            <a:ext cx="2286000" cy="635000"/>
          </a:xfrm>
          <a:prstGeom prst="roundRect">
            <a:avLst>
              <a:gd name="adj" fmla="val 12000"/>
            </a:avLst>
          </a:prstGeom>
          <a:solidFill>
            <a:srgbClr val="F0F4F8"/>
          </a:solidFill>
          <a:ln w="12700">
            <a:solidFill>
              <a:srgbClr val="E2E8F0"/>
            </a:solidFill>
            <a:prstDash val="solid"/>
          </a:ln>
        </p:spPr>
      </p:sp>
      <p:sp>
        <p:nvSpPr>
          <p:cNvPr id="32" name="Shape 29"/>
          <p:cNvSpPr/>
          <p:nvPr/>
        </p:nvSpPr>
        <p:spPr>
          <a:xfrm>
            <a:off x="914400" y="2984500"/>
            <a:ext cx="355600" cy="355600"/>
          </a:xfrm>
          <a:custGeom>
            <a:avLst/>
            <a:gdLst/>
            <a:ahLst/>
            <a:cxnLst/>
            <a:rect l="l" t="t" r="r" b="b"/>
            <a:pathLst>
              <a:path w="355600" h="355600">
                <a:moveTo>
                  <a:pt x="44450" y="44450"/>
                </a:moveTo>
                <a:cubicBezTo>
                  <a:pt x="44450" y="32157"/>
                  <a:pt x="34518" y="22225"/>
                  <a:pt x="22225" y="22225"/>
                </a:cubicBezTo>
                <a:cubicBezTo>
                  <a:pt x="9932" y="22225"/>
                  <a:pt x="0" y="32157"/>
                  <a:pt x="0" y="44450"/>
                </a:cubicBezTo>
                <a:lnTo>
                  <a:pt x="0" y="277813"/>
                </a:lnTo>
                <a:cubicBezTo>
                  <a:pt x="0" y="308511"/>
                  <a:pt x="24864" y="333375"/>
                  <a:pt x="55563" y="333375"/>
                </a:cubicBezTo>
                <a:lnTo>
                  <a:pt x="333375" y="333375"/>
                </a:lnTo>
                <a:cubicBezTo>
                  <a:pt x="345668" y="333375"/>
                  <a:pt x="355600" y="323443"/>
                  <a:pt x="355600" y="311150"/>
                </a:cubicBezTo>
                <a:cubicBezTo>
                  <a:pt x="355600" y="298857"/>
                  <a:pt x="345668" y="288925"/>
                  <a:pt x="333375" y="288925"/>
                </a:cubicBezTo>
                <a:lnTo>
                  <a:pt x="55563" y="288925"/>
                </a:lnTo>
                <a:cubicBezTo>
                  <a:pt x="49451" y="288925"/>
                  <a:pt x="44450" y="283924"/>
                  <a:pt x="44450" y="277813"/>
                </a:cubicBezTo>
                <a:lnTo>
                  <a:pt x="44450" y="44450"/>
                </a:lnTo>
                <a:close/>
                <a:moveTo>
                  <a:pt x="326846" y="104596"/>
                </a:moveTo>
                <a:cubicBezTo>
                  <a:pt x="335528" y="95915"/>
                  <a:pt x="335528" y="81816"/>
                  <a:pt x="326846" y="73134"/>
                </a:cubicBezTo>
                <a:cubicBezTo>
                  <a:pt x="318165" y="64453"/>
                  <a:pt x="304066" y="64453"/>
                  <a:pt x="295384" y="73134"/>
                </a:cubicBezTo>
                <a:lnTo>
                  <a:pt x="222250" y="146338"/>
                </a:lnTo>
                <a:lnTo>
                  <a:pt x="182384" y="106541"/>
                </a:lnTo>
                <a:cubicBezTo>
                  <a:pt x="173702" y="97859"/>
                  <a:pt x="159603" y="97859"/>
                  <a:pt x="150922" y="106541"/>
                </a:cubicBezTo>
                <a:lnTo>
                  <a:pt x="84247" y="173216"/>
                </a:lnTo>
                <a:cubicBezTo>
                  <a:pt x="75565" y="181898"/>
                  <a:pt x="75565" y="195997"/>
                  <a:pt x="84247" y="204678"/>
                </a:cubicBezTo>
                <a:cubicBezTo>
                  <a:pt x="92928" y="213360"/>
                  <a:pt x="107027" y="213360"/>
                  <a:pt x="115709" y="204678"/>
                </a:cubicBezTo>
                <a:lnTo>
                  <a:pt x="166688" y="153700"/>
                </a:lnTo>
                <a:lnTo>
                  <a:pt x="206554" y="193566"/>
                </a:lnTo>
                <a:cubicBezTo>
                  <a:pt x="215235" y="202248"/>
                  <a:pt x="229334" y="202248"/>
                  <a:pt x="238016" y="193566"/>
                </a:cubicBezTo>
                <a:lnTo>
                  <a:pt x="326916" y="104666"/>
                </a:lnTo>
                <a:close/>
              </a:path>
            </a:pathLst>
          </a:custGeom>
          <a:solidFill>
            <a:srgbClr val="4A6FA5"/>
          </a:solidFill>
          <a:ln/>
        </p:spPr>
      </p:sp>
      <p:sp>
        <p:nvSpPr>
          <p:cNvPr id="33" name="Text 30"/>
          <p:cNvSpPr/>
          <p:nvPr/>
        </p:nvSpPr>
        <p:spPr>
          <a:xfrm>
            <a:off x="1371600" y="2857500"/>
            <a:ext cx="1524000" cy="635000"/>
          </a:xfrm>
          <a:prstGeom prst="rect">
            <a:avLst/>
          </a:prstGeom>
          <a:noFill/>
          <a:ln/>
        </p:spPr>
        <p:txBody>
          <a:bodyPr wrap="none" lIns="0" tIns="0" rIns="0" bIns="0" rtlCol="0" anchor="ctr"/>
          <a:lstStyle/>
          <a:p>
            <a:pPr algn="l">
              <a:lnSpc>
                <a:spcPct val="120000"/>
              </a:lnSpc>
            </a:pPr>
            <a:r>
              <a:rPr lang="en-US" sz="1300" b="1" dirty="0">
                <a:solidFill>
                  <a:srgbClr val="232F3E"/>
                </a:solidFill>
                <a:latin typeface="Quattrocento Sans" pitchFamily="34" charset="0"/>
                <a:ea typeface="Quattrocento Sans" pitchFamily="34" charset="-122"/>
                <a:cs typeface="Quattrocento Sans" pitchFamily="34" charset="-120"/>
              </a:rPr>
              <a:t>CloudWatch</a:t>
            </a:r>
            <a:endParaRPr lang="en-US" sz="1300" dirty="0"/>
          </a:p>
        </p:txBody>
      </p:sp>
      <p:sp>
        <p:nvSpPr>
          <p:cNvPr id="34" name="Shape 31"/>
          <p:cNvSpPr/>
          <p:nvPr/>
        </p:nvSpPr>
        <p:spPr>
          <a:xfrm>
            <a:off x="762000" y="3683000"/>
            <a:ext cx="2286000" cy="635000"/>
          </a:xfrm>
          <a:prstGeom prst="roundRect">
            <a:avLst>
              <a:gd name="adj" fmla="val 12000"/>
            </a:avLst>
          </a:prstGeom>
          <a:solidFill>
            <a:srgbClr val="F0F4F8"/>
          </a:solidFill>
          <a:ln w="12700">
            <a:solidFill>
              <a:srgbClr val="E2E8F0"/>
            </a:solidFill>
            <a:prstDash val="solid"/>
          </a:ln>
        </p:spPr>
      </p:sp>
      <p:sp>
        <p:nvSpPr>
          <p:cNvPr id="35" name="Shape 32"/>
          <p:cNvSpPr/>
          <p:nvPr/>
        </p:nvSpPr>
        <p:spPr>
          <a:xfrm>
            <a:off x="914400" y="3810000"/>
            <a:ext cx="355600" cy="355600"/>
          </a:xfrm>
          <a:custGeom>
            <a:avLst/>
            <a:gdLst/>
            <a:ahLst/>
            <a:cxnLst/>
            <a:rect l="l" t="t" r="r" b="b"/>
            <a:pathLst>
              <a:path w="355600" h="355600">
                <a:moveTo>
                  <a:pt x="177800" y="0"/>
                </a:moveTo>
                <a:cubicBezTo>
                  <a:pt x="163751" y="0"/>
                  <a:pt x="152400" y="9932"/>
                  <a:pt x="152400" y="22225"/>
                </a:cubicBezTo>
                <a:lnTo>
                  <a:pt x="152400" y="24448"/>
                </a:lnTo>
                <a:cubicBezTo>
                  <a:pt x="94456" y="34727"/>
                  <a:pt x="50800" y="79593"/>
                  <a:pt x="50800" y="133350"/>
                </a:cubicBezTo>
                <a:lnTo>
                  <a:pt x="50800" y="148421"/>
                </a:lnTo>
                <a:cubicBezTo>
                  <a:pt x="50800" y="181828"/>
                  <a:pt x="37783" y="214263"/>
                  <a:pt x="13970" y="240377"/>
                </a:cubicBezTo>
                <a:lnTo>
                  <a:pt x="6191" y="248851"/>
                </a:lnTo>
                <a:cubicBezTo>
                  <a:pt x="2143" y="253226"/>
                  <a:pt x="0" y="258643"/>
                  <a:pt x="0" y="264269"/>
                </a:cubicBezTo>
                <a:cubicBezTo>
                  <a:pt x="0" y="277882"/>
                  <a:pt x="12621" y="288925"/>
                  <a:pt x="28178" y="288925"/>
                </a:cubicBezTo>
                <a:lnTo>
                  <a:pt x="327343" y="288925"/>
                </a:lnTo>
                <a:cubicBezTo>
                  <a:pt x="342900" y="288925"/>
                  <a:pt x="355521" y="277882"/>
                  <a:pt x="355521" y="264269"/>
                </a:cubicBezTo>
                <a:cubicBezTo>
                  <a:pt x="355521" y="258643"/>
                  <a:pt x="353378" y="253226"/>
                  <a:pt x="349329" y="248851"/>
                </a:cubicBezTo>
                <a:lnTo>
                  <a:pt x="341551" y="240377"/>
                </a:lnTo>
                <a:cubicBezTo>
                  <a:pt x="317818" y="214263"/>
                  <a:pt x="304800" y="181828"/>
                  <a:pt x="304800" y="148421"/>
                </a:cubicBezTo>
                <a:lnTo>
                  <a:pt x="304800" y="133350"/>
                </a:lnTo>
                <a:cubicBezTo>
                  <a:pt x="304800" y="79593"/>
                  <a:pt x="261144" y="34727"/>
                  <a:pt x="203200" y="24447"/>
                </a:cubicBezTo>
                <a:lnTo>
                  <a:pt x="203200" y="22225"/>
                </a:lnTo>
                <a:cubicBezTo>
                  <a:pt x="203200" y="9932"/>
                  <a:pt x="191849" y="0"/>
                  <a:pt x="177800" y="0"/>
                </a:cubicBezTo>
                <a:close/>
                <a:moveTo>
                  <a:pt x="128588" y="322263"/>
                </a:moveTo>
                <a:cubicBezTo>
                  <a:pt x="134223" y="341432"/>
                  <a:pt x="154146" y="355600"/>
                  <a:pt x="177800" y="355600"/>
                </a:cubicBezTo>
                <a:cubicBezTo>
                  <a:pt x="201454" y="355600"/>
                  <a:pt x="221377" y="341432"/>
                  <a:pt x="227013" y="322263"/>
                </a:cubicBezTo>
                <a:lnTo>
                  <a:pt x="128588" y="322263"/>
                </a:lnTo>
                <a:close/>
              </a:path>
            </a:pathLst>
          </a:custGeom>
          <a:solidFill>
            <a:srgbClr val="4A6FA5"/>
          </a:solidFill>
          <a:ln/>
        </p:spPr>
      </p:sp>
      <p:sp>
        <p:nvSpPr>
          <p:cNvPr id="36" name="Text 33"/>
          <p:cNvSpPr/>
          <p:nvPr/>
        </p:nvSpPr>
        <p:spPr>
          <a:xfrm>
            <a:off x="1371600" y="3683000"/>
            <a:ext cx="1524000" cy="635000"/>
          </a:xfrm>
          <a:prstGeom prst="rect">
            <a:avLst/>
          </a:prstGeom>
          <a:noFill/>
          <a:ln/>
        </p:spPr>
        <p:txBody>
          <a:bodyPr wrap="none" lIns="0" tIns="0" rIns="0" bIns="0" rtlCol="0" anchor="ctr"/>
          <a:lstStyle/>
          <a:p>
            <a:pPr algn="l">
              <a:lnSpc>
                <a:spcPct val="120000"/>
              </a:lnSpc>
            </a:pPr>
            <a:r>
              <a:rPr lang="en-US" sz="1300" b="1" dirty="0">
                <a:solidFill>
                  <a:srgbClr val="232F3E"/>
                </a:solidFill>
                <a:latin typeface="Quattrocento Sans" pitchFamily="34" charset="0"/>
                <a:ea typeface="Quattrocento Sans" pitchFamily="34" charset="-122"/>
                <a:cs typeface="Quattrocento Sans" pitchFamily="34" charset="-120"/>
              </a:rPr>
              <a:t>SNS</a:t>
            </a:r>
            <a:endParaRPr lang="en-US" sz="1300" dirty="0"/>
          </a:p>
        </p:txBody>
      </p:sp>
      <p:sp>
        <p:nvSpPr>
          <p:cNvPr id="37" name="Text 34"/>
          <p:cNvSpPr/>
          <p:nvPr/>
        </p:nvSpPr>
        <p:spPr>
          <a:xfrm>
            <a:off x="12954000" y="1587500"/>
            <a:ext cx="2540000" cy="317500"/>
          </a:xfrm>
          <a:prstGeom prst="rect">
            <a:avLst/>
          </a:prstGeom>
          <a:noFill/>
          <a:ln/>
        </p:spPr>
        <p:txBody>
          <a:bodyPr wrap="none" lIns="0" tIns="0" rIns="0" bIns="0" rtlCol="0" anchor="ctr"/>
          <a:lstStyle/>
          <a:p>
            <a:pPr algn="l">
              <a:lnSpc>
                <a:spcPct val="120000"/>
              </a:lnSpc>
            </a:pPr>
            <a:r>
              <a:rPr lang="en-US" sz="1300" b="1" spc="100" kern="0" dirty="0">
                <a:solidFill>
                  <a:srgbClr val="64748B"/>
                </a:solidFill>
                <a:latin typeface="Liter" pitchFamily="34" charset="0"/>
                <a:ea typeface="Liter" pitchFamily="34" charset="-122"/>
                <a:cs typeface="Liter" pitchFamily="34" charset="-120"/>
              </a:rPr>
              <a:t>SECURITY LAYER</a:t>
            </a:r>
            <a:endParaRPr lang="en-US" sz="1300" dirty="0"/>
          </a:p>
        </p:txBody>
      </p:sp>
      <p:sp>
        <p:nvSpPr>
          <p:cNvPr id="38" name="Shape 35"/>
          <p:cNvSpPr/>
          <p:nvPr/>
        </p:nvSpPr>
        <p:spPr>
          <a:xfrm>
            <a:off x="13208000" y="2032000"/>
            <a:ext cx="2286000" cy="635000"/>
          </a:xfrm>
          <a:prstGeom prst="roundRect">
            <a:avLst>
              <a:gd name="adj" fmla="val 12000"/>
            </a:avLst>
          </a:prstGeom>
          <a:solidFill>
            <a:srgbClr val="F0F4F8"/>
          </a:solidFill>
          <a:ln w="12700">
            <a:solidFill>
              <a:srgbClr val="E2E8F0"/>
            </a:solidFill>
            <a:prstDash val="solid"/>
          </a:ln>
        </p:spPr>
      </p:sp>
      <p:sp>
        <p:nvSpPr>
          <p:cNvPr id="39" name="Shape 36"/>
          <p:cNvSpPr/>
          <p:nvPr/>
        </p:nvSpPr>
        <p:spPr>
          <a:xfrm>
            <a:off x="13360400" y="2159000"/>
            <a:ext cx="355600" cy="355600"/>
          </a:xfrm>
          <a:custGeom>
            <a:avLst/>
            <a:gdLst/>
            <a:ahLst/>
            <a:cxnLst/>
            <a:rect l="l" t="t" r="r" b="b"/>
            <a:pathLst>
              <a:path w="355600" h="355600">
                <a:moveTo>
                  <a:pt x="233363" y="244475"/>
                </a:moveTo>
                <a:cubicBezTo>
                  <a:pt x="300871" y="244475"/>
                  <a:pt x="355600" y="189746"/>
                  <a:pt x="355600" y="122238"/>
                </a:cubicBezTo>
                <a:cubicBezTo>
                  <a:pt x="355600" y="54729"/>
                  <a:pt x="300871" y="0"/>
                  <a:pt x="233363" y="0"/>
                </a:cubicBezTo>
                <a:cubicBezTo>
                  <a:pt x="165854" y="0"/>
                  <a:pt x="111125" y="54729"/>
                  <a:pt x="111125" y="122238"/>
                </a:cubicBezTo>
                <a:cubicBezTo>
                  <a:pt x="111125" y="135225"/>
                  <a:pt x="113139" y="147796"/>
                  <a:pt x="116890" y="159534"/>
                </a:cubicBezTo>
                <a:lnTo>
                  <a:pt x="4862" y="271562"/>
                </a:lnTo>
                <a:cubicBezTo>
                  <a:pt x="1736" y="274687"/>
                  <a:pt x="0" y="278924"/>
                  <a:pt x="0" y="283369"/>
                </a:cubicBezTo>
                <a:lnTo>
                  <a:pt x="0" y="338931"/>
                </a:lnTo>
                <a:cubicBezTo>
                  <a:pt x="0" y="348169"/>
                  <a:pt x="7431" y="355600"/>
                  <a:pt x="16669" y="355600"/>
                </a:cubicBezTo>
                <a:lnTo>
                  <a:pt x="72231" y="355600"/>
                </a:lnTo>
                <a:cubicBezTo>
                  <a:pt x="81469" y="355600"/>
                  <a:pt x="88900" y="348169"/>
                  <a:pt x="88900" y="338931"/>
                </a:cubicBezTo>
                <a:lnTo>
                  <a:pt x="88900" y="311150"/>
                </a:lnTo>
                <a:lnTo>
                  <a:pt x="116681" y="311150"/>
                </a:lnTo>
                <a:cubicBezTo>
                  <a:pt x="125919" y="311150"/>
                  <a:pt x="133350" y="303719"/>
                  <a:pt x="133350" y="294481"/>
                </a:cubicBezTo>
                <a:lnTo>
                  <a:pt x="133350" y="266700"/>
                </a:lnTo>
                <a:lnTo>
                  <a:pt x="161131" y="266700"/>
                </a:lnTo>
                <a:cubicBezTo>
                  <a:pt x="165576" y="266700"/>
                  <a:pt x="169813" y="264964"/>
                  <a:pt x="172938" y="261838"/>
                </a:cubicBezTo>
                <a:lnTo>
                  <a:pt x="196066" y="238710"/>
                </a:lnTo>
                <a:cubicBezTo>
                  <a:pt x="207804" y="242461"/>
                  <a:pt x="220375" y="244475"/>
                  <a:pt x="233363" y="244475"/>
                </a:cubicBezTo>
                <a:close/>
                <a:moveTo>
                  <a:pt x="261144" y="66675"/>
                </a:moveTo>
                <a:cubicBezTo>
                  <a:pt x="276477" y="66675"/>
                  <a:pt x="288925" y="79123"/>
                  <a:pt x="288925" y="94456"/>
                </a:cubicBezTo>
                <a:cubicBezTo>
                  <a:pt x="288925" y="109789"/>
                  <a:pt x="276477" y="122238"/>
                  <a:pt x="261144" y="122238"/>
                </a:cubicBezTo>
                <a:cubicBezTo>
                  <a:pt x="245811" y="122238"/>
                  <a:pt x="233363" y="109789"/>
                  <a:pt x="233363" y="94456"/>
                </a:cubicBezTo>
                <a:cubicBezTo>
                  <a:pt x="233363" y="79123"/>
                  <a:pt x="245811" y="66675"/>
                  <a:pt x="261144" y="66675"/>
                </a:cubicBezTo>
                <a:close/>
              </a:path>
            </a:pathLst>
          </a:custGeom>
          <a:solidFill>
            <a:srgbClr val="4A6FA5"/>
          </a:solidFill>
          <a:ln/>
        </p:spPr>
      </p:sp>
      <p:sp>
        <p:nvSpPr>
          <p:cNvPr id="40" name="Text 37"/>
          <p:cNvSpPr/>
          <p:nvPr/>
        </p:nvSpPr>
        <p:spPr>
          <a:xfrm>
            <a:off x="13817600" y="2032000"/>
            <a:ext cx="1524000" cy="635000"/>
          </a:xfrm>
          <a:prstGeom prst="rect">
            <a:avLst/>
          </a:prstGeom>
          <a:noFill/>
          <a:ln/>
        </p:spPr>
        <p:txBody>
          <a:bodyPr wrap="none" lIns="0" tIns="0" rIns="0" bIns="0" rtlCol="0" anchor="ctr"/>
          <a:lstStyle/>
          <a:p>
            <a:pPr algn="l">
              <a:lnSpc>
                <a:spcPct val="120000"/>
              </a:lnSpc>
            </a:pPr>
            <a:r>
              <a:rPr lang="en-US" sz="1300" b="1" dirty="0">
                <a:solidFill>
                  <a:srgbClr val="232F3E"/>
                </a:solidFill>
                <a:latin typeface="Quattrocento Sans" pitchFamily="34" charset="0"/>
                <a:ea typeface="Quattrocento Sans" pitchFamily="34" charset="-122"/>
                <a:cs typeface="Quattrocento Sans" pitchFamily="34" charset="-120"/>
              </a:rPr>
              <a:t>IAM</a:t>
            </a:r>
            <a:endParaRPr lang="en-US" sz="1300" dirty="0"/>
          </a:p>
        </p:txBody>
      </p:sp>
      <p:sp>
        <p:nvSpPr>
          <p:cNvPr id="41" name="Shape 38"/>
          <p:cNvSpPr/>
          <p:nvPr/>
        </p:nvSpPr>
        <p:spPr>
          <a:xfrm>
            <a:off x="13208000" y="2857500"/>
            <a:ext cx="2286000" cy="635000"/>
          </a:xfrm>
          <a:prstGeom prst="roundRect">
            <a:avLst>
              <a:gd name="adj" fmla="val 12000"/>
            </a:avLst>
          </a:prstGeom>
          <a:solidFill>
            <a:srgbClr val="F0F4F8"/>
          </a:solidFill>
          <a:ln w="12700">
            <a:solidFill>
              <a:srgbClr val="E2E8F0"/>
            </a:solidFill>
            <a:prstDash val="solid"/>
          </a:ln>
        </p:spPr>
      </p:sp>
      <p:sp>
        <p:nvSpPr>
          <p:cNvPr id="42" name="Shape 39"/>
          <p:cNvSpPr/>
          <p:nvPr/>
        </p:nvSpPr>
        <p:spPr>
          <a:xfrm>
            <a:off x="13360400" y="2984500"/>
            <a:ext cx="355600" cy="355600"/>
          </a:xfrm>
          <a:custGeom>
            <a:avLst/>
            <a:gdLst/>
            <a:ahLst/>
            <a:cxnLst/>
            <a:rect l="l" t="t" r="r" b="b"/>
            <a:pathLst>
              <a:path w="355600" h="355600">
                <a:moveTo>
                  <a:pt x="177800" y="0"/>
                </a:moveTo>
                <a:cubicBezTo>
                  <a:pt x="180995" y="0"/>
                  <a:pt x="184190" y="695"/>
                  <a:pt x="187107" y="2014"/>
                </a:cubicBezTo>
                <a:lnTo>
                  <a:pt x="317956" y="57507"/>
                </a:lnTo>
                <a:cubicBezTo>
                  <a:pt x="333236" y="63966"/>
                  <a:pt x="344626" y="79038"/>
                  <a:pt x="344557" y="97234"/>
                </a:cubicBezTo>
                <a:cubicBezTo>
                  <a:pt x="344210" y="166132"/>
                  <a:pt x="315873" y="292189"/>
                  <a:pt x="196205" y="349488"/>
                </a:cubicBezTo>
                <a:cubicBezTo>
                  <a:pt x="184606" y="355044"/>
                  <a:pt x="171133" y="355044"/>
                  <a:pt x="159534" y="349488"/>
                </a:cubicBezTo>
                <a:cubicBezTo>
                  <a:pt x="39797" y="292189"/>
                  <a:pt x="11529" y="166132"/>
                  <a:pt x="11182" y="97234"/>
                </a:cubicBezTo>
                <a:cubicBezTo>
                  <a:pt x="11112" y="79038"/>
                  <a:pt x="22503" y="63966"/>
                  <a:pt x="37782" y="57507"/>
                </a:cubicBezTo>
                <a:lnTo>
                  <a:pt x="168563" y="2014"/>
                </a:lnTo>
                <a:cubicBezTo>
                  <a:pt x="171480" y="695"/>
                  <a:pt x="174605" y="0"/>
                  <a:pt x="177800" y="0"/>
                </a:cubicBezTo>
                <a:close/>
                <a:moveTo>
                  <a:pt x="177800" y="46395"/>
                </a:moveTo>
                <a:lnTo>
                  <a:pt x="177800" y="308997"/>
                </a:lnTo>
                <a:cubicBezTo>
                  <a:pt x="273645" y="262602"/>
                  <a:pt x="299412" y="159812"/>
                  <a:pt x="300038" y="98276"/>
                </a:cubicBezTo>
                <a:lnTo>
                  <a:pt x="177800" y="46464"/>
                </a:lnTo>
                <a:lnTo>
                  <a:pt x="177800" y="46464"/>
                </a:lnTo>
                <a:close/>
              </a:path>
            </a:pathLst>
          </a:custGeom>
          <a:solidFill>
            <a:srgbClr val="4A6FA5"/>
          </a:solidFill>
          <a:ln/>
        </p:spPr>
      </p:sp>
      <p:sp>
        <p:nvSpPr>
          <p:cNvPr id="43" name="Text 40"/>
          <p:cNvSpPr/>
          <p:nvPr/>
        </p:nvSpPr>
        <p:spPr>
          <a:xfrm>
            <a:off x="13817600" y="2857500"/>
            <a:ext cx="1524000" cy="635000"/>
          </a:xfrm>
          <a:prstGeom prst="rect">
            <a:avLst/>
          </a:prstGeom>
          <a:noFill/>
          <a:ln/>
        </p:spPr>
        <p:txBody>
          <a:bodyPr wrap="none" lIns="0" tIns="0" rIns="0" bIns="0" rtlCol="0" anchor="ctr"/>
          <a:lstStyle/>
          <a:p>
            <a:pPr algn="l">
              <a:lnSpc>
                <a:spcPct val="120000"/>
              </a:lnSpc>
            </a:pPr>
            <a:r>
              <a:rPr lang="en-US" sz="1300" b="1" dirty="0">
                <a:solidFill>
                  <a:srgbClr val="232F3E"/>
                </a:solidFill>
                <a:latin typeface="Quattrocento Sans" pitchFamily="34" charset="0"/>
                <a:ea typeface="Quattrocento Sans" pitchFamily="34" charset="-122"/>
                <a:cs typeface="Quattrocento Sans" pitchFamily="34" charset="-120"/>
              </a:rPr>
              <a:t>Security Groups</a:t>
            </a:r>
            <a:endParaRPr lang="en-US" sz="1300" dirty="0"/>
          </a:p>
        </p:txBody>
      </p:sp>
      <p:sp>
        <p:nvSpPr>
          <p:cNvPr id="44" name="Shape 41"/>
          <p:cNvSpPr/>
          <p:nvPr/>
        </p:nvSpPr>
        <p:spPr>
          <a:xfrm>
            <a:off x="13208000" y="3683000"/>
            <a:ext cx="2286000" cy="635000"/>
          </a:xfrm>
          <a:prstGeom prst="roundRect">
            <a:avLst>
              <a:gd name="adj" fmla="val 12000"/>
            </a:avLst>
          </a:prstGeom>
          <a:solidFill>
            <a:srgbClr val="F0F4F8"/>
          </a:solidFill>
          <a:ln w="12700">
            <a:solidFill>
              <a:srgbClr val="E2E8F0"/>
            </a:solidFill>
            <a:prstDash val="solid"/>
          </a:ln>
        </p:spPr>
      </p:sp>
      <p:sp>
        <p:nvSpPr>
          <p:cNvPr id="45" name="Shape 42"/>
          <p:cNvSpPr/>
          <p:nvPr/>
        </p:nvSpPr>
        <p:spPr>
          <a:xfrm>
            <a:off x="13360400" y="3810000"/>
            <a:ext cx="355600" cy="355600"/>
          </a:xfrm>
          <a:custGeom>
            <a:avLst/>
            <a:gdLst/>
            <a:ahLst/>
            <a:cxnLst/>
            <a:rect l="l" t="t" r="r" b="b"/>
            <a:pathLst>
              <a:path w="355600" h="355600">
                <a:moveTo>
                  <a:pt x="0" y="55563"/>
                </a:moveTo>
                <a:cubicBezTo>
                  <a:pt x="0" y="37157"/>
                  <a:pt x="14932" y="22225"/>
                  <a:pt x="33337" y="22225"/>
                </a:cubicBezTo>
                <a:lnTo>
                  <a:pt x="100013" y="22225"/>
                </a:lnTo>
                <a:cubicBezTo>
                  <a:pt x="118418" y="22225"/>
                  <a:pt x="133350" y="37157"/>
                  <a:pt x="133350" y="55563"/>
                </a:cubicBezTo>
                <a:lnTo>
                  <a:pt x="133350" y="66675"/>
                </a:lnTo>
                <a:lnTo>
                  <a:pt x="222250" y="66675"/>
                </a:lnTo>
                <a:lnTo>
                  <a:pt x="222250" y="55563"/>
                </a:lnTo>
                <a:cubicBezTo>
                  <a:pt x="222250" y="37157"/>
                  <a:pt x="237182" y="22225"/>
                  <a:pt x="255587" y="22225"/>
                </a:cubicBezTo>
                <a:lnTo>
                  <a:pt x="322263" y="22225"/>
                </a:lnTo>
                <a:cubicBezTo>
                  <a:pt x="340668" y="22225"/>
                  <a:pt x="355600" y="37157"/>
                  <a:pt x="355600" y="55563"/>
                </a:cubicBezTo>
                <a:lnTo>
                  <a:pt x="355600" y="122238"/>
                </a:lnTo>
                <a:cubicBezTo>
                  <a:pt x="355600" y="140643"/>
                  <a:pt x="340668" y="155575"/>
                  <a:pt x="322263" y="155575"/>
                </a:cubicBezTo>
                <a:lnTo>
                  <a:pt x="255587" y="155575"/>
                </a:lnTo>
                <a:cubicBezTo>
                  <a:pt x="237182" y="155575"/>
                  <a:pt x="222250" y="140643"/>
                  <a:pt x="222250" y="122238"/>
                </a:cubicBezTo>
                <a:lnTo>
                  <a:pt x="222250" y="111125"/>
                </a:lnTo>
                <a:lnTo>
                  <a:pt x="133350" y="111125"/>
                </a:lnTo>
                <a:lnTo>
                  <a:pt x="133350" y="122238"/>
                </a:lnTo>
                <a:cubicBezTo>
                  <a:pt x="133350" y="127308"/>
                  <a:pt x="132169" y="132169"/>
                  <a:pt x="130155" y="136475"/>
                </a:cubicBezTo>
                <a:lnTo>
                  <a:pt x="177800" y="200025"/>
                </a:lnTo>
                <a:lnTo>
                  <a:pt x="233363" y="200025"/>
                </a:lnTo>
                <a:cubicBezTo>
                  <a:pt x="251768" y="200025"/>
                  <a:pt x="266700" y="214957"/>
                  <a:pt x="266700" y="233363"/>
                </a:cubicBezTo>
                <a:lnTo>
                  <a:pt x="266700" y="300038"/>
                </a:lnTo>
                <a:cubicBezTo>
                  <a:pt x="266700" y="318443"/>
                  <a:pt x="251768" y="333375"/>
                  <a:pt x="233363" y="333375"/>
                </a:cubicBezTo>
                <a:lnTo>
                  <a:pt x="166688" y="333375"/>
                </a:lnTo>
                <a:cubicBezTo>
                  <a:pt x="148282" y="333375"/>
                  <a:pt x="133350" y="318443"/>
                  <a:pt x="133350" y="300038"/>
                </a:cubicBezTo>
                <a:lnTo>
                  <a:pt x="133350" y="233363"/>
                </a:lnTo>
                <a:cubicBezTo>
                  <a:pt x="133350" y="228292"/>
                  <a:pt x="134531" y="223431"/>
                  <a:pt x="136545" y="219125"/>
                </a:cubicBezTo>
                <a:lnTo>
                  <a:pt x="88900" y="155575"/>
                </a:lnTo>
                <a:lnTo>
                  <a:pt x="33337" y="155575"/>
                </a:lnTo>
                <a:cubicBezTo>
                  <a:pt x="14932" y="155575"/>
                  <a:pt x="0" y="140643"/>
                  <a:pt x="0" y="122238"/>
                </a:cubicBezTo>
                <a:lnTo>
                  <a:pt x="0" y="55563"/>
                </a:lnTo>
                <a:close/>
              </a:path>
            </a:pathLst>
          </a:custGeom>
          <a:solidFill>
            <a:srgbClr val="4A6FA5"/>
          </a:solidFill>
          <a:ln/>
        </p:spPr>
      </p:sp>
      <p:sp>
        <p:nvSpPr>
          <p:cNvPr id="46" name="Text 43"/>
          <p:cNvSpPr/>
          <p:nvPr/>
        </p:nvSpPr>
        <p:spPr>
          <a:xfrm>
            <a:off x="13817600" y="3683000"/>
            <a:ext cx="1524000" cy="635000"/>
          </a:xfrm>
          <a:prstGeom prst="rect">
            <a:avLst/>
          </a:prstGeom>
          <a:noFill/>
          <a:ln/>
        </p:spPr>
        <p:txBody>
          <a:bodyPr wrap="none" lIns="0" tIns="0" rIns="0" bIns="0" rtlCol="0" anchor="ctr"/>
          <a:lstStyle/>
          <a:p>
            <a:pPr algn="l">
              <a:lnSpc>
                <a:spcPct val="120000"/>
              </a:lnSpc>
            </a:pPr>
            <a:r>
              <a:rPr lang="en-US" sz="1300" b="1" dirty="0">
                <a:solidFill>
                  <a:srgbClr val="232F3E"/>
                </a:solidFill>
                <a:latin typeface="Quattrocento Sans" pitchFamily="34" charset="0"/>
                <a:ea typeface="Quattrocento Sans" pitchFamily="34" charset="-122"/>
                <a:cs typeface="Quattrocento Sans" pitchFamily="34" charset="-120"/>
              </a:rPr>
              <a:t>VPC</a:t>
            </a:r>
            <a:endParaRPr lang="en-US" sz="1300" dirty="0"/>
          </a:p>
        </p:txBody>
      </p:sp>
      <p:sp>
        <p:nvSpPr>
          <p:cNvPr id="47" name="Shape 44"/>
          <p:cNvSpPr/>
          <p:nvPr/>
        </p:nvSpPr>
        <p:spPr>
          <a:xfrm>
            <a:off x="762000" y="6477000"/>
            <a:ext cx="14732000" cy="1778000"/>
          </a:xfrm>
          <a:prstGeom prst="roundRect">
            <a:avLst>
              <a:gd name="adj" fmla="val 5000"/>
            </a:avLst>
          </a:prstGeom>
          <a:solidFill>
            <a:srgbClr val="F0F4F8"/>
          </a:solidFill>
          <a:ln/>
        </p:spPr>
      </p:sp>
      <p:sp>
        <p:nvSpPr>
          <p:cNvPr id="48" name="Text 45"/>
          <p:cNvSpPr/>
          <p:nvPr/>
        </p:nvSpPr>
        <p:spPr>
          <a:xfrm>
            <a:off x="1079500" y="6604000"/>
            <a:ext cx="2540000" cy="317500"/>
          </a:xfrm>
          <a:prstGeom prst="rect">
            <a:avLst/>
          </a:prstGeom>
          <a:noFill/>
          <a:ln/>
        </p:spPr>
        <p:txBody>
          <a:bodyPr wrap="none" lIns="0" tIns="0" rIns="0" bIns="0" rtlCol="0" anchor="ctr"/>
          <a:lstStyle/>
          <a:p>
            <a:pPr algn="l">
              <a:lnSpc>
                <a:spcPct val="120000"/>
              </a:lnSpc>
            </a:pPr>
            <a:r>
              <a:rPr lang="en-US" sz="1400" b="1" dirty="0">
                <a:solidFill>
                  <a:srgbClr val="232F3E"/>
                </a:solidFill>
                <a:latin typeface="Liter" pitchFamily="34" charset="0"/>
                <a:ea typeface="Liter" pitchFamily="34" charset="-122"/>
                <a:cs typeface="Liter" pitchFamily="34" charset="-120"/>
              </a:rPr>
              <a:t>Architecture Highlights</a:t>
            </a:r>
            <a:endParaRPr lang="en-US" sz="1400" dirty="0"/>
          </a:p>
        </p:txBody>
      </p:sp>
      <p:sp>
        <p:nvSpPr>
          <p:cNvPr id="49" name="Text 46"/>
          <p:cNvSpPr/>
          <p:nvPr/>
        </p:nvSpPr>
        <p:spPr>
          <a:xfrm>
            <a:off x="1079500" y="6985000"/>
            <a:ext cx="13970000" cy="1079500"/>
          </a:xfrm>
          <a:prstGeom prst="rect">
            <a:avLst/>
          </a:prstGeom>
          <a:noFill/>
          <a:ln/>
        </p:spPr>
        <p:txBody>
          <a:bodyPr wrap="square" lIns="0" tIns="0" rIns="0" bIns="0" rtlCol="0" anchor="t"/>
          <a:lstStyle/>
          <a:p>
            <a:pPr algn="l">
              <a:lnSpc>
                <a:spcPct val="160000"/>
              </a:lnSpc>
            </a:pPr>
            <a:r>
              <a:rPr lang="en-US" sz="14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Load Balancer distributes traffic evenly across both EC2 instances for high availability</a:t>
            </a:r>
            <a:endParaRPr lang="en-US" sz="1400" dirty="0"/>
          </a:p>
          <a:p>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Both application servers connect to a single centralized RDS MySQL database</a:t>
            </a:r>
            <a:endParaRPr lang="en-US" sz="1400" dirty="0"/>
          </a:p>
          <a:p>
            <a:pPr algn="l">
              <a:lnSpc>
                <a:spcPct val="160000"/>
              </a:lnSpc>
            </a:pPr>
            <a:r>
              <a:rPr lang="en-US" sz="1400" dirty="0">
                <a:solidFill>
                  <a:srgbClr val="27AE60"/>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Security Groups and VPC provide network isolation and firewall protection</a:t>
            </a:r>
            <a:endParaRPr lang="en-US" sz="1400" dirty="0"/>
          </a:p>
        </p:txBody>
      </p:sp>
      <p:sp>
        <p:nvSpPr>
          <p:cNvPr id="50" name="Text 47"/>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06</a:t>
            </a:r>
            <a:endParaRPr lang="en-US" sz="1400" dirty="0"/>
          </a:p>
        </p:txBody>
      </p:sp>
    </p:spTree>
  </p:cSld>
  <p:clrMapOvr>
    <a:masterClrMapping/>
  </p:clrMapOvr>
  <p:transition>
    <p:fade/>
    <p:spd val="med"/>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0" y="457200"/>
            <a:ext cx="2705100" cy="50800"/>
          </a:xfrm>
          <a:prstGeom prst="rect">
            <a:avLst/>
          </a:prstGeom>
          <a:solidFill>
            <a:srgbClr val="FF9900"/>
          </a:solidFill>
          <a:ln/>
        </p:spPr>
      </p:sp>
      <p:sp>
        <p:nvSpPr>
          <p:cNvPr id="5" name="Text 2"/>
          <p:cNvSpPr/>
          <p:nvPr/>
        </p:nvSpPr>
        <p:spPr>
          <a:xfrm>
            <a:off x="762000" y="0"/>
            <a:ext cx="14732000" cy="4445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TECH STACK</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AWS SERVICES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EC2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RDS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SECURITY</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TECHNOLOGY STACK</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651000"/>
            <a:ext cx="4572000" cy="3048000"/>
          </a:xfrm>
          <a:prstGeom prst="roundRect">
            <a:avLst>
              <a:gd name="adj" fmla="val 8000"/>
            </a:avLst>
          </a:prstGeom>
          <a:solidFill>
            <a:srgbClr val="F0F4F8"/>
          </a:solidFill>
          <a:ln/>
        </p:spPr>
      </p:sp>
      <p:sp>
        <p:nvSpPr>
          <p:cNvPr id="9" name="Shape 6"/>
          <p:cNvSpPr/>
          <p:nvPr/>
        </p:nvSpPr>
        <p:spPr>
          <a:xfrm>
            <a:off x="762000" y="1651000"/>
            <a:ext cx="4572000" cy="571500"/>
          </a:xfrm>
          <a:prstGeom prst="roundRect">
            <a:avLst>
              <a:gd name="adj" fmla="val 8000"/>
            </a:avLst>
          </a:prstGeom>
          <a:solidFill>
            <a:srgbClr val="FF9900"/>
          </a:solidFill>
          <a:ln/>
        </p:spPr>
      </p:sp>
      <p:sp>
        <p:nvSpPr>
          <p:cNvPr id="10" name="Text 7"/>
          <p:cNvSpPr/>
          <p:nvPr/>
        </p:nvSpPr>
        <p:spPr>
          <a:xfrm>
            <a:off x="762000" y="1651000"/>
            <a:ext cx="4572000" cy="571500"/>
          </a:xfrm>
          <a:prstGeom prst="rect">
            <a:avLst/>
          </a:prstGeom>
          <a:noFill/>
          <a:ln/>
        </p:spPr>
        <p:txBody>
          <a:bodyPr wrap="none" lIns="0" tIns="0" rIns="0" bIns="0" rtlCol="0" anchor="ctr"/>
          <a:lstStyle/>
          <a:p>
            <a:pPr algn="ctr">
              <a:lnSpc>
                <a:spcPct val="120000"/>
              </a:lnSpc>
            </a:pPr>
            <a:r>
              <a:rPr lang="en-US" sz="1600" b="1" dirty="0">
                <a:solidFill>
                  <a:srgbClr val="FFFFFF"/>
                </a:solidFill>
                <a:latin typeface="Liter" pitchFamily="34" charset="0"/>
                <a:ea typeface="Liter" pitchFamily="34" charset="-122"/>
                <a:cs typeface="Liter" pitchFamily="34" charset="-120"/>
              </a:rPr>
              <a:t>FRONTEND</a:t>
            </a:r>
            <a:endParaRPr lang="en-US" sz="1600" dirty="0"/>
          </a:p>
        </p:txBody>
      </p:sp>
      <p:sp>
        <p:nvSpPr>
          <p:cNvPr id="11" name="Shape 8"/>
          <p:cNvSpPr/>
          <p:nvPr/>
        </p:nvSpPr>
        <p:spPr>
          <a:xfrm>
            <a:off x="1079500" y="2476500"/>
            <a:ext cx="381000" cy="381000"/>
          </a:xfrm>
          <a:custGeom>
            <a:avLst/>
            <a:gdLst/>
            <a:ahLst/>
            <a:cxnLst/>
            <a:rect l="l" t="t" r="r" b="b"/>
            <a:pathLst>
              <a:path w="381000" h="381000">
                <a:moveTo>
                  <a:pt x="0" y="23812"/>
                </a:moveTo>
                <a:lnTo>
                  <a:pt x="34627" y="318343"/>
                </a:lnTo>
                <a:lnTo>
                  <a:pt x="190004" y="357188"/>
                </a:lnTo>
                <a:lnTo>
                  <a:pt x="346373" y="318343"/>
                </a:lnTo>
                <a:lnTo>
                  <a:pt x="381000" y="23812"/>
                </a:lnTo>
                <a:lnTo>
                  <a:pt x="0" y="23812"/>
                </a:lnTo>
                <a:close/>
                <a:moveTo>
                  <a:pt x="305792" y="118988"/>
                </a:moveTo>
                <a:lnTo>
                  <a:pt x="123428" y="118988"/>
                </a:lnTo>
                <a:lnTo>
                  <a:pt x="127496" y="155749"/>
                </a:lnTo>
                <a:lnTo>
                  <a:pt x="301724" y="155749"/>
                </a:lnTo>
                <a:lnTo>
                  <a:pt x="288230" y="266179"/>
                </a:lnTo>
                <a:lnTo>
                  <a:pt x="191095" y="286271"/>
                </a:lnTo>
                <a:lnTo>
                  <a:pt x="191095" y="286494"/>
                </a:lnTo>
                <a:lnTo>
                  <a:pt x="190004" y="286494"/>
                </a:lnTo>
                <a:lnTo>
                  <a:pt x="92075" y="266179"/>
                </a:lnTo>
                <a:lnTo>
                  <a:pt x="86122" y="209773"/>
                </a:lnTo>
                <a:lnTo>
                  <a:pt x="133449" y="209773"/>
                </a:lnTo>
                <a:lnTo>
                  <a:pt x="136922" y="238125"/>
                </a:lnTo>
                <a:lnTo>
                  <a:pt x="190004" y="248915"/>
                </a:lnTo>
                <a:lnTo>
                  <a:pt x="243284" y="238125"/>
                </a:lnTo>
                <a:lnTo>
                  <a:pt x="249237" y="191839"/>
                </a:lnTo>
                <a:lnTo>
                  <a:pt x="83641" y="191839"/>
                </a:lnTo>
                <a:lnTo>
                  <a:pt x="70941" y="83493"/>
                </a:lnTo>
                <a:lnTo>
                  <a:pt x="310158" y="83493"/>
                </a:lnTo>
                <a:lnTo>
                  <a:pt x="305792" y="118988"/>
                </a:lnTo>
                <a:close/>
              </a:path>
            </a:pathLst>
          </a:custGeom>
          <a:solidFill>
            <a:srgbClr val="E34F26"/>
          </a:solidFill>
          <a:ln/>
        </p:spPr>
      </p:sp>
      <p:sp>
        <p:nvSpPr>
          <p:cNvPr id="12" name="Text 9"/>
          <p:cNvSpPr/>
          <p:nvPr/>
        </p:nvSpPr>
        <p:spPr>
          <a:xfrm>
            <a:off x="1587500" y="2476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HTML5</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Structure &amp; Content</a:t>
            </a:r>
            <a:endParaRPr lang="en-US" sz="1600" dirty="0"/>
          </a:p>
        </p:txBody>
      </p:sp>
      <p:sp>
        <p:nvSpPr>
          <p:cNvPr id="13" name="Shape 10"/>
          <p:cNvSpPr/>
          <p:nvPr/>
        </p:nvSpPr>
        <p:spPr>
          <a:xfrm>
            <a:off x="1079500" y="2984500"/>
            <a:ext cx="381000" cy="381000"/>
          </a:xfrm>
          <a:custGeom>
            <a:avLst/>
            <a:gdLst/>
            <a:ahLst/>
            <a:cxnLst/>
            <a:rect l="l" t="t" r="r" b="b"/>
            <a:pathLst>
              <a:path w="381000" h="381000">
                <a:moveTo>
                  <a:pt x="0" y="23812"/>
                </a:moveTo>
                <a:lnTo>
                  <a:pt x="34627" y="318343"/>
                </a:lnTo>
                <a:lnTo>
                  <a:pt x="190500" y="357188"/>
                </a:lnTo>
                <a:lnTo>
                  <a:pt x="346373" y="318343"/>
                </a:lnTo>
                <a:lnTo>
                  <a:pt x="381000" y="23812"/>
                </a:lnTo>
                <a:lnTo>
                  <a:pt x="0" y="23812"/>
                </a:lnTo>
                <a:close/>
                <a:moveTo>
                  <a:pt x="310654" y="83344"/>
                </a:moveTo>
                <a:lnTo>
                  <a:pt x="305891" y="118542"/>
                </a:lnTo>
                <a:lnTo>
                  <a:pt x="191492" y="155228"/>
                </a:lnTo>
                <a:lnTo>
                  <a:pt x="191195" y="155302"/>
                </a:lnTo>
                <a:lnTo>
                  <a:pt x="301823" y="155302"/>
                </a:lnTo>
                <a:lnTo>
                  <a:pt x="289123" y="264393"/>
                </a:lnTo>
                <a:lnTo>
                  <a:pt x="191691" y="285750"/>
                </a:lnTo>
                <a:lnTo>
                  <a:pt x="93662" y="264021"/>
                </a:lnTo>
                <a:lnTo>
                  <a:pt x="87313" y="209029"/>
                </a:lnTo>
                <a:lnTo>
                  <a:pt x="135830" y="209029"/>
                </a:lnTo>
                <a:lnTo>
                  <a:pt x="139005" y="237530"/>
                </a:lnTo>
                <a:lnTo>
                  <a:pt x="191195" y="247427"/>
                </a:lnTo>
                <a:lnTo>
                  <a:pt x="245467" y="235967"/>
                </a:lnTo>
                <a:lnTo>
                  <a:pt x="249138" y="190128"/>
                </a:lnTo>
                <a:lnTo>
                  <a:pt x="84137" y="189756"/>
                </a:lnTo>
                <a:lnTo>
                  <a:pt x="84137" y="189681"/>
                </a:lnTo>
                <a:lnTo>
                  <a:pt x="83939" y="189756"/>
                </a:lnTo>
                <a:lnTo>
                  <a:pt x="80367" y="155302"/>
                </a:lnTo>
                <a:lnTo>
                  <a:pt x="191591" y="120551"/>
                </a:lnTo>
                <a:lnTo>
                  <a:pt x="198041" y="118542"/>
                </a:lnTo>
                <a:lnTo>
                  <a:pt x="76101" y="118542"/>
                </a:lnTo>
                <a:lnTo>
                  <a:pt x="70346" y="83344"/>
                </a:lnTo>
                <a:lnTo>
                  <a:pt x="310654" y="83344"/>
                </a:lnTo>
                <a:close/>
              </a:path>
            </a:pathLst>
          </a:custGeom>
          <a:solidFill>
            <a:srgbClr val="1572B6"/>
          </a:solidFill>
          <a:ln/>
        </p:spPr>
      </p:sp>
      <p:sp>
        <p:nvSpPr>
          <p:cNvPr id="14" name="Text 11"/>
          <p:cNvSpPr/>
          <p:nvPr/>
        </p:nvSpPr>
        <p:spPr>
          <a:xfrm>
            <a:off x="1587500" y="2984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CSS3</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Styling &amp; Layout</a:t>
            </a:r>
            <a:endParaRPr lang="en-US" sz="1600" dirty="0"/>
          </a:p>
        </p:txBody>
      </p:sp>
      <p:sp>
        <p:nvSpPr>
          <p:cNvPr id="15" name="Shape 12"/>
          <p:cNvSpPr/>
          <p:nvPr/>
        </p:nvSpPr>
        <p:spPr>
          <a:xfrm>
            <a:off x="1079500" y="3492500"/>
            <a:ext cx="381000" cy="381000"/>
          </a:xfrm>
          <a:custGeom>
            <a:avLst/>
            <a:gdLst/>
            <a:ahLst/>
            <a:cxnLst/>
            <a:rect l="l" t="t" r="r" b="b"/>
            <a:pathLst>
              <a:path w="381000" h="381000">
                <a:moveTo>
                  <a:pt x="0" y="23812"/>
                </a:moveTo>
                <a:lnTo>
                  <a:pt x="0" y="357188"/>
                </a:lnTo>
                <a:lnTo>
                  <a:pt x="381000" y="357188"/>
                </a:lnTo>
                <a:lnTo>
                  <a:pt x="381000" y="23812"/>
                </a:lnTo>
                <a:lnTo>
                  <a:pt x="0" y="23812"/>
                </a:lnTo>
                <a:close/>
                <a:moveTo>
                  <a:pt x="207339" y="283815"/>
                </a:moveTo>
                <a:cubicBezTo>
                  <a:pt x="207339" y="316260"/>
                  <a:pt x="185567" y="331068"/>
                  <a:pt x="153846" y="331068"/>
                </a:cubicBezTo>
                <a:cubicBezTo>
                  <a:pt x="125186" y="331068"/>
                  <a:pt x="108602" y="318120"/>
                  <a:pt x="100098" y="302419"/>
                </a:cubicBezTo>
                <a:lnTo>
                  <a:pt x="129268" y="287015"/>
                </a:lnTo>
                <a:cubicBezTo>
                  <a:pt x="134881" y="295721"/>
                  <a:pt x="139983" y="303088"/>
                  <a:pt x="152315" y="303088"/>
                </a:cubicBezTo>
                <a:cubicBezTo>
                  <a:pt x="164051" y="303088"/>
                  <a:pt x="171535" y="299070"/>
                  <a:pt x="171535" y="283369"/>
                </a:cubicBezTo>
                <a:lnTo>
                  <a:pt x="171535" y="176882"/>
                </a:lnTo>
                <a:lnTo>
                  <a:pt x="207339" y="176882"/>
                </a:lnTo>
                <a:lnTo>
                  <a:pt x="207339" y="283815"/>
                </a:lnTo>
                <a:close/>
                <a:moveTo>
                  <a:pt x="292043" y="331068"/>
                </a:moveTo>
                <a:cubicBezTo>
                  <a:pt x="258791" y="331068"/>
                  <a:pt x="237275" y="317227"/>
                  <a:pt x="226814" y="299070"/>
                </a:cubicBezTo>
                <a:lnTo>
                  <a:pt x="255984" y="284336"/>
                </a:lnTo>
                <a:cubicBezTo>
                  <a:pt x="263638" y="295275"/>
                  <a:pt x="273674" y="303386"/>
                  <a:pt x="291278" y="303386"/>
                </a:cubicBezTo>
                <a:cubicBezTo>
                  <a:pt x="306076" y="303386"/>
                  <a:pt x="315601" y="296912"/>
                  <a:pt x="315601" y="287908"/>
                </a:cubicBezTo>
                <a:cubicBezTo>
                  <a:pt x="315601" y="277192"/>
                  <a:pt x="305906" y="273397"/>
                  <a:pt x="289492" y="267072"/>
                </a:cubicBezTo>
                <a:lnTo>
                  <a:pt x="280562" y="263723"/>
                </a:lnTo>
                <a:cubicBezTo>
                  <a:pt x="254709" y="254124"/>
                  <a:pt x="237615" y="241995"/>
                  <a:pt x="237615" y="216471"/>
                </a:cubicBezTo>
                <a:cubicBezTo>
                  <a:pt x="237615" y="192956"/>
                  <a:pt x="258110" y="175096"/>
                  <a:pt x="290002" y="175096"/>
                </a:cubicBezTo>
                <a:cubicBezTo>
                  <a:pt x="312794" y="175096"/>
                  <a:pt x="329123" y="182017"/>
                  <a:pt x="340859" y="200174"/>
                </a:cubicBezTo>
                <a:lnTo>
                  <a:pt x="312964" y="215801"/>
                </a:lnTo>
                <a:cubicBezTo>
                  <a:pt x="306841" y="206201"/>
                  <a:pt x="300208" y="202406"/>
                  <a:pt x="289917" y="202406"/>
                </a:cubicBezTo>
                <a:cubicBezTo>
                  <a:pt x="279457" y="202406"/>
                  <a:pt x="272823" y="208211"/>
                  <a:pt x="272823" y="215801"/>
                </a:cubicBezTo>
                <a:cubicBezTo>
                  <a:pt x="272823" y="225177"/>
                  <a:pt x="279457" y="228972"/>
                  <a:pt x="294850" y="234851"/>
                </a:cubicBezTo>
                <a:lnTo>
                  <a:pt x="303779" y="238199"/>
                </a:lnTo>
                <a:cubicBezTo>
                  <a:pt x="334225" y="249585"/>
                  <a:pt x="351319" y="261268"/>
                  <a:pt x="351319" y="287462"/>
                </a:cubicBezTo>
                <a:cubicBezTo>
                  <a:pt x="351319" y="315590"/>
                  <a:pt x="325976" y="331068"/>
                  <a:pt x="292043" y="331068"/>
                </a:cubicBezTo>
                <a:close/>
              </a:path>
            </a:pathLst>
          </a:custGeom>
          <a:solidFill>
            <a:srgbClr val="F7DF1E"/>
          </a:solidFill>
          <a:ln/>
        </p:spPr>
      </p:sp>
      <p:sp>
        <p:nvSpPr>
          <p:cNvPr id="16" name="Text 13"/>
          <p:cNvSpPr/>
          <p:nvPr/>
        </p:nvSpPr>
        <p:spPr>
          <a:xfrm>
            <a:off x="1587500" y="3492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JavaScript</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Interactivity</a:t>
            </a:r>
            <a:endParaRPr lang="en-US" sz="1600" dirty="0"/>
          </a:p>
        </p:txBody>
      </p:sp>
      <p:sp>
        <p:nvSpPr>
          <p:cNvPr id="17" name="Shape 14"/>
          <p:cNvSpPr/>
          <p:nvPr/>
        </p:nvSpPr>
        <p:spPr>
          <a:xfrm>
            <a:off x="1079500" y="4000500"/>
            <a:ext cx="381000" cy="381000"/>
          </a:xfrm>
          <a:custGeom>
            <a:avLst/>
            <a:gdLst/>
            <a:ahLst/>
            <a:cxnLst/>
            <a:rect l="l" t="t" r="r" b="b"/>
            <a:pathLst>
              <a:path w="381000" h="381000">
                <a:moveTo>
                  <a:pt x="38100" y="71438"/>
                </a:moveTo>
                <a:cubicBezTo>
                  <a:pt x="38100" y="45169"/>
                  <a:pt x="55185" y="23812"/>
                  <a:pt x="76200" y="23812"/>
                </a:cubicBezTo>
                <a:lnTo>
                  <a:pt x="304800" y="23812"/>
                </a:lnTo>
                <a:cubicBezTo>
                  <a:pt x="325815" y="23812"/>
                  <a:pt x="342900" y="45169"/>
                  <a:pt x="342900" y="71438"/>
                </a:cubicBezTo>
                <a:lnTo>
                  <a:pt x="342900" y="250031"/>
                </a:lnTo>
                <a:lnTo>
                  <a:pt x="304800" y="250031"/>
                </a:lnTo>
                <a:lnTo>
                  <a:pt x="304800" y="71438"/>
                </a:lnTo>
                <a:lnTo>
                  <a:pt x="76200" y="71438"/>
                </a:lnTo>
                <a:lnTo>
                  <a:pt x="76200" y="250031"/>
                </a:lnTo>
                <a:lnTo>
                  <a:pt x="38100" y="250031"/>
                </a:lnTo>
                <a:lnTo>
                  <a:pt x="38100" y="71438"/>
                </a:lnTo>
                <a:close/>
                <a:moveTo>
                  <a:pt x="0" y="300038"/>
                </a:moveTo>
                <a:cubicBezTo>
                  <a:pt x="0" y="292150"/>
                  <a:pt x="5120" y="285750"/>
                  <a:pt x="11430" y="285750"/>
                </a:cubicBezTo>
                <a:lnTo>
                  <a:pt x="369570" y="285750"/>
                </a:lnTo>
                <a:cubicBezTo>
                  <a:pt x="375880" y="285750"/>
                  <a:pt x="381000" y="292150"/>
                  <a:pt x="381000" y="300038"/>
                </a:cubicBezTo>
                <a:cubicBezTo>
                  <a:pt x="381000" y="331589"/>
                  <a:pt x="360521" y="357188"/>
                  <a:pt x="335280" y="357188"/>
                </a:cubicBezTo>
                <a:lnTo>
                  <a:pt x="45720" y="357188"/>
                </a:lnTo>
                <a:cubicBezTo>
                  <a:pt x="20479" y="357188"/>
                  <a:pt x="0" y="331589"/>
                  <a:pt x="0" y="300038"/>
                </a:cubicBezTo>
                <a:close/>
                <a:moveTo>
                  <a:pt x="167283" y="155525"/>
                </a:moveTo>
                <a:lnTo>
                  <a:pt x="148828" y="178594"/>
                </a:lnTo>
                <a:lnTo>
                  <a:pt x="167283" y="201662"/>
                </a:lnTo>
                <a:cubicBezTo>
                  <a:pt x="172879" y="208657"/>
                  <a:pt x="172879" y="219968"/>
                  <a:pt x="167283" y="226888"/>
                </a:cubicBezTo>
                <a:cubicBezTo>
                  <a:pt x="161687" y="233809"/>
                  <a:pt x="152638" y="233883"/>
                  <a:pt x="147102" y="226888"/>
                </a:cubicBezTo>
                <a:lnTo>
                  <a:pt x="118527" y="191170"/>
                </a:lnTo>
                <a:cubicBezTo>
                  <a:pt x="112931" y="184175"/>
                  <a:pt x="112931" y="172864"/>
                  <a:pt x="118527" y="165943"/>
                </a:cubicBezTo>
                <a:lnTo>
                  <a:pt x="147102" y="130225"/>
                </a:lnTo>
                <a:cubicBezTo>
                  <a:pt x="152698" y="123230"/>
                  <a:pt x="161746" y="123230"/>
                  <a:pt x="167283" y="130225"/>
                </a:cubicBezTo>
                <a:cubicBezTo>
                  <a:pt x="172819" y="137220"/>
                  <a:pt x="172879" y="148530"/>
                  <a:pt x="167283" y="155451"/>
                </a:cubicBezTo>
                <a:close/>
                <a:moveTo>
                  <a:pt x="233958" y="130225"/>
                </a:moveTo>
                <a:lnTo>
                  <a:pt x="262533" y="165943"/>
                </a:lnTo>
                <a:cubicBezTo>
                  <a:pt x="268129" y="172938"/>
                  <a:pt x="268129" y="184249"/>
                  <a:pt x="262533" y="191170"/>
                </a:cubicBezTo>
                <a:lnTo>
                  <a:pt x="233958" y="226888"/>
                </a:lnTo>
                <a:cubicBezTo>
                  <a:pt x="228362" y="233883"/>
                  <a:pt x="219313" y="233883"/>
                  <a:pt x="213777" y="226888"/>
                </a:cubicBezTo>
                <a:cubicBezTo>
                  <a:pt x="208240" y="219894"/>
                  <a:pt x="208181" y="208583"/>
                  <a:pt x="213777" y="201662"/>
                </a:cubicBezTo>
                <a:lnTo>
                  <a:pt x="232231" y="178594"/>
                </a:lnTo>
                <a:lnTo>
                  <a:pt x="213777" y="155525"/>
                </a:lnTo>
                <a:cubicBezTo>
                  <a:pt x="208181" y="148530"/>
                  <a:pt x="208181" y="137220"/>
                  <a:pt x="213777" y="130299"/>
                </a:cubicBezTo>
                <a:cubicBezTo>
                  <a:pt x="219373" y="123379"/>
                  <a:pt x="228421" y="123304"/>
                  <a:pt x="233958" y="130299"/>
                </a:cubicBezTo>
                <a:close/>
              </a:path>
            </a:pathLst>
          </a:custGeom>
          <a:solidFill>
            <a:srgbClr val="4A6FA5"/>
          </a:solidFill>
          <a:ln/>
        </p:spPr>
      </p:sp>
      <p:sp>
        <p:nvSpPr>
          <p:cNvPr id="18" name="Text 15"/>
          <p:cNvSpPr/>
          <p:nvPr/>
        </p:nvSpPr>
        <p:spPr>
          <a:xfrm>
            <a:off x="1587500" y="4000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Responsive UI</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All Devices</a:t>
            </a:r>
            <a:endParaRPr lang="en-US" sz="1600" dirty="0"/>
          </a:p>
        </p:txBody>
      </p:sp>
      <p:sp>
        <p:nvSpPr>
          <p:cNvPr id="19" name="Shape 16"/>
          <p:cNvSpPr/>
          <p:nvPr/>
        </p:nvSpPr>
        <p:spPr>
          <a:xfrm>
            <a:off x="5588000" y="1651000"/>
            <a:ext cx="4572000" cy="3048000"/>
          </a:xfrm>
          <a:prstGeom prst="roundRect">
            <a:avLst>
              <a:gd name="adj" fmla="val 8000"/>
            </a:avLst>
          </a:prstGeom>
          <a:solidFill>
            <a:srgbClr val="F0F4F8"/>
          </a:solidFill>
          <a:ln/>
        </p:spPr>
      </p:sp>
      <p:sp>
        <p:nvSpPr>
          <p:cNvPr id="20" name="Shape 17"/>
          <p:cNvSpPr/>
          <p:nvPr/>
        </p:nvSpPr>
        <p:spPr>
          <a:xfrm>
            <a:off x="5588000" y="1651000"/>
            <a:ext cx="4572000" cy="571500"/>
          </a:xfrm>
          <a:prstGeom prst="roundRect">
            <a:avLst>
              <a:gd name="adj" fmla="val 8000"/>
            </a:avLst>
          </a:prstGeom>
          <a:solidFill>
            <a:srgbClr val="232F3E"/>
          </a:solidFill>
          <a:ln/>
        </p:spPr>
      </p:sp>
      <p:sp>
        <p:nvSpPr>
          <p:cNvPr id="21" name="Text 18"/>
          <p:cNvSpPr/>
          <p:nvPr/>
        </p:nvSpPr>
        <p:spPr>
          <a:xfrm>
            <a:off x="5588000" y="1651000"/>
            <a:ext cx="4572000" cy="571500"/>
          </a:xfrm>
          <a:prstGeom prst="rect">
            <a:avLst/>
          </a:prstGeom>
          <a:noFill/>
          <a:ln/>
        </p:spPr>
        <p:txBody>
          <a:bodyPr wrap="none" lIns="0" tIns="0" rIns="0" bIns="0" rtlCol="0" anchor="ctr"/>
          <a:lstStyle/>
          <a:p>
            <a:pPr algn="ctr">
              <a:lnSpc>
                <a:spcPct val="120000"/>
              </a:lnSpc>
            </a:pPr>
            <a:r>
              <a:rPr lang="en-US" sz="1600" b="1" dirty="0">
                <a:solidFill>
                  <a:srgbClr val="FFFFFF"/>
                </a:solidFill>
                <a:latin typeface="Liter" pitchFamily="34" charset="0"/>
                <a:ea typeface="Liter" pitchFamily="34" charset="-122"/>
                <a:cs typeface="Liter" pitchFamily="34" charset="-120"/>
              </a:rPr>
              <a:t>BACKEND</a:t>
            </a:r>
            <a:endParaRPr lang="en-US" sz="1600" dirty="0"/>
          </a:p>
        </p:txBody>
      </p:sp>
      <p:sp>
        <p:nvSpPr>
          <p:cNvPr id="22" name="Shape 19"/>
          <p:cNvSpPr/>
          <p:nvPr/>
        </p:nvSpPr>
        <p:spPr>
          <a:xfrm>
            <a:off x="5905500" y="2476500"/>
            <a:ext cx="381000" cy="381000"/>
          </a:xfrm>
          <a:custGeom>
            <a:avLst/>
            <a:gdLst/>
            <a:ahLst/>
            <a:cxnLst/>
            <a:rect l="l" t="t" r="r" b="b"/>
            <a:pathLst>
              <a:path w="381000" h="381000">
                <a:moveTo>
                  <a:pt x="374026" y="149200"/>
                </a:moveTo>
                <a:cubicBezTo>
                  <a:pt x="367478" y="126206"/>
                  <a:pt x="355061" y="108868"/>
                  <a:pt x="328613" y="108868"/>
                </a:cubicBezTo>
                <a:lnTo>
                  <a:pt x="294510" y="108868"/>
                </a:lnTo>
                <a:lnTo>
                  <a:pt x="294510" y="144140"/>
                </a:lnTo>
                <a:cubicBezTo>
                  <a:pt x="294510" y="171524"/>
                  <a:pt x="267976" y="194593"/>
                  <a:pt x="237700" y="194593"/>
                </a:cubicBezTo>
                <a:lnTo>
                  <a:pt x="146872" y="194593"/>
                </a:lnTo>
                <a:cubicBezTo>
                  <a:pt x="122039" y="194593"/>
                  <a:pt x="101458" y="213196"/>
                  <a:pt x="101458" y="235000"/>
                </a:cubicBezTo>
                <a:lnTo>
                  <a:pt x="101458" y="310753"/>
                </a:lnTo>
                <a:cubicBezTo>
                  <a:pt x="101458" y="332333"/>
                  <a:pt x="122890" y="344984"/>
                  <a:pt x="146872" y="351160"/>
                </a:cubicBezTo>
                <a:cubicBezTo>
                  <a:pt x="175617" y="358527"/>
                  <a:pt x="203257" y="359866"/>
                  <a:pt x="237700" y="351160"/>
                </a:cubicBezTo>
                <a:cubicBezTo>
                  <a:pt x="260577" y="345356"/>
                  <a:pt x="283114" y="333673"/>
                  <a:pt x="283114" y="310753"/>
                </a:cubicBezTo>
                <a:lnTo>
                  <a:pt x="283114" y="280467"/>
                </a:lnTo>
                <a:lnTo>
                  <a:pt x="192371" y="280467"/>
                </a:lnTo>
                <a:lnTo>
                  <a:pt x="192371" y="270346"/>
                </a:lnTo>
                <a:lnTo>
                  <a:pt x="328612" y="270346"/>
                </a:lnTo>
                <a:cubicBezTo>
                  <a:pt x="355061" y="270346"/>
                  <a:pt x="364842" y="254198"/>
                  <a:pt x="374026" y="230014"/>
                </a:cubicBezTo>
                <a:cubicBezTo>
                  <a:pt x="383551" y="205085"/>
                  <a:pt x="383126" y="181124"/>
                  <a:pt x="374026" y="149200"/>
                </a:cubicBezTo>
                <a:close/>
                <a:moveTo>
                  <a:pt x="243398" y="330919"/>
                </a:moveTo>
                <a:cubicBezTo>
                  <a:pt x="236925" y="331317"/>
                  <a:pt x="230740" y="328520"/>
                  <a:pt x="227366" y="323671"/>
                </a:cubicBezTo>
                <a:cubicBezTo>
                  <a:pt x="223991" y="318822"/>
                  <a:pt x="223991" y="312730"/>
                  <a:pt x="227366" y="307881"/>
                </a:cubicBezTo>
                <a:cubicBezTo>
                  <a:pt x="230740" y="303032"/>
                  <a:pt x="236925" y="300236"/>
                  <a:pt x="243398" y="300633"/>
                </a:cubicBezTo>
                <a:cubicBezTo>
                  <a:pt x="249870" y="300236"/>
                  <a:pt x="256055" y="303032"/>
                  <a:pt x="259430" y="307881"/>
                </a:cubicBezTo>
                <a:cubicBezTo>
                  <a:pt x="262804" y="312730"/>
                  <a:pt x="262804" y="318822"/>
                  <a:pt x="259430" y="323671"/>
                </a:cubicBezTo>
                <a:cubicBezTo>
                  <a:pt x="256055" y="328520"/>
                  <a:pt x="249870" y="331317"/>
                  <a:pt x="243398" y="330919"/>
                </a:cubicBezTo>
                <a:close/>
                <a:moveTo>
                  <a:pt x="142705" y="184621"/>
                </a:moveTo>
                <a:lnTo>
                  <a:pt x="233533" y="184621"/>
                </a:lnTo>
                <a:cubicBezTo>
                  <a:pt x="258791" y="184621"/>
                  <a:pt x="278946" y="166390"/>
                  <a:pt x="278946" y="144214"/>
                </a:cubicBezTo>
                <a:lnTo>
                  <a:pt x="278946" y="68387"/>
                </a:lnTo>
                <a:cubicBezTo>
                  <a:pt x="278946" y="46806"/>
                  <a:pt x="258196" y="30659"/>
                  <a:pt x="233533" y="27012"/>
                </a:cubicBezTo>
                <a:cubicBezTo>
                  <a:pt x="203087" y="22622"/>
                  <a:pt x="170004" y="22845"/>
                  <a:pt x="142705" y="27087"/>
                </a:cubicBezTo>
                <a:cubicBezTo>
                  <a:pt x="104265" y="33040"/>
                  <a:pt x="97291" y="45467"/>
                  <a:pt x="97291" y="68461"/>
                </a:cubicBezTo>
                <a:lnTo>
                  <a:pt x="97291" y="98747"/>
                </a:lnTo>
                <a:lnTo>
                  <a:pt x="188204" y="98747"/>
                </a:lnTo>
                <a:lnTo>
                  <a:pt x="188204" y="108868"/>
                </a:lnTo>
                <a:lnTo>
                  <a:pt x="63188" y="108868"/>
                </a:lnTo>
                <a:cubicBezTo>
                  <a:pt x="36739" y="108868"/>
                  <a:pt x="13607" y="122783"/>
                  <a:pt x="6378" y="149200"/>
                </a:cubicBezTo>
                <a:cubicBezTo>
                  <a:pt x="-1956" y="179487"/>
                  <a:pt x="-2296" y="198388"/>
                  <a:pt x="6378" y="230014"/>
                </a:cubicBezTo>
                <a:cubicBezTo>
                  <a:pt x="12842" y="253529"/>
                  <a:pt x="28235" y="270346"/>
                  <a:pt x="54684" y="270346"/>
                </a:cubicBezTo>
                <a:lnTo>
                  <a:pt x="85895" y="270346"/>
                </a:lnTo>
                <a:lnTo>
                  <a:pt x="85895" y="234032"/>
                </a:lnTo>
                <a:cubicBezTo>
                  <a:pt x="85895" y="207764"/>
                  <a:pt x="111834" y="184621"/>
                  <a:pt x="142705" y="184621"/>
                </a:cubicBezTo>
                <a:close/>
                <a:moveTo>
                  <a:pt x="137092" y="48146"/>
                </a:moveTo>
                <a:cubicBezTo>
                  <a:pt x="146667" y="48146"/>
                  <a:pt x="154441" y="54948"/>
                  <a:pt x="154441" y="63326"/>
                </a:cubicBezTo>
                <a:cubicBezTo>
                  <a:pt x="154441" y="71705"/>
                  <a:pt x="146667" y="78507"/>
                  <a:pt x="137092" y="78507"/>
                </a:cubicBezTo>
                <a:cubicBezTo>
                  <a:pt x="127517" y="78507"/>
                  <a:pt x="119743" y="71705"/>
                  <a:pt x="119743" y="63326"/>
                </a:cubicBezTo>
                <a:cubicBezTo>
                  <a:pt x="119743" y="54948"/>
                  <a:pt x="127517" y="48146"/>
                  <a:pt x="137092" y="48146"/>
                </a:cubicBezTo>
                <a:close/>
              </a:path>
            </a:pathLst>
          </a:custGeom>
          <a:solidFill>
            <a:srgbClr val="3776AB"/>
          </a:solidFill>
          <a:ln/>
        </p:spPr>
      </p:sp>
      <p:sp>
        <p:nvSpPr>
          <p:cNvPr id="23" name="Text 20"/>
          <p:cNvSpPr/>
          <p:nvPr/>
        </p:nvSpPr>
        <p:spPr>
          <a:xfrm>
            <a:off x="6413500" y="2476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Python Flask</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WSGI Framework</a:t>
            </a:r>
            <a:endParaRPr lang="en-US" sz="1600" dirty="0"/>
          </a:p>
        </p:txBody>
      </p:sp>
      <p:sp>
        <p:nvSpPr>
          <p:cNvPr id="24" name="Shape 21"/>
          <p:cNvSpPr/>
          <p:nvPr/>
        </p:nvSpPr>
        <p:spPr>
          <a:xfrm>
            <a:off x="5905500" y="2984500"/>
            <a:ext cx="381000" cy="381000"/>
          </a:xfrm>
          <a:custGeom>
            <a:avLst/>
            <a:gdLst/>
            <a:ahLst/>
            <a:cxnLst/>
            <a:rect l="l" t="t" r="r" b="b"/>
            <a:pathLst>
              <a:path w="381000" h="381000">
                <a:moveTo>
                  <a:pt x="238654" y="893"/>
                </a:moveTo>
                <a:cubicBezTo>
                  <a:pt x="227409" y="-2753"/>
                  <a:pt x="215702" y="4614"/>
                  <a:pt x="212460" y="17264"/>
                </a:cubicBezTo>
                <a:lnTo>
                  <a:pt x="127794" y="350639"/>
                </a:lnTo>
                <a:cubicBezTo>
                  <a:pt x="124553" y="363289"/>
                  <a:pt x="131101" y="376461"/>
                  <a:pt x="142346" y="380107"/>
                </a:cubicBezTo>
                <a:cubicBezTo>
                  <a:pt x="153591" y="383753"/>
                  <a:pt x="165298" y="376386"/>
                  <a:pt x="168540" y="363736"/>
                </a:cubicBezTo>
                <a:lnTo>
                  <a:pt x="253206" y="30361"/>
                </a:lnTo>
                <a:cubicBezTo>
                  <a:pt x="256447" y="17711"/>
                  <a:pt x="249899" y="4539"/>
                  <a:pt x="238654" y="893"/>
                </a:cubicBezTo>
                <a:close/>
                <a:moveTo>
                  <a:pt x="281384" y="102171"/>
                </a:moveTo>
                <a:cubicBezTo>
                  <a:pt x="273116" y="111472"/>
                  <a:pt x="273116" y="126578"/>
                  <a:pt x="281384" y="135880"/>
                </a:cubicBezTo>
                <a:lnTo>
                  <a:pt x="329935" y="190500"/>
                </a:lnTo>
                <a:lnTo>
                  <a:pt x="281384" y="245120"/>
                </a:lnTo>
                <a:cubicBezTo>
                  <a:pt x="273116" y="254422"/>
                  <a:pt x="273116" y="269528"/>
                  <a:pt x="281384" y="278829"/>
                </a:cubicBezTo>
                <a:cubicBezTo>
                  <a:pt x="289653" y="288131"/>
                  <a:pt x="303080" y="288131"/>
                  <a:pt x="311348" y="278829"/>
                </a:cubicBezTo>
                <a:lnTo>
                  <a:pt x="374848" y="207392"/>
                </a:lnTo>
                <a:cubicBezTo>
                  <a:pt x="383117" y="198090"/>
                  <a:pt x="383117" y="182984"/>
                  <a:pt x="374848" y="173682"/>
                </a:cubicBezTo>
                <a:lnTo>
                  <a:pt x="311348" y="102245"/>
                </a:lnTo>
                <a:cubicBezTo>
                  <a:pt x="303080" y="92943"/>
                  <a:pt x="289653" y="92943"/>
                  <a:pt x="281384" y="102245"/>
                </a:cubicBezTo>
                <a:close/>
                <a:moveTo>
                  <a:pt x="99682" y="102171"/>
                </a:moveTo>
                <a:cubicBezTo>
                  <a:pt x="91414" y="92869"/>
                  <a:pt x="77986" y="92869"/>
                  <a:pt x="69718" y="102171"/>
                </a:cubicBezTo>
                <a:lnTo>
                  <a:pt x="6218" y="173608"/>
                </a:lnTo>
                <a:cubicBezTo>
                  <a:pt x="-2051" y="182910"/>
                  <a:pt x="-2051" y="198016"/>
                  <a:pt x="6218" y="207318"/>
                </a:cubicBezTo>
                <a:lnTo>
                  <a:pt x="69718" y="278755"/>
                </a:lnTo>
                <a:cubicBezTo>
                  <a:pt x="77986" y="288057"/>
                  <a:pt x="91414" y="288057"/>
                  <a:pt x="99682" y="278755"/>
                </a:cubicBezTo>
                <a:cubicBezTo>
                  <a:pt x="107950" y="269453"/>
                  <a:pt x="107950" y="254347"/>
                  <a:pt x="99682" y="245046"/>
                </a:cubicBezTo>
                <a:lnTo>
                  <a:pt x="51131" y="190500"/>
                </a:lnTo>
                <a:lnTo>
                  <a:pt x="99616" y="135880"/>
                </a:lnTo>
                <a:cubicBezTo>
                  <a:pt x="107884" y="126578"/>
                  <a:pt x="107884" y="111472"/>
                  <a:pt x="99616" y="102171"/>
                </a:cubicBezTo>
                <a:close/>
              </a:path>
            </a:pathLst>
          </a:custGeom>
          <a:solidFill>
            <a:srgbClr val="232F3E"/>
          </a:solidFill>
          <a:ln/>
        </p:spPr>
      </p:sp>
      <p:sp>
        <p:nvSpPr>
          <p:cNvPr id="25" name="Text 22"/>
          <p:cNvSpPr/>
          <p:nvPr/>
        </p:nvSpPr>
        <p:spPr>
          <a:xfrm>
            <a:off x="6413500" y="2984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RESTful API</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HTTP Endpoints</a:t>
            </a:r>
            <a:endParaRPr lang="en-US" sz="1600" dirty="0"/>
          </a:p>
        </p:txBody>
      </p:sp>
      <p:sp>
        <p:nvSpPr>
          <p:cNvPr id="26" name="Shape 23"/>
          <p:cNvSpPr/>
          <p:nvPr/>
        </p:nvSpPr>
        <p:spPr>
          <a:xfrm>
            <a:off x="5905500" y="3492500"/>
            <a:ext cx="381000" cy="381000"/>
          </a:xfrm>
          <a:custGeom>
            <a:avLst/>
            <a:gdLst/>
            <a:ahLst/>
            <a:cxnLst/>
            <a:rect l="l" t="t" r="r" b="b"/>
            <a:pathLst>
              <a:path w="381000" h="381000">
                <a:moveTo>
                  <a:pt x="108857" y="-23812"/>
                </a:moveTo>
                <a:cubicBezTo>
                  <a:pt x="123910" y="-23812"/>
                  <a:pt x="136071" y="-13171"/>
                  <a:pt x="136071" y="0"/>
                </a:cubicBezTo>
                <a:lnTo>
                  <a:pt x="136071" y="71438"/>
                </a:lnTo>
                <a:lnTo>
                  <a:pt x="244929" y="71438"/>
                </a:lnTo>
                <a:lnTo>
                  <a:pt x="244929" y="0"/>
                </a:lnTo>
                <a:cubicBezTo>
                  <a:pt x="244929" y="-13171"/>
                  <a:pt x="257090" y="-23812"/>
                  <a:pt x="272143" y="-23812"/>
                </a:cubicBezTo>
                <a:cubicBezTo>
                  <a:pt x="287196" y="-23812"/>
                  <a:pt x="299357" y="-13171"/>
                  <a:pt x="299357" y="0"/>
                </a:cubicBezTo>
                <a:lnTo>
                  <a:pt x="299357" y="71438"/>
                </a:lnTo>
                <a:lnTo>
                  <a:pt x="353786" y="71438"/>
                </a:lnTo>
                <a:cubicBezTo>
                  <a:pt x="368839" y="71438"/>
                  <a:pt x="381000" y="82079"/>
                  <a:pt x="381000" y="95250"/>
                </a:cubicBezTo>
                <a:cubicBezTo>
                  <a:pt x="381000" y="108421"/>
                  <a:pt x="368839" y="119063"/>
                  <a:pt x="353786" y="119063"/>
                </a:cubicBezTo>
                <a:lnTo>
                  <a:pt x="353786" y="166688"/>
                </a:lnTo>
                <a:cubicBezTo>
                  <a:pt x="353786" y="237455"/>
                  <a:pt x="294935" y="296242"/>
                  <a:pt x="217714" y="307553"/>
                </a:cubicBezTo>
                <a:lnTo>
                  <a:pt x="217714" y="357188"/>
                </a:lnTo>
                <a:cubicBezTo>
                  <a:pt x="217714" y="370359"/>
                  <a:pt x="205553" y="381000"/>
                  <a:pt x="190500" y="381000"/>
                </a:cubicBezTo>
                <a:cubicBezTo>
                  <a:pt x="175447" y="381000"/>
                  <a:pt x="163286" y="370359"/>
                  <a:pt x="163286" y="357188"/>
                </a:cubicBezTo>
                <a:lnTo>
                  <a:pt x="163286" y="307553"/>
                </a:lnTo>
                <a:cubicBezTo>
                  <a:pt x="86065" y="296242"/>
                  <a:pt x="27214" y="237455"/>
                  <a:pt x="27214" y="166688"/>
                </a:cubicBezTo>
                <a:lnTo>
                  <a:pt x="27214" y="119063"/>
                </a:lnTo>
                <a:cubicBezTo>
                  <a:pt x="12161" y="119063"/>
                  <a:pt x="0" y="108421"/>
                  <a:pt x="0" y="95250"/>
                </a:cubicBezTo>
                <a:cubicBezTo>
                  <a:pt x="0" y="82079"/>
                  <a:pt x="12161" y="71438"/>
                  <a:pt x="27214" y="71438"/>
                </a:cubicBezTo>
                <a:lnTo>
                  <a:pt x="81643" y="71438"/>
                </a:lnTo>
                <a:lnTo>
                  <a:pt x="81643" y="0"/>
                </a:lnTo>
                <a:cubicBezTo>
                  <a:pt x="81643" y="-13171"/>
                  <a:pt x="93804" y="-23812"/>
                  <a:pt x="108857" y="-23812"/>
                </a:cubicBezTo>
                <a:close/>
              </a:path>
            </a:pathLst>
          </a:custGeom>
          <a:solidFill>
            <a:srgbClr val="4A6FA5"/>
          </a:solidFill>
          <a:ln/>
        </p:spPr>
      </p:sp>
      <p:sp>
        <p:nvSpPr>
          <p:cNvPr id="27" name="Text 24"/>
          <p:cNvSpPr/>
          <p:nvPr/>
        </p:nvSpPr>
        <p:spPr>
          <a:xfrm>
            <a:off x="6413500" y="3492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mod_wsgi</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Apache Integration</a:t>
            </a:r>
            <a:endParaRPr lang="en-US" sz="1600" dirty="0"/>
          </a:p>
        </p:txBody>
      </p:sp>
      <p:sp>
        <p:nvSpPr>
          <p:cNvPr id="28" name="Shape 25"/>
          <p:cNvSpPr/>
          <p:nvPr/>
        </p:nvSpPr>
        <p:spPr>
          <a:xfrm>
            <a:off x="5905500" y="4000500"/>
            <a:ext cx="381000" cy="381000"/>
          </a:xfrm>
          <a:custGeom>
            <a:avLst/>
            <a:gdLst/>
            <a:ahLst/>
            <a:cxnLst/>
            <a:rect l="l" t="t" r="r" b="b"/>
            <a:pathLst>
              <a:path w="381000" h="381000">
                <a:moveTo>
                  <a:pt x="381000" y="153144"/>
                </a:moveTo>
                <a:cubicBezTo>
                  <a:pt x="368413" y="160437"/>
                  <a:pt x="353956" y="166315"/>
                  <a:pt x="338903" y="171004"/>
                </a:cubicBezTo>
                <a:cubicBezTo>
                  <a:pt x="298932" y="183505"/>
                  <a:pt x="246459" y="190500"/>
                  <a:pt x="190500" y="190500"/>
                </a:cubicBezTo>
                <a:cubicBezTo>
                  <a:pt x="134541" y="190500"/>
                  <a:pt x="81983" y="183431"/>
                  <a:pt x="42097" y="171004"/>
                </a:cubicBezTo>
                <a:cubicBezTo>
                  <a:pt x="27129" y="166315"/>
                  <a:pt x="12587" y="160437"/>
                  <a:pt x="0" y="153144"/>
                </a:cubicBezTo>
                <a:lnTo>
                  <a:pt x="0" y="214313"/>
                </a:lnTo>
                <a:cubicBezTo>
                  <a:pt x="0" y="247204"/>
                  <a:pt x="85300" y="273844"/>
                  <a:pt x="190500" y="273844"/>
                </a:cubicBezTo>
                <a:cubicBezTo>
                  <a:pt x="295700" y="273844"/>
                  <a:pt x="381000" y="247204"/>
                  <a:pt x="381000" y="214313"/>
                </a:cubicBezTo>
                <a:lnTo>
                  <a:pt x="381000" y="153144"/>
                </a:lnTo>
                <a:close/>
                <a:moveTo>
                  <a:pt x="381000" y="95250"/>
                </a:moveTo>
                <a:lnTo>
                  <a:pt x="381000" y="59531"/>
                </a:lnTo>
                <a:cubicBezTo>
                  <a:pt x="381000" y="26640"/>
                  <a:pt x="295700" y="0"/>
                  <a:pt x="190500" y="0"/>
                </a:cubicBezTo>
                <a:cubicBezTo>
                  <a:pt x="85300" y="0"/>
                  <a:pt x="0" y="26640"/>
                  <a:pt x="0" y="59531"/>
                </a:cubicBezTo>
                <a:lnTo>
                  <a:pt x="0" y="95250"/>
                </a:lnTo>
                <a:cubicBezTo>
                  <a:pt x="0" y="128141"/>
                  <a:pt x="85300" y="154781"/>
                  <a:pt x="190500" y="154781"/>
                </a:cubicBezTo>
                <a:cubicBezTo>
                  <a:pt x="295700" y="154781"/>
                  <a:pt x="381000" y="128141"/>
                  <a:pt x="381000" y="95250"/>
                </a:cubicBezTo>
                <a:close/>
                <a:moveTo>
                  <a:pt x="338903" y="290066"/>
                </a:moveTo>
                <a:cubicBezTo>
                  <a:pt x="299017" y="302493"/>
                  <a:pt x="246544" y="309563"/>
                  <a:pt x="190500" y="309563"/>
                </a:cubicBezTo>
                <a:cubicBezTo>
                  <a:pt x="134456" y="309563"/>
                  <a:pt x="81983" y="302493"/>
                  <a:pt x="42097" y="290066"/>
                </a:cubicBezTo>
                <a:cubicBezTo>
                  <a:pt x="27129" y="285378"/>
                  <a:pt x="12587" y="279499"/>
                  <a:pt x="0" y="272207"/>
                </a:cubicBezTo>
                <a:lnTo>
                  <a:pt x="0" y="321469"/>
                </a:lnTo>
                <a:cubicBezTo>
                  <a:pt x="0" y="354360"/>
                  <a:pt x="85300" y="381000"/>
                  <a:pt x="190500" y="381000"/>
                </a:cubicBezTo>
                <a:cubicBezTo>
                  <a:pt x="295700" y="381000"/>
                  <a:pt x="381000" y="354360"/>
                  <a:pt x="381000" y="321469"/>
                </a:cubicBezTo>
                <a:lnTo>
                  <a:pt x="381000" y="272207"/>
                </a:lnTo>
                <a:cubicBezTo>
                  <a:pt x="368413" y="279499"/>
                  <a:pt x="353956" y="285378"/>
                  <a:pt x="338903" y="290066"/>
                </a:cubicBezTo>
                <a:close/>
              </a:path>
            </a:pathLst>
          </a:custGeom>
          <a:solidFill>
            <a:srgbClr val="27AE60"/>
          </a:solidFill>
          <a:ln/>
        </p:spPr>
      </p:sp>
      <p:sp>
        <p:nvSpPr>
          <p:cNvPr id="29" name="Text 26"/>
          <p:cNvSpPr/>
          <p:nvPr/>
        </p:nvSpPr>
        <p:spPr>
          <a:xfrm>
            <a:off x="6413500" y="4000500"/>
            <a:ext cx="3429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MySQL Connector</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DB Access</a:t>
            </a:r>
            <a:endParaRPr lang="en-US" sz="1600" dirty="0"/>
          </a:p>
        </p:txBody>
      </p:sp>
      <p:sp>
        <p:nvSpPr>
          <p:cNvPr id="30" name="Shape 27"/>
          <p:cNvSpPr/>
          <p:nvPr/>
        </p:nvSpPr>
        <p:spPr>
          <a:xfrm>
            <a:off x="10414000" y="1651000"/>
            <a:ext cx="5080000" cy="3048000"/>
          </a:xfrm>
          <a:prstGeom prst="roundRect">
            <a:avLst>
              <a:gd name="adj" fmla="val 8000"/>
            </a:avLst>
          </a:prstGeom>
          <a:solidFill>
            <a:srgbClr val="F0F4F8"/>
          </a:solidFill>
          <a:ln/>
        </p:spPr>
      </p:sp>
      <p:sp>
        <p:nvSpPr>
          <p:cNvPr id="31" name="Shape 28"/>
          <p:cNvSpPr/>
          <p:nvPr/>
        </p:nvSpPr>
        <p:spPr>
          <a:xfrm>
            <a:off x="10414000" y="1651000"/>
            <a:ext cx="5080000" cy="571500"/>
          </a:xfrm>
          <a:prstGeom prst="roundRect">
            <a:avLst>
              <a:gd name="adj" fmla="val 8000"/>
            </a:avLst>
          </a:prstGeom>
          <a:solidFill>
            <a:srgbClr val="27AE60"/>
          </a:solidFill>
          <a:ln/>
        </p:spPr>
      </p:sp>
      <p:sp>
        <p:nvSpPr>
          <p:cNvPr id="32" name="Text 29"/>
          <p:cNvSpPr/>
          <p:nvPr/>
        </p:nvSpPr>
        <p:spPr>
          <a:xfrm>
            <a:off x="10414000" y="1651000"/>
            <a:ext cx="5080000" cy="571500"/>
          </a:xfrm>
          <a:prstGeom prst="rect">
            <a:avLst/>
          </a:prstGeom>
          <a:noFill/>
          <a:ln/>
        </p:spPr>
        <p:txBody>
          <a:bodyPr wrap="none" lIns="0" tIns="0" rIns="0" bIns="0" rtlCol="0" anchor="ctr"/>
          <a:lstStyle/>
          <a:p>
            <a:pPr algn="ctr">
              <a:lnSpc>
                <a:spcPct val="120000"/>
              </a:lnSpc>
            </a:pPr>
            <a:r>
              <a:rPr lang="en-US" sz="1600" b="1" dirty="0">
                <a:solidFill>
                  <a:srgbClr val="FFFFFF"/>
                </a:solidFill>
                <a:latin typeface="Liter" pitchFamily="34" charset="0"/>
                <a:ea typeface="Liter" pitchFamily="34" charset="-122"/>
                <a:cs typeface="Liter" pitchFamily="34" charset="-120"/>
              </a:rPr>
              <a:t>CLOUD &amp; INFRASTRUCTURE</a:t>
            </a:r>
            <a:endParaRPr lang="en-US" sz="1600" dirty="0"/>
          </a:p>
        </p:txBody>
      </p:sp>
      <p:sp>
        <p:nvSpPr>
          <p:cNvPr id="33" name="Shape 30"/>
          <p:cNvSpPr/>
          <p:nvPr/>
        </p:nvSpPr>
        <p:spPr>
          <a:xfrm>
            <a:off x="10731500" y="2476500"/>
            <a:ext cx="381000" cy="381000"/>
          </a:xfrm>
          <a:custGeom>
            <a:avLst/>
            <a:gdLst/>
            <a:ahLst/>
            <a:cxnLst/>
            <a:rect l="l" t="t" r="r" b="b"/>
            <a:pathLst>
              <a:path w="381000" h="381000">
                <a:moveTo>
                  <a:pt x="107394" y="151061"/>
                </a:moveTo>
                <a:cubicBezTo>
                  <a:pt x="106978" y="167878"/>
                  <a:pt x="113705" y="175394"/>
                  <a:pt x="113883" y="180082"/>
                </a:cubicBezTo>
                <a:cubicBezTo>
                  <a:pt x="113824" y="181049"/>
                  <a:pt x="113526" y="181942"/>
                  <a:pt x="113109" y="182761"/>
                </a:cubicBezTo>
                <a:cubicBezTo>
                  <a:pt x="112693" y="183579"/>
                  <a:pt x="112097" y="184249"/>
                  <a:pt x="111442" y="184696"/>
                </a:cubicBezTo>
                <a:lnTo>
                  <a:pt x="103822" y="191393"/>
                </a:lnTo>
                <a:cubicBezTo>
                  <a:pt x="102810" y="192286"/>
                  <a:pt x="101679" y="192732"/>
                  <a:pt x="100489" y="192807"/>
                </a:cubicBezTo>
                <a:cubicBezTo>
                  <a:pt x="100251" y="192807"/>
                  <a:pt x="95607" y="194146"/>
                  <a:pt x="88285" y="173757"/>
                </a:cubicBezTo>
                <a:cubicBezTo>
                  <a:pt x="83820" y="180752"/>
                  <a:pt x="78165" y="186333"/>
                  <a:pt x="71676" y="190128"/>
                </a:cubicBezTo>
                <a:cubicBezTo>
                  <a:pt x="65187" y="193923"/>
                  <a:pt x="58162" y="195858"/>
                  <a:pt x="51018" y="195709"/>
                </a:cubicBezTo>
                <a:cubicBezTo>
                  <a:pt x="41315" y="196379"/>
                  <a:pt x="15061" y="188863"/>
                  <a:pt x="16431" y="153888"/>
                </a:cubicBezTo>
                <a:cubicBezTo>
                  <a:pt x="15478" y="125388"/>
                  <a:pt x="36731" y="107677"/>
                  <a:pt x="58638" y="109240"/>
                </a:cubicBezTo>
                <a:cubicBezTo>
                  <a:pt x="62865" y="109240"/>
                  <a:pt x="71497" y="109538"/>
                  <a:pt x="86618" y="113928"/>
                </a:cubicBezTo>
                <a:lnTo>
                  <a:pt x="86618" y="102319"/>
                </a:lnTo>
                <a:cubicBezTo>
                  <a:pt x="88225" y="82600"/>
                  <a:pt x="77867" y="67345"/>
                  <a:pt x="59948" y="69652"/>
                </a:cubicBezTo>
                <a:cubicBezTo>
                  <a:pt x="58519" y="69652"/>
                  <a:pt x="48399" y="69279"/>
                  <a:pt x="32683" y="77167"/>
                </a:cubicBezTo>
                <a:cubicBezTo>
                  <a:pt x="28277" y="79697"/>
                  <a:pt x="27742" y="79251"/>
                  <a:pt x="26253" y="79251"/>
                </a:cubicBezTo>
                <a:cubicBezTo>
                  <a:pt x="21848" y="79251"/>
                  <a:pt x="23634" y="63252"/>
                  <a:pt x="24527" y="61243"/>
                </a:cubicBezTo>
                <a:cubicBezTo>
                  <a:pt x="27622" y="56480"/>
                  <a:pt x="45899" y="47551"/>
                  <a:pt x="63758" y="47699"/>
                </a:cubicBezTo>
                <a:cubicBezTo>
                  <a:pt x="75724" y="46360"/>
                  <a:pt x="87630" y="50974"/>
                  <a:pt x="96917" y="60573"/>
                </a:cubicBezTo>
                <a:cubicBezTo>
                  <a:pt x="100667" y="65856"/>
                  <a:pt x="103584" y="72033"/>
                  <a:pt x="105370" y="78730"/>
                </a:cubicBezTo>
                <a:cubicBezTo>
                  <a:pt x="107156" y="85427"/>
                  <a:pt x="107871" y="92497"/>
                  <a:pt x="107454" y="99566"/>
                </a:cubicBezTo>
                <a:lnTo>
                  <a:pt x="107454" y="151135"/>
                </a:lnTo>
                <a:close/>
                <a:moveTo>
                  <a:pt x="55959" y="175171"/>
                </a:moveTo>
                <a:cubicBezTo>
                  <a:pt x="75248" y="174799"/>
                  <a:pt x="83463" y="160288"/>
                  <a:pt x="85308" y="152474"/>
                </a:cubicBezTo>
                <a:cubicBezTo>
                  <a:pt x="86797" y="144959"/>
                  <a:pt x="86558" y="140271"/>
                  <a:pt x="86558" y="132085"/>
                </a:cubicBezTo>
                <a:cubicBezTo>
                  <a:pt x="80784" y="130373"/>
                  <a:pt x="72509" y="128439"/>
                  <a:pt x="62984" y="128439"/>
                </a:cubicBezTo>
                <a:cubicBezTo>
                  <a:pt x="53935" y="127620"/>
                  <a:pt x="37505" y="132606"/>
                  <a:pt x="38160" y="152474"/>
                </a:cubicBezTo>
                <a:cubicBezTo>
                  <a:pt x="37445" y="164976"/>
                  <a:pt x="44768" y="175840"/>
                  <a:pt x="56019" y="175171"/>
                </a:cubicBezTo>
                <a:close/>
                <a:moveTo>
                  <a:pt x="157698" y="192360"/>
                </a:moveTo>
                <a:cubicBezTo>
                  <a:pt x="152995" y="192881"/>
                  <a:pt x="150852" y="188714"/>
                  <a:pt x="150138" y="184621"/>
                </a:cubicBezTo>
                <a:lnTo>
                  <a:pt x="120491" y="62061"/>
                </a:lnTo>
                <a:cubicBezTo>
                  <a:pt x="119896" y="59978"/>
                  <a:pt x="119539" y="57894"/>
                  <a:pt x="119360" y="55662"/>
                </a:cubicBezTo>
                <a:cubicBezTo>
                  <a:pt x="119241" y="54769"/>
                  <a:pt x="119420" y="53876"/>
                  <a:pt x="119836" y="53132"/>
                </a:cubicBezTo>
                <a:cubicBezTo>
                  <a:pt x="120253" y="52388"/>
                  <a:pt x="120908" y="51941"/>
                  <a:pt x="121622" y="51792"/>
                </a:cubicBezTo>
                <a:cubicBezTo>
                  <a:pt x="121741" y="51792"/>
                  <a:pt x="120372" y="51792"/>
                  <a:pt x="134838" y="51792"/>
                </a:cubicBezTo>
                <a:cubicBezTo>
                  <a:pt x="140077" y="51122"/>
                  <a:pt x="141744" y="56257"/>
                  <a:pt x="142339" y="59531"/>
                </a:cubicBezTo>
                <a:lnTo>
                  <a:pt x="163651" y="164306"/>
                </a:lnTo>
                <a:lnTo>
                  <a:pt x="183416" y="59531"/>
                </a:lnTo>
                <a:cubicBezTo>
                  <a:pt x="183713" y="57150"/>
                  <a:pt x="185142" y="51271"/>
                  <a:pt x="191036" y="51941"/>
                </a:cubicBezTo>
                <a:lnTo>
                  <a:pt x="201275" y="51941"/>
                </a:lnTo>
                <a:cubicBezTo>
                  <a:pt x="202585" y="51792"/>
                  <a:pt x="207883" y="51569"/>
                  <a:pt x="208836" y="59680"/>
                </a:cubicBezTo>
                <a:lnTo>
                  <a:pt x="228660" y="165720"/>
                </a:lnTo>
                <a:lnTo>
                  <a:pt x="250627" y="59606"/>
                </a:lnTo>
                <a:cubicBezTo>
                  <a:pt x="250924" y="57969"/>
                  <a:pt x="252234" y="51122"/>
                  <a:pt x="258187" y="51867"/>
                </a:cubicBezTo>
                <a:lnTo>
                  <a:pt x="269915" y="51867"/>
                </a:lnTo>
                <a:cubicBezTo>
                  <a:pt x="270450" y="51792"/>
                  <a:pt x="273606" y="51271"/>
                  <a:pt x="273070" y="58266"/>
                </a:cubicBezTo>
                <a:cubicBezTo>
                  <a:pt x="272832" y="59606"/>
                  <a:pt x="275094" y="50304"/>
                  <a:pt x="241637" y="184696"/>
                </a:cubicBezTo>
                <a:cubicBezTo>
                  <a:pt x="240983" y="188788"/>
                  <a:pt x="238780" y="192956"/>
                  <a:pt x="234077" y="192435"/>
                </a:cubicBezTo>
                <a:lnTo>
                  <a:pt x="222945" y="192435"/>
                </a:lnTo>
                <a:cubicBezTo>
                  <a:pt x="216456" y="193328"/>
                  <a:pt x="215503" y="185217"/>
                  <a:pt x="215384" y="184472"/>
                </a:cubicBezTo>
                <a:lnTo>
                  <a:pt x="195620" y="82451"/>
                </a:lnTo>
                <a:lnTo>
                  <a:pt x="176093" y="184398"/>
                </a:lnTo>
                <a:cubicBezTo>
                  <a:pt x="175974" y="185217"/>
                  <a:pt x="175081" y="193253"/>
                  <a:pt x="168533" y="192360"/>
                </a:cubicBezTo>
                <a:lnTo>
                  <a:pt x="157639" y="192360"/>
                </a:lnTo>
                <a:lnTo>
                  <a:pt x="157639" y="192360"/>
                </a:lnTo>
                <a:close/>
                <a:moveTo>
                  <a:pt x="320516" y="196528"/>
                </a:moveTo>
                <a:cubicBezTo>
                  <a:pt x="317004" y="196528"/>
                  <a:pt x="300335" y="196304"/>
                  <a:pt x="286345" y="187375"/>
                </a:cubicBezTo>
                <a:cubicBezTo>
                  <a:pt x="284976" y="186630"/>
                  <a:pt x="283785" y="185440"/>
                  <a:pt x="282952" y="183803"/>
                </a:cubicBezTo>
                <a:cubicBezTo>
                  <a:pt x="282119" y="182166"/>
                  <a:pt x="281702" y="180380"/>
                  <a:pt x="281702" y="178519"/>
                </a:cubicBezTo>
                <a:lnTo>
                  <a:pt x="281702" y="170557"/>
                </a:lnTo>
                <a:cubicBezTo>
                  <a:pt x="281702" y="164232"/>
                  <a:pt x="285393" y="165422"/>
                  <a:pt x="286941" y="166167"/>
                </a:cubicBezTo>
                <a:cubicBezTo>
                  <a:pt x="292894" y="169218"/>
                  <a:pt x="296763" y="171450"/>
                  <a:pt x="304086" y="173310"/>
                </a:cubicBezTo>
                <a:cubicBezTo>
                  <a:pt x="325934" y="178891"/>
                  <a:pt x="335518" y="171599"/>
                  <a:pt x="337840" y="169962"/>
                </a:cubicBezTo>
                <a:cubicBezTo>
                  <a:pt x="345698" y="164157"/>
                  <a:pt x="346293" y="150837"/>
                  <a:pt x="340995" y="143991"/>
                </a:cubicBezTo>
                <a:cubicBezTo>
                  <a:pt x="334744" y="137443"/>
                  <a:pt x="331768" y="137220"/>
                  <a:pt x="309384" y="128364"/>
                </a:cubicBezTo>
                <a:cubicBezTo>
                  <a:pt x="306645" y="127397"/>
                  <a:pt x="283369" y="118244"/>
                  <a:pt x="283309" y="89371"/>
                </a:cubicBezTo>
                <a:cubicBezTo>
                  <a:pt x="282952" y="68387"/>
                  <a:pt x="298192" y="47551"/>
                  <a:pt x="324683" y="47699"/>
                </a:cubicBezTo>
                <a:cubicBezTo>
                  <a:pt x="332244" y="47699"/>
                  <a:pt x="352306" y="50750"/>
                  <a:pt x="357783" y="59308"/>
                </a:cubicBezTo>
                <a:cubicBezTo>
                  <a:pt x="358616" y="60871"/>
                  <a:pt x="358973" y="62731"/>
                  <a:pt x="358914" y="64517"/>
                </a:cubicBezTo>
                <a:lnTo>
                  <a:pt x="358914" y="72033"/>
                </a:lnTo>
                <a:cubicBezTo>
                  <a:pt x="358914" y="75307"/>
                  <a:pt x="357961" y="77019"/>
                  <a:pt x="355997" y="77019"/>
                </a:cubicBezTo>
                <a:cubicBezTo>
                  <a:pt x="351413" y="76349"/>
                  <a:pt x="343257" y="68684"/>
                  <a:pt x="326707" y="68982"/>
                </a:cubicBezTo>
                <a:cubicBezTo>
                  <a:pt x="322600" y="68684"/>
                  <a:pt x="302955" y="69652"/>
                  <a:pt x="303847" y="87585"/>
                </a:cubicBezTo>
                <a:cubicBezTo>
                  <a:pt x="303609" y="101724"/>
                  <a:pt x="319683" y="107007"/>
                  <a:pt x="321528" y="107603"/>
                </a:cubicBezTo>
                <a:cubicBezTo>
                  <a:pt x="343257" y="115788"/>
                  <a:pt x="350460" y="117128"/>
                  <a:pt x="359092" y="129629"/>
                </a:cubicBezTo>
                <a:cubicBezTo>
                  <a:pt x="369272" y="146149"/>
                  <a:pt x="363795" y="165571"/>
                  <a:pt x="361652" y="170855"/>
                </a:cubicBezTo>
                <a:cubicBezTo>
                  <a:pt x="350282" y="198760"/>
                  <a:pt x="320933" y="196453"/>
                  <a:pt x="320397" y="196453"/>
                </a:cubicBezTo>
                <a:close/>
                <a:moveTo>
                  <a:pt x="344448" y="274588"/>
                </a:moveTo>
                <a:cubicBezTo>
                  <a:pt x="302776" y="313060"/>
                  <a:pt x="242233" y="333524"/>
                  <a:pt x="190560" y="333524"/>
                </a:cubicBezTo>
                <a:cubicBezTo>
                  <a:pt x="120848" y="334119"/>
                  <a:pt x="53459" y="302047"/>
                  <a:pt x="1667" y="243706"/>
                </a:cubicBezTo>
                <a:cubicBezTo>
                  <a:pt x="-2203" y="239316"/>
                  <a:pt x="1191" y="233288"/>
                  <a:pt x="5953" y="236637"/>
                </a:cubicBezTo>
                <a:cubicBezTo>
                  <a:pt x="63401" y="277713"/>
                  <a:pt x="128409" y="299293"/>
                  <a:pt x="194608" y="299219"/>
                </a:cubicBezTo>
                <a:cubicBezTo>
                  <a:pt x="244019" y="298921"/>
                  <a:pt x="292894" y="286345"/>
                  <a:pt x="338435" y="262384"/>
                </a:cubicBezTo>
                <a:cubicBezTo>
                  <a:pt x="345460" y="258663"/>
                  <a:pt x="351413" y="268188"/>
                  <a:pt x="344448" y="274588"/>
                </a:cubicBezTo>
                <a:close/>
                <a:moveTo>
                  <a:pt x="361831" y="249808"/>
                </a:moveTo>
                <a:cubicBezTo>
                  <a:pt x="356473" y="241250"/>
                  <a:pt x="326529" y="245790"/>
                  <a:pt x="313134" y="247799"/>
                </a:cubicBezTo>
                <a:cubicBezTo>
                  <a:pt x="309086" y="248394"/>
                  <a:pt x="308431" y="244004"/>
                  <a:pt x="312063" y="240729"/>
                </a:cubicBezTo>
                <a:cubicBezTo>
                  <a:pt x="335935" y="219745"/>
                  <a:pt x="375106" y="225772"/>
                  <a:pt x="379571" y="232842"/>
                </a:cubicBezTo>
                <a:cubicBezTo>
                  <a:pt x="384036" y="239911"/>
                  <a:pt x="378321" y="288950"/>
                  <a:pt x="355997" y="312390"/>
                </a:cubicBezTo>
                <a:cubicBezTo>
                  <a:pt x="352544" y="316037"/>
                  <a:pt x="349270" y="314102"/>
                  <a:pt x="350818" y="309339"/>
                </a:cubicBezTo>
                <a:cubicBezTo>
                  <a:pt x="355818" y="293489"/>
                  <a:pt x="367129" y="258366"/>
                  <a:pt x="361771" y="249808"/>
                </a:cubicBezTo>
                <a:close/>
              </a:path>
            </a:pathLst>
          </a:custGeom>
          <a:solidFill>
            <a:srgbClr val="FF9900"/>
          </a:solidFill>
          <a:ln/>
        </p:spPr>
      </p:sp>
      <p:sp>
        <p:nvSpPr>
          <p:cNvPr id="34" name="Text 31"/>
          <p:cNvSpPr/>
          <p:nvPr/>
        </p:nvSpPr>
        <p:spPr>
          <a:xfrm>
            <a:off x="11239500" y="2476500"/>
            <a:ext cx="3937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AWS</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Cloud Platform</a:t>
            </a:r>
            <a:endParaRPr lang="en-US" sz="1600" dirty="0"/>
          </a:p>
        </p:txBody>
      </p:sp>
      <p:sp>
        <p:nvSpPr>
          <p:cNvPr id="35" name="Shape 32"/>
          <p:cNvSpPr/>
          <p:nvPr/>
        </p:nvSpPr>
        <p:spPr>
          <a:xfrm>
            <a:off x="10731500" y="2984500"/>
            <a:ext cx="381000" cy="381000"/>
          </a:xfrm>
          <a:custGeom>
            <a:avLst/>
            <a:gdLst/>
            <a:ahLst/>
            <a:cxnLst/>
            <a:rect l="l" t="t" r="r" b="b"/>
            <a:pathLst>
              <a:path w="381000" h="381000">
                <a:moveTo>
                  <a:pt x="310356" y="55811"/>
                </a:moveTo>
                <a:cubicBezTo>
                  <a:pt x="310356" y="40853"/>
                  <a:pt x="305065" y="26566"/>
                  <a:pt x="295672" y="15999"/>
                </a:cubicBezTo>
                <a:cubicBezTo>
                  <a:pt x="286279" y="5432"/>
                  <a:pt x="273579" y="-521"/>
                  <a:pt x="260284" y="-521"/>
                </a:cubicBezTo>
                <a:cubicBezTo>
                  <a:pt x="246989" y="-521"/>
                  <a:pt x="234289" y="5432"/>
                  <a:pt x="224896" y="15999"/>
                </a:cubicBezTo>
                <a:cubicBezTo>
                  <a:pt x="215503" y="26566"/>
                  <a:pt x="210211" y="40853"/>
                  <a:pt x="210211" y="55811"/>
                </a:cubicBezTo>
                <a:cubicBezTo>
                  <a:pt x="210211" y="70768"/>
                  <a:pt x="215503" y="85055"/>
                  <a:pt x="224830" y="95622"/>
                </a:cubicBezTo>
                <a:cubicBezTo>
                  <a:pt x="234156" y="106189"/>
                  <a:pt x="246922" y="112068"/>
                  <a:pt x="260218" y="112068"/>
                </a:cubicBezTo>
                <a:cubicBezTo>
                  <a:pt x="273513" y="112068"/>
                  <a:pt x="286213" y="106114"/>
                  <a:pt x="295606" y="95622"/>
                </a:cubicBezTo>
                <a:cubicBezTo>
                  <a:pt x="304998" y="85130"/>
                  <a:pt x="310224" y="70768"/>
                  <a:pt x="310224" y="55811"/>
                </a:cubicBezTo>
                <a:lnTo>
                  <a:pt x="310290" y="55811"/>
                </a:lnTo>
                <a:close/>
                <a:moveTo>
                  <a:pt x="101997" y="179115"/>
                </a:moveTo>
                <a:cubicBezTo>
                  <a:pt x="101997" y="148066"/>
                  <a:pt x="79590" y="122858"/>
                  <a:pt x="51991" y="122858"/>
                </a:cubicBezTo>
                <a:cubicBezTo>
                  <a:pt x="24391" y="122858"/>
                  <a:pt x="1984" y="148066"/>
                  <a:pt x="1984" y="179115"/>
                </a:cubicBezTo>
                <a:cubicBezTo>
                  <a:pt x="1984" y="210164"/>
                  <a:pt x="24391" y="235372"/>
                  <a:pt x="51991" y="235372"/>
                </a:cubicBezTo>
                <a:cubicBezTo>
                  <a:pt x="79590" y="235372"/>
                  <a:pt x="101997" y="210164"/>
                  <a:pt x="101997" y="179115"/>
                </a:cubicBezTo>
                <a:close/>
                <a:moveTo>
                  <a:pt x="37703" y="257473"/>
                </a:moveTo>
                <a:cubicBezTo>
                  <a:pt x="50006" y="292373"/>
                  <a:pt x="71438" y="322213"/>
                  <a:pt x="99219" y="343123"/>
                </a:cubicBezTo>
                <a:cubicBezTo>
                  <a:pt x="127000" y="364034"/>
                  <a:pt x="159742" y="374824"/>
                  <a:pt x="193146" y="374154"/>
                </a:cubicBezTo>
                <a:cubicBezTo>
                  <a:pt x="183422" y="360313"/>
                  <a:pt x="177998" y="343272"/>
                  <a:pt x="177800" y="325636"/>
                </a:cubicBezTo>
                <a:cubicBezTo>
                  <a:pt x="173302" y="324966"/>
                  <a:pt x="169003" y="324073"/>
                  <a:pt x="164902" y="323106"/>
                </a:cubicBezTo>
                <a:cubicBezTo>
                  <a:pt x="147174" y="318864"/>
                  <a:pt x="130572" y="310232"/>
                  <a:pt x="116218" y="297805"/>
                </a:cubicBezTo>
                <a:cubicBezTo>
                  <a:pt x="101865" y="285378"/>
                  <a:pt x="90223" y="269453"/>
                  <a:pt x="82021" y="251296"/>
                </a:cubicBezTo>
                <a:cubicBezTo>
                  <a:pt x="68196" y="258663"/>
                  <a:pt x="52586" y="260821"/>
                  <a:pt x="37637" y="257398"/>
                </a:cubicBezTo>
                <a:lnTo>
                  <a:pt x="37703" y="257473"/>
                </a:lnTo>
                <a:close/>
                <a:moveTo>
                  <a:pt x="299045" y="324296"/>
                </a:moveTo>
                <a:cubicBezTo>
                  <a:pt x="299045" y="293247"/>
                  <a:pt x="276638" y="268039"/>
                  <a:pt x="249039" y="268039"/>
                </a:cubicBezTo>
                <a:cubicBezTo>
                  <a:pt x="221440" y="268039"/>
                  <a:pt x="199033" y="293247"/>
                  <a:pt x="199033" y="324296"/>
                </a:cubicBezTo>
                <a:cubicBezTo>
                  <a:pt x="199033" y="355346"/>
                  <a:pt x="221440" y="380554"/>
                  <a:pt x="249039" y="380554"/>
                </a:cubicBezTo>
                <a:cubicBezTo>
                  <a:pt x="276638" y="380554"/>
                  <a:pt x="299045" y="355346"/>
                  <a:pt x="299045" y="324296"/>
                </a:cubicBezTo>
                <a:close/>
                <a:moveTo>
                  <a:pt x="293688" y="261640"/>
                </a:moveTo>
                <a:cubicBezTo>
                  <a:pt x="305924" y="272653"/>
                  <a:pt x="314590" y="287834"/>
                  <a:pt x="318294" y="304949"/>
                </a:cubicBezTo>
                <a:cubicBezTo>
                  <a:pt x="340320" y="274216"/>
                  <a:pt x="353086" y="236339"/>
                  <a:pt x="354542" y="196900"/>
                </a:cubicBezTo>
                <a:cubicBezTo>
                  <a:pt x="355997" y="157460"/>
                  <a:pt x="346273" y="118467"/>
                  <a:pt x="326628" y="85725"/>
                </a:cubicBezTo>
                <a:cubicBezTo>
                  <a:pt x="320940" y="101724"/>
                  <a:pt x="310753" y="115193"/>
                  <a:pt x="297656" y="124123"/>
                </a:cubicBezTo>
                <a:cubicBezTo>
                  <a:pt x="307843" y="145405"/>
                  <a:pt x="312804" y="169366"/>
                  <a:pt x="312142" y="193477"/>
                </a:cubicBezTo>
                <a:cubicBezTo>
                  <a:pt x="311481" y="217587"/>
                  <a:pt x="305065" y="241102"/>
                  <a:pt x="293621" y="261640"/>
                </a:cubicBezTo>
                <a:lnTo>
                  <a:pt x="293688" y="261640"/>
                </a:lnTo>
                <a:close/>
                <a:moveTo>
                  <a:pt x="66873" y="100757"/>
                </a:moveTo>
                <a:cubicBezTo>
                  <a:pt x="75076" y="102766"/>
                  <a:pt x="82947" y="106338"/>
                  <a:pt x="90091" y="111398"/>
                </a:cubicBezTo>
                <a:cubicBezTo>
                  <a:pt x="101071" y="93390"/>
                  <a:pt x="115821" y="78581"/>
                  <a:pt x="132953" y="68238"/>
                </a:cubicBezTo>
                <a:cubicBezTo>
                  <a:pt x="150085" y="57894"/>
                  <a:pt x="169201" y="52388"/>
                  <a:pt x="188648" y="52090"/>
                </a:cubicBezTo>
                <a:cubicBezTo>
                  <a:pt x="188780" y="47699"/>
                  <a:pt x="189243" y="43235"/>
                  <a:pt x="189971" y="38919"/>
                </a:cubicBezTo>
                <a:cubicBezTo>
                  <a:pt x="192352" y="26491"/>
                  <a:pt x="197313" y="14883"/>
                  <a:pt x="204391" y="5060"/>
                </a:cubicBezTo>
                <a:cubicBezTo>
                  <a:pt x="172839" y="2232"/>
                  <a:pt x="141288" y="9525"/>
                  <a:pt x="113374" y="26268"/>
                </a:cubicBezTo>
                <a:cubicBezTo>
                  <a:pt x="85460" y="43011"/>
                  <a:pt x="62376" y="68238"/>
                  <a:pt x="46831" y="99268"/>
                </a:cubicBezTo>
                <a:cubicBezTo>
                  <a:pt x="48617" y="99120"/>
                  <a:pt x="50337" y="99045"/>
                  <a:pt x="52123" y="99045"/>
                </a:cubicBezTo>
                <a:cubicBezTo>
                  <a:pt x="57084" y="99045"/>
                  <a:pt x="62045" y="99640"/>
                  <a:pt x="66940" y="100757"/>
                </a:cubicBezTo>
                <a:lnTo>
                  <a:pt x="66873" y="100757"/>
                </a:lnTo>
                <a:close/>
              </a:path>
            </a:pathLst>
          </a:custGeom>
          <a:solidFill>
            <a:srgbClr val="E95420"/>
          </a:solidFill>
          <a:ln/>
        </p:spPr>
      </p:sp>
      <p:sp>
        <p:nvSpPr>
          <p:cNvPr id="36" name="Text 33"/>
          <p:cNvSpPr/>
          <p:nvPr/>
        </p:nvSpPr>
        <p:spPr>
          <a:xfrm>
            <a:off x="11239500" y="2984500"/>
            <a:ext cx="3937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Ubuntu Server</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OS</a:t>
            </a:r>
            <a:endParaRPr lang="en-US" sz="1600" dirty="0"/>
          </a:p>
        </p:txBody>
      </p:sp>
      <p:sp>
        <p:nvSpPr>
          <p:cNvPr id="37" name="Shape 34"/>
          <p:cNvSpPr/>
          <p:nvPr/>
        </p:nvSpPr>
        <p:spPr>
          <a:xfrm>
            <a:off x="10731500" y="3492500"/>
            <a:ext cx="381000" cy="381000"/>
          </a:xfrm>
          <a:custGeom>
            <a:avLst/>
            <a:gdLst/>
            <a:ahLst/>
            <a:cxnLst/>
            <a:rect l="l" t="t" r="r" b="b"/>
            <a:pathLst>
              <a:path w="381000" h="381000">
                <a:moveTo>
                  <a:pt x="54429" y="23812"/>
                </a:moveTo>
                <a:cubicBezTo>
                  <a:pt x="24408" y="23812"/>
                  <a:pt x="0" y="45169"/>
                  <a:pt x="0" y="71438"/>
                </a:cubicBezTo>
                <a:lnTo>
                  <a:pt x="0" y="119063"/>
                </a:lnTo>
                <a:cubicBezTo>
                  <a:pt x="0" y="145331"/>
                  <a:pt x="24408" y="166688"/>
                  <a:pt x="54429" y="166688"/>
                </a:cubicBezTo>
                <a:lnTo>
                  <a:pt x="326571" y="166688"/>
                </a:lnTo>
                <a:cubicBezTo>
                  <a:pt x="356592" y="166688"/>
                  <a:pt x="381000" y="145331"/>
                  <a:pt x="381000" y="119063"/>
                </a:cubicBezTo>
                <a:lnTo>
                  <a:pt x="381000" y="71438"/>
                </a:lnTo>
                <a:cubicBezTo>
                  <a:pt x="381000" y="45169"/>
                  <a:pt x="356592" y="23812"/>
                  <a:pt x="326571" y="23812"/>
                </a:cubicBezTo>
                <a:lnTo>
                  <a:pt x="54429" y="23812"/>
                </a:lnTo>
                <a:close/>
                <a:moveTo>
                  <a:pt x="238125" y="77391"/>
                </a:moveTo>
                <a:cubicBezTo>
                  <a:pt x="249390" y="77391"/>
                  <a:pt x="258536" y="85393"/>
                  <a:pt x="258536" y="95250"/>
                </a:cubicBezTo>
                <a:cubicBezTo>
                  <a:pt x="258536" y="105107"/>
                  <a:pt x="249390" y="113109"/>
                  <a:pt x="238125" y="113109"/>
                </a:cubicBezTo>
                <a:cubicBezTo>
                  <a:pt x="226860" y="113109"/>
                  <a:pt x="217714" y="105107"/>
                  <a:pt x="217714" y="95250"/>
                </a:cubicBezTo>
                <a:cubicBezTo>
                  <a:pt x="217714" y="85393"/>
                  <a:pt x="226860" y="77391"/>
                  <a:pt x="238125" y="77391"/>
                </a:cubicBezTo>
                <a:close/>
                <a:moveTo>
                  <a:pt x="285750" y="95250"/>
                </a:moveTo>
                <a:cubicBezTo>
                  <a:pt x="285750" y="85393"/>
                  <a:pt x="294896" y="77391"/>
                  <a:pt x="306161" y="77391"/>
                </a:cubicBezTo>
                <a:cubicBezTo>
                  <a:pt x="317426" y="77391"/>
                  <a:pt x="326571" y="85393"/>
                  <a:pt x="326571" y="95250"/>
                </a:cubicBezTo>
                <a:cubicBezTo>
                  <a:pt x="326571" y="105107"/>
                  <a:pt x="317426" y="113109"/>
                  <a:pt x="306161" y="113109"/>
                </a:cubicBezTo>
                <a:cubicBezTo>
                  <a:pt x="294896" y="113109"/>
                  <a:pt x="285750" y="105107"/>
                  <a:pt x="285750" y="95250"/>
                </a:cubicBezTo>
                <a:close/>
                <a:moveTo>
                  <a:pt x="54429" y="214313"/>
                </a:moveTo>
                <a:cubicBezTo>
                  <a:pt x="24408" y="214313"/>
                  <a:pt x="0" y="235669"/>
                  <a:pt x="0" y="261938"/>
                </a:cubicBezTo>
                <a:lnTo>
                  <a:pt x="0" y="309563"/>
                </a:lnTo>
                <a:cubicBezTo>
                  <a:pt x="0" y="335831"/>
                  <a:pt x="24408" y="357188"/>
                  <a:pt x="54429" y="357188"/>
                </a:cubicBezTo>
                <a:lnTo>
                  <a:pt x="326571" y="357188"/>
                </a:lnTo>
                <a:cubicBezTo>
                  <a:pt x="356592" y="357188"/>
                  <a:pt x="381000" y="335831"/>
                  <a:pt x="381000" y="309563"/>
                </a:cubicBezTo>
                <a:lnTo>
                  <a:pt x="381000" y="261938"/>
                </a:lnTo>
                <a:cubicBezTo>
                  <a:pt x="381000" y="235669"/>
                  <a:pt x="356592" y="214313"/>
                  <a:pt x="326571" y="214313"/>
                </a:cubicBezTo>
                <a:lnTo>
                  <a:pt x="54429" y="214313"/>
                </a:lnTo>
                <a:close/>
                <a:moveTo>
                  <a:pt x="238125" y="267891"/>
                </a:moveTo>
                <a:cubicBezTo>
                  <a:pt x="249390" y="267891"/>
                  <a:pt x="258536" y="275893"/>
                  <a:pt x="258536" y="285750"/>
                </a:cubicBezTo>
                <a:cubicBezTo>
                  <a:pt x="258536" y="295607"/>
                  <a:pt x="249390" y="303609"/>
                  <a:pt x="238125" y="303609"/>
                </a:cubicBezTo>
                <a:cubicBezTo>
                  <a:pt x="226860" y="303609"/>
                  <a:pt x="217714" y="295607"/>
                  <a:pt x="217714" y="285750"/>
                </a:cubicBezTo>
                <a:cubicBezTo>
                  <a:pt x="217714" y="275893"/>
                  <a:pt x="226860" y="267891"/>
                  <a:pt x="238125" y="267891"/>
                </a:cubicBezTo>
                <a:close/>
                <a:moveTo>
                  <a:pt x="285750" y="285750"/>
                </a:moveTo>
                <a:cubicBezTo>
                  <a:pt x="285750" y="275893"/>
                  <a:pt x="294896" y="267891"/>
                  <a:pt x="306161" y="267891"/>
                </a:cubicBezTo>
                <a:cubicBezTo>
                  <a:pt x="317426" y="267891"/>
                  <a:pt x="326571" y="275893"/>
                  <a:pt x="326571" y="285750"/>
                </a:cubicBezTo>
                <a:cubicBezTo>
                  <a:pt x="326571" y="295607"/>
                  <a:pt x="317426" y="303609"/>
                  <a:pt x="306161" y="303609"/>
                </a:cubicBezTo>
                <a:cubicBezTo>
                  <a:pt x="294896" y="303609"/>
                  <a:pt x="285750" y="295607"/>
                  <a:pt x="285750" y="285750"/>
                </a:cubicBezTo>
                <a:close/>
              </a:path>
            </a:pathLst>
          </a:custGeom>
          <a:solidFill>
            <a:srgbClr val="4A6FA5"/>
          </a:solidFill>
          <a:ln/>
        </p:spPr>
      </p:sp>
      <p:sp>
        <p:nvSpPr>
          <p:cNvPr id="38" name="Text 35"/>
          <p:cNvSpPr/>
          <p:nvPr/>
        </p:nvSpPr>
        <p:spPr>
          <a:xfrm>
            <a:off x="11239500" y="3492500"/>
            <a:ext cx="3937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Apache HTTP</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Web Server</a:t>
            </a:r>
            <a:endParaRPr lang="en-US" sz="1600" dirty="0"/>
          </a:p>
        </p:txBody>
      </p:sp>
      <p:sp>
        <p:nvSpPr>
          <p:cNvPr id="39" name="Shape 36"/>
          <p:cNvSpPr/>
          <p:nvPr/>
        </p:nvSpPr>
        <p:spPr>
          <a:xfrm>
            <a:off x="10731500" y="4000500"/>
            <a:ext cx="381000" cy="381000"/>
          </a:xfrm>
          <a:custGeom>
            <a:avLst/>
            <a:gdLst/>
            <a:ahLst/>
            <a:cxnLst/>
            <a:rect l="l" t="t" r="r" b="b"/>
            <a:pathLst>
              <a:path w="381000" h="381000">
                <a:moveTo>
                  <a:pt x="381000" y="153144"/>
                </a:moveTo>
                <a:cubicBezTo>
                  <a:pt x="368413" y="160437"/>
                  <a:pt x="353956" y="166315"/>
                  <a:pt x="338903" y="171004"/>
                </a:cubicBezTo>
                <a:cubicBezTo>
                  <a:pt x="298932" y="183505"/>
                  <a:pt x="246459" y="190500"/>
                  <a:pt x="190500" y="190500"/>
                </a:cubicBezTo>
                <a:cubicBezTo>
                  <a:pt x="134541" y="190500"/>
                  <a:pt x="81983" y="183431"/>
                  <a:pt x="42097" y="171004"/>
                </a:cubicBezTo>
                <a:cubicBezTo>
                  <a:pt x="27129" y="166315"/>
                  <a:pt x="12587" y="160437"/>
                  <a:pt x="0" y="153144"/>
                </a:cubicBezTo>
                <a:lnTo>
                  <a:pt x="0" y="214313"/>
                </a:lnTo>
                <a:cubicBezTo>
                  <a:pt x="0" y="247204"/>
                  <a:pt x="85300" y="273844"/>
                  <a:pt x="190500" y="273844"/>
                </a:cubicBezTo>
                <a:cubicBezTo>
                  <a:pt x="295700" y="273844"/>
                  <a:pt x="381000" y="247204"/>
                  <a:pt x="381000" y="214313"/>
                </a:cubicBezTo>
                <a:lnTo>
                  <a:pt x="381000" y="153144"/>
                </a:lnTo>
                <a:close/>
                <a:moveTo>
                  <a:pt x="381000" y="95250"/>
                </a:moveTo>
                <a:lnTo>
                  <a:pt x="381000" y="59531"/>
                </a:lnTo>
                <a:cubicBezTo>
                  <a:pt x="381000" y="26640"/>
                  <a:pt x="295700" y="0"/>
                  <a:pt x="190500" y="0"/>
                </a:cubicBezTo>
                <a:cubicBezTo>
                  <a:pt x="85300" y="0"/>
                  <a:pt x="0" y="26640"/>
                  <a:pt x="0" y="59531"/>
                </a:cubicBezTo>
                <a:lnTo>
                  <a:pt x="0" y="95250"/>
                </a:lnTo>
                <a:cubicBezTo>
                  <a:pt x="0" y="128141"/>
                  <a:pt x="85300" y="154781"/>
                  <a:pt x="190500" y="154781"/>
                </a:cubicBezTo>
                <a:cubicBezTo>
                  <a:pt x="295700" y="154781"/>
                  <a:pt x="381000" y="128141"/>
                  <a:pt x="381000" y="95250"/>
                </a:cubicBezTo>
                <a:close/>
                <a:moveTo>
                  <a:pt x="338903" y="290066"/>
                </a:moveTo>
                <a:cubicBezTo>
                  <a:pt x="299017" y="302493"/>
                  <a:pt x="246544" y="309563"/>
                  <a:pt x="190500" y="309563"/>
                </a:cubicBezTo>
                <a:cubicBezTo>
                  <a:pt x="134456" y="309563"/>
                  <a:pt x="81983" y="302493"/>
                  <a:pt x="42097" y="290066"/>
                </a:cubicBezTo>
                <a:cubicBezTo>
                  <a:pt x="27129" y="285378"/>
                  <a:pt x="12587" y="279499"/>
                  <a:pt x="0" y="272207"/>
                </a:cubicBezTo>
                <a:lnTo>
                  <a:pt x="0" y="321469"/>
                </a:lnTo>
                <a:cubicBezTo>
                  <a:pt x="0" y="354360"/>
                  <a:pt x="85300" y="381000"/>
                  <a:pt x="190500" y="381000"/>
                </a:cubicBezTo>
                <a:cubicBezTo>
                  <a:pt x="295700" y="381000"/>
                  <a:pt x="381000" y="354360"/>
                  <a:pt x="381000" y="321469"/>
                </a:cubicBezTo>
                <a:lnTo>
                  <a:pt x="381000" y="272207"/>
                </a:lnTo>
                <a:cubicBezTo>
                  <a:pt x="368413" y="279499"/>
                  <a:pt x="353956" y="285378"/>
                  <a:pt x="338903" y="290066"/>
                </a:cubicBezTo>
                <a:close/>
              </a:path>
            </a:pathLst>
          </a:custGeom>
          <a:solidFill>
            <a:srgbClr val="00758F"/>
          </a:solidFill>
          <a:ln/>
        </p:spPr>
      </p:sp>
      <p:sp>
        <p:nvSpPr>
          <p:cNvPr id="40" name="Text 37"/>
          <p:cNvSpPr/>
          <p:nvPr/>
        </p:nvSpPr>
        <p:spPr>
          <a:xfrm>
            <a:off x="11239500" y="4000500"/>
            <a:ext cx="3937000" cy="3810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Quattrocento Sans" pitchFamily="34" charset="0"/>
                <a:ea typeface="Quattrocento Sans" pitchFamily="34" charset="-122"/>
                <a:cs typeface="Quattrocento Sans" pitchFamily="34" charset="-120"/>
              </a:rPr>
              <a:t>Amazon RDS MySQL</a:t>
            </a:r>
            <a:pPr algn="l">
              <a:lnSpc>
                <a:spcPct val="120000"/>
              </a:lnSpc>
            </a:pPr>
            <a:r>
              <a:rPr lang="en-US" sz="1600" dirty="0">
                <a:solidFill>
                  <a:srgbClr val="232F3E"/>
                </a:solidFill>
                <a:latin typeface="Quattrocento Sans" pitchFamily="34" charset="0"/>
                <a:ea typeface="Quattrocento Sans" pitchFamily="34" charset="-122"/>
                <a:cs typeface="Quattrocento Sans" pitchFamily="34" charset="-120"/>
              </a:rPr>
              <a:t> — Database</a:t>
            </a:r>
            <a:endParaRPr lang="en-US" sz="1600" dirty="0"/>
          </a:p>
        </p:txBody>
      </p:sp>
      <p:sp>
        <p:nvSpPr>
          <p:cNvPr id="41" name="Shape 38"/>
          <p:cNvSpPr/>
          <p:nvPr/>
        </p:nvSpPr>
        <p:spPr>
          <a:xfrm>
            <a:off x="762000" y="5080000"/>
            <a:ext cx="14732000" cy="3302000"/>
          </a:xfrm>
          <a:prstGeom prst="roundRect">
            <a:avLst>
              <a:gd name="adj" fmla="val 3000"/>
            </a:avLst>
          </a:prstGeom>
          <a:solidFill>
            <a:srgbClr val="232F3E"/>
          </a:solidFill>
          <a:ln/>
        </p:spPr>
      </p:sp>
      <p:sp>
        <p:nvSpPr>
          <p:cNvPr id="42" name="Text 39"/>
          <p:cNvSpPr/>
          <p:nvPr/>
        </p:nvSpPr>
        <p:spPr>
          <a:xfrm>
            <a:off x="1270000" y="5270500"/>
            <a:ext cx="5080000" cy="381000"/>
          </a:xfrm>
          <a:prstGeom prst="rect">
            <a:avLst/>
          </a:prstGeom>
          <a:noFill/>
          <a:ln/>
        </p:spPr>
        <p:txBody>
          <a:bodyPr wrap="none" lIns="0" tIns="0" rIns="0" bIns="0" rtlCol="0" anchor="ctr"/>
          <a:lstStyle/>
          <a:p>
            <a:pPr algn="l">
              <a:lnSpc>
                <a:spcPct val="120000"/>
              </a:lnSpc>
            </a:pPr>
            <a:r>
              <a:rPr lang="en-US" sz="1800" b="1" dirty="0">
                <a:solidFill>
                  <a:srgbClr val="FFFFFF"/>
                </a:solidFill>
                <a:latin typeface="Liter" pitchFamily="34" charset="0"/>
                <a:ea typeface="Liter" pitchFamily="34" charset="-122"/>
                <a:cs typeface="Liter" pitchFamily="34" charset="-120"/>
              </a:rPr>
              <a:t>Three-Tier Architecture</a:t>
            </a:r>
            <a:endParaRPr lang="en-US" sz="1800" dirty="0"/>
          </a:p>
        </p:txBody>
      </p:sp>
      <p:sp>
        <p:nvSpPr>
          <p:cNvPr id="43" name="Shape 40"/>
          <p:cNvSpPr/>
          <p:nvPr/>
        </p:nvSpPr>
        <p:spPr>
          <a:xfrm>
            <a:off x="1270000" y="5842000"/>
            <a:ext cx="4318000" cy="635000"/>
          </a:xfrm>
          <a:prstGeom prst="roundRect">
            <a:avLst>
              <a:gd name="adj" fmla="val 10000"/>
            </a:avLst>
          </a:prstGeom>
          <a:solidFill>
            <a:srgbClr val="FF9900"/>
          </a:solidFill>
          <a:ln/>
        </p:spPr>
      </p:sp>
      <p:sp>
        <p:nvSpPr>
          <p:cNvPr id="44" name="Text 41"/>
          <p:cNvSpPr/>
          <p:nvPr/>
        </p:nvSpPr>
        <p:spPr>
          <a:xfrm>
            <a:off x="1270000" y="5842000"/>
            <a:ext cx="4318000" cy="6350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Quattrocento Sans" pitchFamily="34" charset="0"/>
                <a:ea typeface="Quattrocento Sans" pitchFamily="34" charset="-122"/>
                <a:cs typeface="Quattrocento Sans" pitchFamily="34" charset="-120"/>
              </a:rPr>
              <a:t>Presentation Tier</a:t>
            </a:r>
            <a:pPr algn="ctr">
              <a:lnSpc>
                <a:spcPct val="120000"/>
              </a:lnSpc>
            </a:pPr>
            <a:r>
              <a:rPr lang="en-US" sz="1400" dirty="0">
                <a:solidFill>
                  <a:srgbClr val="FFFFFF"/>
                </a:solidFill>
                <a:latin typeface="Quattrocento Sans" pitchFamily="34" charset="0"/>
                <a:ea typeface="Quattrocento Sans" pitchFamily="34" charset="-122"/>
                <a:cs typeface="Quattrocento Sans" pitchFamily="34" charset="-120"/>
              </a:rPr>
              <a:t> — HTML, CSS, JavaScript</a:t>
            </a:r>
            <a:endParaRPr lang="en-US" sz="1400" dirty="0"/>
          </a:p>
        </p:txBody>
      </p:sp>
      <p:sp>
        <p:nvSpPr>
          <p:cNvPr id="45" name="Shape 42"/>
          <p:cNvSpPr/>
          <p:nvPr/>
        </p:nvSpPr>
        <p:spPr>
          <a:xfrm>
            <a:off x="3302000" y="6477000"/>
            <a:ext cx="0" cy="254000"/>
          </a:xfrm>
          <a:prstGeom prst="straightConnector1">
            <a:avLst/>
          </a:prstGeom>
          <a:noFill/>
          <a:ln w="25400">
            <a:solidFill>
              <a:srgbClr val="FF9900"/>
            </a:solidFill>
            <a:prstDash val="solid"/>
            <a:headEnd type="none"/>
            <a:tailEnd type="arrow"/>
          </a:ln>
        </p:spPr>
      </p:sp>
      <p:sp>
        <p:nvSpPr>
          <p:cNvPr id="46" name="Shape 43"/>
          <p:cNvSpPr/>
          <p:nvPr/>
        </p:nvSpPr>
        <p:spPr>
          <a:xfrm>
            <a:off x="1270000" y="6731000"/>
            <a:ext cx="4318000" cy="635000"/>
          </a:xfrm>
          <a:prstGeom prst="roundRect">
            <a:avLst>
              <a:gd name="adj" fmla="val 10000"/>
            </a:avLst>
          </a:prstGeom>
          <a:solidFill>
            <a:srgbClr val="4A6FA5"/>
          </a:solidFill>
          <a:ln/>
        </p:spPr>
      </p:sp>
      <p:sp>
        <p:nvSpPr>
          <p:cNvPr id="47" name="Text 44"/>
          <p:cNvSpPr/>
          <p:nvPr/>
        </p:nvSpPr>
        <p:spPr>
          <a:xfrm>
            <a:off x="1270000" y="6731000"/>
            <a:ext cx="4318000" cy="6350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Quattrocento Sans" pitchFamily="34" charset="0"/>
                <a:ea typeface="Quattrocento Sans" pitchFamily="34" charset="-122"/>
                <a:cs typeface="Quattrocento Sans" pitchFamily="34" charset="-120"/>
              </a:rPr>
              <a:t>Application Tier</a:t>
            </a:r>
            <a:pPr algn="ctr">
              <a:lnSpc>
                <a:spcPct val="120000"/>
              </a:lnSpc>
            </a:pPr>
            <a:r>
              <a:rPr lang="en-US" sz="1400" dirty="0">
                <a:solidFill>
                  <a:srgbClr val="FFFFFF"/>
                </a:solidFill>
                <a:latin typeface="Quattrocento Sans" pitchFamily="34" charset="0"/>
                <a:ea typeface="Quattrocento Sans" pitchFamily="34" charset="-122"/>
                <a:cs typeface="Quattrocento Sans" pitchFamily="34" charset="-120"/>
              </a:rPr>
              <a:t> — Python Flask + Apache</a:t>
            </a:r>
            <a:endParaRPr lang="en-US" sz="1400" dirty="0"/>
          </a:p>
        </p:txBody>
      </p:sp>
      <p:sp>
        <p:nvSpPr>
          <p:cNvPr id="48" name="Shape 45"/>
          <p:cNvSpPr/>
          <p:nvPr/>
        </p:nvSpPr>
        <p:spPr>
          <a:xfrm>
            <a:off x="3302000" y="7366000"/>
            <a:ext cx="0" cy="254000"/>
          </a:xfrm>
          <a:prstGeom prst="straightConnector1">
            <a:avLst/>
          </a:prstGeom>
          <a:noFill/>
          <a:ln w="25400">
            <a:solidFill>
              <a:srgbClr val="FF9900"/>
            </a:solidFill>
            <a:prstDash val="solid"/>
            <a:headEnd type="none"/>
            <a:tailEnd type="arrow"/>
          </a:ln>
        </p:spPr>
      </p:sp>
      <p:sp>
        <p:nvSpPr>
          <p:cNvPr id="49" name="Shape 46"/>
          <p:cNvSpPr/>
          <p:nvPr/>
        </p:nvSpPr>
        <p:spPr>
          <a:xfrm>
            <a:off x="1270000" y="7620000"/>
            <a:ext cx="4318000" cy="635000"/>
          </a:xfrm>
          <a:prstGeom prst="roundRect">
            <a:avLst>
              <a:gd name="adj" fmla="val 10000"/>
            </a:avLst>
          </a:prstGeom>
          <a:solidFill>
            <a:srgbClr val="27AE60"/>
          </a:solidFill>
          <a:ln/>
        </p:spPr>
      </p:sp>
      <p:sp>
        <p:nvSpPr>
          <p:cNvPr id="50" name="Text 47"/>
          <p:cNvSpPr/>
          <p:nvPr/>
        </p:nvSpPr>
        <p:spPr>
          <a:xfrm>
            <a:off x="1270000" y="7620000"/>
            <a:ext cx="4318000" cy="6350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Quattrocento Sans" pitchFamily="34" charset="0"/>
                <a:ea typeface="Quattrocento Sans" pitchFamily="34" charset="-122"/>
                <a:cs typeface="Quattrocento Sans" pitchFamily="34" charset="-120"/>
              </a:rPr>
              <a:t>Data Tier</a:t>
            </a:r>
            <a:pPr algn="ctr">
              <a:lnSpc>
                <a:spcPct val="120000"/>
              </a:lnSpc>
            </a:pPr>
            <a:r>
              <a:rPr lang="en-US" sz="1400" dirty="0">
                <a:solidFill>
                  <a:srgbClr val="FFFFFF"/>
                </a:solidFill>
                <a:latin typeface="Quattrocento Sans" pitchFamily="34" charset="0"/>
                <a:ea typeface="Quattrocento Sans" pitchFamily="34" charset="-122"/>
                <a:cs typeface="Quattrocento Sans" pitchFamily="34" charset="-120"/>
              </a:rPr>
              <a:t> — Amazon RDS (MySQL)</a:t>
            </a:r>
            <a:endParaRPr lang="en-US" sz="1400" dirty="0"/>
          </a:p>
        </p:txBody>
      </p:sp>
      <p:sp>
        <p:nvSpPr>
          <p:cNvPr id="51" name="Text 48"/>
          <p:cNvSpPr/>
          <p:nvPr/>
        </p:nvSpPr>
        <p:spPr>
          <a:xfrm>
            <a:off x="6350000" y="5842000"/>
            <a:ext cx="8636000" cy="2413000"/>
          </a:xfrm>
          <a:prstGeom prst="rect">
            <a:avLst/>
          </a:prstGeom>
          <a:noFill/>
          <a:ln/>
        </p:spPr>
        <p:txBody>
          <a:bodyPr wrap="square" lIns="0" tIns="0" rIns="0" bIns="0" rtlCol="0" anchor="t"/>
          <a:lstStyle/>
          <a:p>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The application follows a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three-tier architecture</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pattern:</a:t>
            </a:r>
            <a:endParaRPr lang="en-US" sz="1500" dirty="0"/>
          </a:p>
          <a:p>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Presentation Tier:</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Handles user interface rendering</a:t>
            </a:r>
            <a:endParaRPr lang="en-US" sz="1500" dirty="0"/>
          </a:p>
          <a:p>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Application Tier:</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Processes business logic and API requests</a:t>
            </a:r>
            <a:endParaRPr lang="en-US" sz="1500" dirty="0"/>
          </a:p>
          <a:p>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Data Tier:</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Manages persistent data storage and retrieval</a:t>
            </a:r>
            <a:endParaRPr lang="en-US" sz="1500" dirty="0"/>
          </a:p>
          <a:p>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Each tier can be scaled independently based on demand.</a:t>
            </a:r>
            <a:endParaRPr lang="en-US" sz="1500" dirty="0"/>
          </a:p>
        </p:txBody>
      </p:sp>
      <p:sp>
        <p:nvSpPr>
          <p:cNvPr id="52" name="Text 49"/>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07</a:t>
            </a:r>
            <a:endParaRPr lang="en-US" sz="1400" dirty="0"/>
          </a:p>
        </p:txBody>
      </p:sp>
    </p:spTree>
  </p:cSld>
  <p:clrMapOvr>
    <a:masterClrMapping/>
  </p:clrMapOvr>
  <p:transition>
    <p:fade/>
    <p:spd val="med"/>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2705100" y="457200"/>
            <a:ext cx="27051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TECH STACK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AWS SERVICES</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EC2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RDS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SECURITY</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AWS SERVICES OVERVIEW</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651000"/>
            <a:ext cx="3429000" cy="3048000"/>
          </a:xfrm>
          <a:prstGeom prst="roundRect">
            <a:avLst>
              <a:gd name="adj" fmla="val 8000"/>
            </a:avLst>
          </a:prstGeom>
          <a:solidFill>
            <a:srgbClr val="F0F4F8"/>
          </a:solidFill>
          <a:ln/>
        </p:spPr>
      </p:sp>
      <p:sp>
        <p:nvSpPr>
          <p:cNvPr id="9" name="Shape 6"/>
          <p:cNvSpPr/>
          <p:nvPr/>
        </p:nvSpPr>
        <p:spPr>
          <a:xfrm>
            <a:off x="1016000" y="1879600"/>
            <a:ext cx="508000" cy="508000"/>
          </a:xfrm>
          <a:custGeom>
            <a:avLst/>
            <a:gdLst/>
            <a:ahLst/>
            <a:cxnLst/>
            <a:rect l="l" t="t" r="r" b="b"/>
            <a:pathLst>
              <a:path w="508000" h="508000">
                <a:moveTo>
                  <a:pt x="72571" y="31750"/>
                </a:moveTo>
                <a:cubicBezTo>
                  <a:pt x="32544" y="31750"/>
                  <a:pt x="0" y="60226"/>
                  <a:pt x="0" y="95250"/>
                </a:cubicBezTo>
                <a:lnTo>
                  <a:pt x="0" y="158750"/>
                </a:lnTo>
                <a:cubicBezTo>
                  <a:pt x="0" y="193774"/>
                  <a:pt x="32544" y="222250"/>
                  <a:pt x="72571" y="222250"/>
                </a:cubicBezTo>
                <a:lnTo>
                  <a:pt x="435429" y="222250"/>
                </a:lnTo>
                <a:cubicBezTo>
                  <a:pt x="475456" y="222250"/>
                  <a:pt x="508000" y="193774"/>
                  <a:pt x="508000" y="158750"/>
                </a:cubicBezTo>
                <a:lnTo>
                  <a:pt x="508000" y="95250"/>
                </a:lnTo>
                <a:cubicBezTo>
                  <a:pt x="508000" y="60226"/>
                  <a:pt x="475456" y="31750"/>
                  <a:pt x="435429" y="31750"/>
                </a:cubicBezTo>
                <a:lnTo>
                  <a:pt x="72571" y="31750"/>
                </a:lnTo>
                <a:close/>
                <a:moveTo>
                  <a:pt x="317500" y="103188"/>
                </a:moveTo>
                <a:cubicBezTo>
                  <a:pt x="332520" y="103188"/>
                  <a:pt x="344714" y="113858"/>
                  <a:pt x="344714" y="127000"/>
                </a:cubicBezTo>
                <a:cubicBezTo>
                  <a:pt x="344714" y="140142"/>
                  <a:pt x="332520" y="150813"/>
                  <a:pt x="317500" y="150813"/>
                </a:cubicBezTo>
                <a:cubicBezTo>
                  <a:pt x="302480" y="150813"/>
                  <a:pt x="290286" y="140142"/>
                  <a:pt x="290286" y="127000"/>
                </a:cubicBezTo>
                <a:cubicBezTo>
                  <a:pt x="290286" y="113858"/>
                  <a:pt x="302480" y="103188"/>
                  <a:pt x="317500" y="103188"/>
                </a:cubicBezTo>
                <a:close/>
                <a:moveTo>
                  <a:pt x="381000" y="127000"/>
                </a:moveTo>
                <a:cubicBezTo>
                  <a:pt x="381000" y="113858"/>
                  <a:pt x="393194" y="103188"/>
                  <a:pt x="408214" y="103188"/>
                </a:cubicBezTo>
                <a:cubicBezTo>
                  <a:pt x="423234" y="103188"/>
                  <a:pt x="435429" y="113858"/>
                  <a:pt x="435429" y="127000"/>
                </a:cubicBezTo>
                <a:cubicBezTo>
                  <a:pt x="435429" y="140142"/>
                  <a:pt x="423234" y="150813"/>
                  <a:pt x="408214" y="150813"/>
                </a:cubicBezTo>
                <a:cubicBezTo>
                  <a:pt x="393194" y="150813"/>
                  <a:pt x="381000" y="140142"/>
                  <a:pt x="381000" y="127000"/>
                </a:cubicBezTo>
                <a:close/>
                <a:moveTo>
                  <a:pt x="72571" y="285750"/>
                </a:moveTo>
                <a:cubicBezTo>
                  <a:pt x="32544" y="285750"/>
                  <a:pt x="0" y="314226"/>
                  <a:pt x="0" y="349250"/>
                </a:cubicBezTo>
                <a:lnTo>
                  <a:pt x="0" y="412750"/>
                </a:lnTo>
                <a:cubicBezTo>
                  <a:pt x="0" y="447774"/>
                  <a:pt x="32544" y="476250"/>
                  <a:pt x="72571" y="476250"/>
                </a:cubicBezTo>
                <a:lnTo>
                  <a:pt x="435429" y="476250"/>
                </a:lnTo>
                <a:cubicBezTo>
                  <a:pt x="475456" y="476250"/>
                  <a:pt x="508000" y="447774"/>
                  <a:pt x="508000" y="412750"/>
                </a:cubicBezTo>
                <a:lnTo>
                  <a:pt x="508000" y="349250"/>
                </a:lnTo>
                <a:cubicBezTo>
                  <a:pt x="508000" y="314226"/>
                  <a:pt x="475456" y="285750"/>
                  <a:pt x="435429" y="285750"/>
                </a:cubicBezTo>
                <a:lnTo>
                  <a:pt x="72571" y="285750"/>
                </a:lnTo>
                <a:close/>
                <a:moveTo>
                  <a:pt x="317500" y="357188"/>
                </a:moveTo>
                <a:cubicBezTo>
                  <a:pt x="332520" y="357188"/>
                  <a:pt x="344714" y="367858"/>
                  <a:pt x="344714" y="381000"/>
                </a:cubicBezTo>
                <a:cubicBezTo>
                  <a:pt x="344714" y="394142"/>
                  <a:pt x="332520" y="404813"/>
                  <a:pt x="317500" y="404813"/>
                </a:cubicBezTo>
                <a:cubicBezTo>
                  <a:pt x="302480" y="404813"/>
                  <a:pt x="290286" y="394142"/>
                  <a:pt x="290286" y="381000"/>
                </a:cubicBezTo>
                <a:cubicBezTo>
                  <a:pt x="290286" y="367858"/>
                  <a:pt x="302480" y="357188"/>
                  <a:pt x="317500" y="357188"/>
                </a:cubicBezTo>
                <a:close/>
                <a:moveTo>
                  <a:pt x="381000" y="381000"/>
                </a:moveTo>
                <a:cubicBezTo>
                  <a:pt x="381000" y="367858"/>
                  <a:pt x="393194" y="357188"/>
                  <a:pt x="408214" y="357188"/>
                </a:cubicBezTo>
                <a:cubicBezTo>
                  <a:pt x="423234" y="357188"/>
                  <a:pt x="435429" y="367858"/>
                  <a:pt x="435429" y="381000"/>
                </a:cubicBezTo>
                <a:cubicBezTo>
                  <a:pt x="435429" y="394142"/>
                  <a:pt x="423234" y="404813"/>
                  <a:pt x="408214" y="404813"/>
                </a:cubicBezTo>
                <a:cubicBezTo>
                  <a:pt x="393194" y="404813"/>
                  <a:pt x="381000" y="394142"/>
                  <a:pt x="381000" y="381000"/>
                </a:cubicBezTo>
                <a:close/>
              </a:path>
            </a:pathLst>
          </a:custGeom>
          <a:solidFill>
            <a:srgbClr val="FF9900"/>
          </a:solidFill>
          <a:ln/>
        </p:spPr>
      </p:sp>
      <p:sp>
        <p:nvSpPr>
          <p:cNvPr id="10" name="Text 7"/>
          <p:cNvSpPr/>
          <p:nvPr/>
        </p:nvSpPr>
        <p:spPr>
          <a:xfrm>
            <a:off x="1016000" y="2489200"/>
            <a:ext cx="292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Amazon EC2</a:t>
            </a:r>
            <a:endParaRPr lang="en-US" sz="1600" dirty="0"/>
          </a:p>
        </p:txBody>
      </p:sp>
      <p:sp>
        <p:nvSpPr>
          <p:cNvPr id="11" name="Text 8"/>
          <p:cNvSpPr/>
          <p:nvPr/>
        </p:nvSpPr>
        <p:spPr>
          <a:xfrm>
            <a:off x="1016000" y="2844800"/>
            <a:ext cx="2921000" cy="1651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Virtual servers providing resizable compute capacity in the cloud.</a:t>
            </a:r>
            <a:endParaRPr lang="en-US" sz="1400" dirty="0"/>
          </a:p>
        </p:txBody>
      </p:sp>
      <p:sp>
        <p:nvSpPr>
          <p:cNvPr id="12" name="Shape 9"/>
          <p:cNvSpPr/>
          <p:nvPr/>
        </p:nvSpPr>
        <p:spPr>
          <a:xfrm>
            <a:off x="4445000" y="1651000"/>
            <a:ext cx="3429000" cy="3048000"/>
          </a:xfrm>
          <a:prstGeom prst="roundRect">
            <a:avLst>
              <a:gd name="adj" fmla="val 8000"/>
            </a:avLst>
          </a:prstGeom>
          <a:solidFill>
            <a:srgbClr val="F0F4F8"/>
          </a:solidFill>
          <a:ln/>
        </p:spPr>
      </p:sp>
      <p:sp>
        <p:nvSpPr>
          <p:cNvPr id="13" name="Shape 10"/>
          <p:cNvSpPr/>
          <p:nvPr/>
        </p:nvSpPr>
        <p:spPr>
          <a:xfrm>
            <a:off x="4699000" y="1879600"/>
            <a:ext cx="508000" cy="508000"/>
          </a:xfrm>
          <a:custGeom>
            <a:avLst/>
            <a:gdLst/>
            <a:ahLst/>
            <a:cxnLst/>
            <a:rect l="l" t="t" r="r" b="b"/>
            <a:pathLst>
              <a:path w="508000" h="508000">
                <a:moveTo>
                  <a:pt x="508000" y="204192"/>
                </a:moveTo>
                <a:cubicBezTo>
                  <a:pt x="491218" y="213916"/>
                  <a:pt x="471941" y="221754"/>
                  <a:pt x="451871" y="228005"/>
                </a:cubicBezTo>
                <a:cubicBezTo>
                  <a:pt x="398576" y="244673"/>
                  <a:pt x="328613" y="254000"/>
                  <a:pt x="254000" y="254000"/>
                </a:cubicBezTo>
                <a:cubicBezTo>
                  <a:pt x="179387" y="254000"/>
                  <a:pt x="109311" y="244574"/>
                  <a:pt x="56129" y="228005"/>
                </a:cubicBezTo>
                <a:cubicBezTo>
                  <a:pt x="36172" y="221754"/>
                  <a:pt x="16782" y="213916"/>
                  <a:pt x="0" y="204192"/>
                </a:cubicBezTo>
                <a:lnTo>
                  <a:pt x="0" y="285750"/>
                </a:lnTo>
                <a:cubicBezTo>
                  <a:pt x="0" y="329605"/>
                  <a:pt x="113733" y="365125"/>
                  <a:pt x="254000" y="365125"/>
                </a:cubicBezTo>
                <a:cubicBezTo>
                  <a:pt x="394267" y="365125"/>
                  <a:pt x="508000" y="329605"/>
                  <a:pt x="508000" y="285750"/>
                </a:cubicBezTo>
                <a:lnTo>
                  <a:pt x="508000" y="204192"/>
                </a:lnTo>
                <a:close/>
                <a:moveTo>
                  <a:pt x="508000" y="127000"/>
                </a:moveTo>
                <a:lnTo>
                  <a:pt x="508000" y="79375"/>
                </a:lnTo>
                <a:cubicBezTo>
                  <a:pt x="508000" y="35520"/>
                  <a:pt x="394267" y="0"/>
                  <a:pt x="254000" y="0"/>
                </a:cubicBezTo>
                <a:cubicBezTo>
                  <a:pt x="113733" y="0"/>
                  <a:pt x="0" y="35520"/>
                  <a:pt x="0" y="79375"/>
                </a:cubicBezTo>
                <a:lnTo>
                  <a:pt x="0" y="127000"/>
                </a:lnTo>
                <a:cubicBezTo>
                  <a:pt x="0" y="170855"/>
                  <a:pt x="113733" y="206375"/>
                  <a:pt x="254000" y="206375"/>
                </a:cubicBezTo>
                <a:cubicBezTo>
                  <a:pt x="394267" y="206375"/>
                  <a:pt x="508000" y="170855"/>
                  <a:pt x="508000" y="127000"/>
                </a:cubicBezTo>
                <a:close/>
                <a:moveTo>
                  <a:pt x="451871" y="386755"/>
                </a:moveTo>
                <a:cubicBezTo>
                  <a:pt x="398689" y="403324"/>
                  <a:pt x="328726" y="412750"/>
                  <a:pt x="254000" y="412750"/>
                </a:cubicBezTo>
                <a:cubicBezTo>
                  <a:pt x="179274" y="412750"/>
                  <a:pt x="109311" y="403324"/>
                  <a:pt x="56129" y="386755"/>
                </a:cubicBezTo>
                <a:cubicBezTo>
                  <a:pt x="36172" y="380504"/>
                  <a:pt x="16782" y="372666"/>
                  <a:pt x="0" y="362942"/>
                </a:cubicBezTo>
                <a:lnTo>
                  <a:pt x="0" y="428625"/>
                </a:lnTo>
                <a:cubicBezTo>
                  <a:pt x="0" y="472480"/>
                  <a:pt x="113733" y="508000"/>
                  <a:pt x="254000" y="508000"/>
                </a:cubicBezTo>
                <a:cubicBezTo>
                  <a:pt x="394267" y="508000"/>
                  <a:pt x="508000" y="472480"/>
                  <a:pt x="508000" y="428625"/>
                </a:cubicBezTo>
                <a:lnTo>
                  <a:pt x="508000" y="362942"/>
                </a:lnTo>
                <a:cubicBezTo>
                  <a:pt x="491218" y="372666"/>
                  <a:pt x="471941" y="380504"/>
                  <a:pt x="451871" y="386755"/>
                </a:cubicBezTo>
                <a:close/>
              </a:path>
            </a:pathLst>
          </a:custGeom>
          <a:solidFill>
            <a:srgbClr val="FF9900"/>
          </a:solidFill>
          <a:ln/>
        </p:spPr>
      </p:sp>
      <p:sp>
        <p:nvSpPr>
          <p:cNvPr id="14" name="Text 11"/>
          <p:cNvSpPr/>
          <p:nvPr/>
        </p:nvSpPr>
        <p:spPr>
          <a:xfrm>
            <a:off x="4699000" y="2489200"/>
            <a:ext cx="292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Amazon RDS</a:t>
            </a:r>
            <a:endParaRPr lang="en-US" sz="1600" dirty="0"/>
          </a:p>
        </p:txBody>
      </p:sp>
      <p:sp>
        <p:nvSpPr>
          <p:cNvPr id="15" name="Text 12"/>
          <p:cNvSpPr/>
          <p:nvPr/>
        </p:nvSpPr>
        <p:spPr>
          <a:xfrm>
            <a:off x="4699000" y="2844800"/>
            <a:ext cx="2921000" cy="1651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Managed relational database service supporting MySQL, PostgreSQL, and more.</a:t>
            </a:r>
            <a:endParaRPr lang="en-US" sz="1400" dirty="0"/>
          </a:p>
        </p:txBody>
      </p:sp>
      <p:sp>
        <p:nvSpPr>
          <p:cNvPr id="16" name="Shape 13"/>
          <p:cNvSpPr/>
          <p:nvPr/>
        </p:nvSpPr>
        <p:spPr>
          <a:xfrm>
            <a:off x="8128000" y="1651000"/>
            <a:ext cx="3429000" cy="3048000"/>
          </a:xfrm>
          <a:prstGeom prst="roundRect">
            <a:avLst>
              <a:gd name="adj" fmla="val 8000"/>
            </a:avLst>
          </a:prstGeom>
          <a:solidFill>
            <a:srgbClr val="F0F4F8"/>
          </a:solidFill>
          <a:ln/>
        </p:spPr>
      </p:sp>
      <p:sp>
        <p:nvSpPr>
          <p:cNvPr id="17" name="Shape 14"/>
          <p:cNvSpPr/>
          <p:nvPr/>
        </p:nvSpPr>
        <p:spPr>
          <a:xfrm>
            <a:off x="8382000" y="1879600"/>
            <a:ext cx="508000" cy="508000"/>
          </a:xfrm>
          <a:custGeom>
            <a:avLst/>
            <a:gdLst/>
            <a:ahLst/>
            <a:cxnLst/>
            <a:rect l="l" t="t" r="r" b="b"/>
            <a:pathLst>
              <a:path w="508000" h="508000">
                <a:moveTo>
                  <a:pt x="218722" y="87313"/>
                </a:moveTo>
                <a:lnTo>
                  <a:pt x="289278" y="87313"/>
                </a:lnTo>
                <a:lnTo>
                  <a:pt x="289278" y="134938"/>
                </a:lnTo>
                <a:lnTo>
                  <a:pt x="218722" y="134938"/>
                </a:lnTo>
                <a:lnTo>
                  <a:pt x="218722" y="87313"/>
                </a:lnTo>
                <a:close/>
                <a:moveTo>
                  <a:pt x="211667" y="31750"/>
                </a:moveTo>
                <a:cubicBezTo>
                  <a:pt x="188295" y="31750"/>
                  <a:pt x="169333" y="53082"/>
                  <a:pt x="169333" y="79375"/>
                </a:cubicBezTo>
                <a:lnTo>
                  <a:pt x="169333" y="142875"/>
                </a:lnTo>
                <a:cubicBezTo>
                  <a:pt x="169333" y="169168"/>
                  <a:pt x="188295" y="190500"/>
                  <a:pt x="211667" y="190500"/>
                </a:cubicBezTo>
                <a:lnTo>
                  <a:pt x="225778" y="190500"/>
                </a:lnTo>
                <a:lnTo>
                  <a:pt x="225778" y="222250"/>
                </a:lnTo>
                <a:lnTo>
                  <a:pt x="28222" y="222250"/>
                </a:lnTo>
                <a:cubicBezTo>
                  <a:pt x="12612" y="222250"/>
                  <a:pt x="0" y="236438"/>
                  <a:pt x="0" y="254000"/>
                </a:cubicBezTo>
                <a:cubicBezTo>
                  <a:pt x="0" y="271562"/>
                  <a:pt x="12612" y="285750"/>
                  <a:pt x="28222" y="285750"/>
                </a:cubicBezTo>
                <a:lnTo>
                  <a:pt x="112889" y="285750"/>
                </a:lnTo>
                <a:lnTo>
                  <a:pt x="112889" y="317500"/>
                </a:lnTo>
                <a:lnTo>
                  <a:pt x="98778" y="317500"/>
                </a:lnTo>
                <a:cubicBezTo>
                  <a:pt x="75406" y="317500"/>
                  <a:pt x="56444" y="338832"/>
                  <a:pt x="56444" y="365125"/>
                </a:cubicBezTo>
                <a:lnTo>
                  <a:pt x="56444" y="428625"/>
                </a:lnTo>
                <a:cubicBezTo>
                  <a:pt x="56444" y="454918"/>
                  <a:pt x="75406" y="476250"/>
                  <a:pt x="98778" y="476250"/>
                </a:cubicBezTo>
                <a:lnTo>
                  <a:pt x="183444" y="476250"/>
                </a:lnTo>
                <a:cubicBezTo>
                  <a:pt x="206816" y="476250"/>
                  <a:pt x="225778" y="454918"/>
                  <a:pt x="225778" y="428625"/>
                </a:cubicBezTo>
                <a:lnTo>
                  <a:pt x="225778" y="365125"/>
                </a:lnTo>
                <a:cubicBezTo>
                  <a:pt x="225778" y="338832"/>
                  <a:pt x="206816" y="317500"/>
                  <a:pt x="183444" y="317500"/>
                </a:cubicBezTo>
                <a:lnTo>
                  <a:pt x="169333" y="317500"/>
                </a:lnTo>
                <a:lnTo>
                  <a:pt x="169333" y="285750"/>
                </a:lnTo>
                <a:lnTo>
                  <a:pt x="338667" y="285750"/>
                </a:lnTo>
                <a:lnTo>
                  <a:pt x="338667" y="317500"/>
                </a:lnTo>
                <a:lnTo>
                  <a:pt x="324556" y="317500"/>
                </a:lnTo>
                <a:cubicBezTo>
                  <a:pt x="301184" y="317500"/>
                  <a:pt x="282222" y="338832"/>
                  <a:pt x="282222" y="365125"/>
                </a:cubicBezTo>
                <a:lnTo>
                  <a:pt x="282222" y="428625"/>
                </a:lnTo>
                <a:cubicBezTo>
                  <a:pt x="282222" y="454918"/>
                  <a:pt x="301184" y="476250"/>
                  <a:pt x="324556" y="476250"/>
                </a:cubicBezTo>
                <a:lnTo>
                  <a:pt x="409222" y="476250"/>
                </a:lnTo>
                <a:cubicBezTo>
                  <a:pt x="432594" y="476250"/>
                  <a:pt x="451556" y="454918"/>
                  <a:pt x="451556" y="428625"/>
                </a:cubicBezTo>
                <a:lnTo>
                  <a:pt x="451556" y="365125"/>
                </a:lnTo>
                <a:cubicBezTo>
                  <a:pt x="451556" y="338832"/>
                  <a:pt x="432594" y="317500"/>
                  <a:pt x="409222" y="317500"/>
                </a:cubicBezTo>
                <a:lnTo>
                  <a:pt x="395111" y="317500"/>
                </a:lnTo>
                <a:lnTo>
                  <a:pt x="395111" y="285750"/>
                </a:lnTo>
                <a:lnTo>
                  <a:pt x="479778" y="285750"/>
                </a:lnTo>
                <a:cubicBezTo>
                  <a:pt x="495388" y="285750"/>
                  <a:pt x="508000" y="271562"/>
                  <a:pt x="508000" y="254000"/>
                </a:cubicBezTo>
                <a:cubicBezTo>
                  <a:pt x="508000" y="236438"/>
                  <a:pt x="495388" y="222250"/>
                  <a:pt x="479778" y="222250"/>
                </a:cubicBezTo>
                <a:lnTo>
                  <a:pt x="282222" y="222250"/>
                </a:lnTo>
                <a:lnTo>
                  <a:pt x="282222" y="190500"/>
                </a:lnTo>
                <a:lnTo>
                  <a:pt x="296333" y="190500"/>
                </a:lnTo>
                <a:cubicBezTo>
                  <a:pt x="319705" y="190500"/>
                  <a:pt x="338667" y="169168"/>
                  <a:pt x="338667" y="142875"/>
                </a:cubicBezTo>
                <a:lnTo>
                  <a:pt x="338667" y="79375"/>
                </a:lnTo>
                <a:cubicBezTo>
                  <a:pt x="338667" y="53082"/>
                  <a:pt x="319705" y="31750"/>
                  <a:pt x="296333" y="31750"/>
                </a:cubicBezTo>
                <a:lnTo>
                  <a:pt x="211667" y="31750"/>
                </a:lnTo>
                <a:close/>
                <a:moveTo>
                  <a:pt x="395111" y="373063"/>
                </a:moveTo>
                <a:lnTo>
                  <a:pt x="402167" y="373063"/>
                </a:lnTo>
                <a:lnTo>
                  <a:pt x="402167" y="420688"/>
                </a:lnTo>
                <a:lnTo>
                  <a:pt x="331611" y="420688"/>
                </a:lnTo>
                <a:lnTo>
                  <a:pt x="331611" y="373063"/>
                </a:lnTo>
                <a:lnTo>
                  <a:pt x="395111" y="373063"/>
                </a:lnTo>
                <a:close/>
                <a:moveTo>
                  <a:pt x="169333" y="373063"/>
                </a:moveTo>
                <a:lnTo>
                  <a:pt x="176389" y="373063"/>
                </a:lnTo>
                <a:lnTo>
                  <a:pt x="176389" y="420688"/>
                </a:lnTo>
                <a:lnTo>
                  <a:pt x="105833" y="420688"/>
                </a:lnTo>
                <a:lnTo>
                  <a:pt x="105833" y="373063"/>
                </a:lnTo>
                <a:lnTo>
                  <a:pt x="169333" y="373063"/>
                </a:lnTo>
                <a:close/>
              </a:path>
            </a:pathLst>
          </a:custGeom>
          <a:solidFill>
            <a:srgbClr val="FF9900"/>
          </a:solidFill>
          <a:ln/>
        </p:spPr>
      </p:sp>
      <p:sp>
        <p:nvSpPr>
          <p:cNvPr id="18" name="Text 15"/>
          <p:cNvSpPr/>
          <p:nvPr/>
        </p:nvSpPr>
        <p:spPr>
          <a:xfrm>
            <a:off x="8382000" y="2489200"/>
            <a:ext cx="292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Application LB</a:t>
            </a:r>
            <a:endParaRPr lang="en-US" sz="1600" dirty="0"/>
          </a:p>
        </p:txBody>
      </p:sp>
      <p:sp>
        <p:nvSpPr>
          <p:cNvPr id="19" name="Text 16"/>
          <p:cNvSpPr/>
          <p:nvPr/>
        </p:nvSpPr>
        <p:spPr>
          <a:xfrm>
            <a:off x="8382000" y="2844800"/>
            <a:ext cx="2921000" cy="1651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Distributes incoming traffic across multiple targets for high availability.</a:t>
            </a:r>
            <a:endParaRPr lang="en-US" sz="1400" dirty="0"/>
          </a:p>
        </p:txBody>
      </p:sp>
      <p:sp>
        <p:nvSpPr>
          <p:cNvPr id="20" name="Shape 17"/>
          <p:cNvSpPr/>
          <p:nvPr/>
        </p:nvSpPr>
        <p:spPr>
          <a:xfrm>
            <a:off x="11811000" y="1651000"/>
            <a:ext cx="3683000" cy="3048000"/>
          </a:xfrm>
          <a:prstGeom prst="roundRect">
            <a:avLst>
              <a:gd name="adj" fmla="val 8000"/>
            </a:avLst>
          </a:prstGeom>
          <a:solidFill>
            <a:srgbClr val="F0F4F8"/>
          </a:solidFill>
          <a:ln/>
        </p:spPr>
      </p:sp>
      <p:sp>
        <p:nvSpPr>
          <p:cNvPr id="21" name="Shape 18"/>
          <p:cNvSpPr/>
          <p:nvPr/>
        </p:nvSpPr>
        <p:spPr>
          <a:xfrm>
            <a:off x="12065000" y="1879600"/>
            <a:ext cx="508000" cy="508000"/>
          </a:xfrm>
          <a:custGeom>
            <a:avLst/>
            <a:gdLst/>
            <a:ahLst/>
            <a:cxnLst/>
            <a:rect l="l" t="t" r="r" b="b"/>
            <a:pathLst>
              <a:path w="508000" h="508000">
                <a:moveTo>
                  <a:pt x="63500" y="63500"/>
                </a:moveTo>
                <a:cubicBezTo>
                  <a:pt x="63500" y="45938"/>
                  <a:pt x="49312" y="31750"/>
                  <a:pt x="31750" y="31750"/>
                </a:cubicBezTo>
                <a:cubicBezTo>
                  <a:pt x="14188" y="31750"/>
                  <a:pt x="0" y="45938"/>
                  <a:pt x="0" y="63500"/>
                </a:cubicBezTo>
                <a:lnTo>
                  <a:pt x="0" y="396875"/>
                </a:lnTo>
                <a:cubicBezTo>
                  <a:pt x="0" y="440730"/>
                  <a:pt x="35520" y="476250"/>
                  <a:pt x="79375" y="476250"/>
                </a:cubicBezTo>
                <a:lnTo>
                  <a:pt x="476250" y="476250"/>
                </a:lnTo>
                <a:cubicBezTo>
                  <a:pt x="493812" y="476250"/>
                  <a:pt x="508000" y="462062"/>
                  <a:pt x="508000" y="444500"/>
                </a:cubicBezTo>
                <a:cubicBezTo>
                  <a:pt x="508000" y="426938"/>
                  <a:pt x="493812" y="412750"/>
                  <a:pt x="476250" y="412750"/>
                </a:cubicBezTo>
                <a:lnTo>
                  <a:pt x="79375" y="412750"/>
                </a:lnTo>
                <a:cubicBezTo>
                  <a:pt x="70644" y="412750"/>
                  <a:pt x="63500" y="405606"/>
                  <a:pt x="63500" y="396875"/>
                </a:cubicBezTo>
                <a:lnTo>
                  <a:pt x="63500" y="63500"/>
                </a:lnTo>
                <a:close/>
                <a:moveTo>
                  <a:pt x="466923" y="149423"/>
                </a:moveTo>
                <a:cubicBezTo>
                  <a:pt x="479326" y="137021"/>
                  <a:pt x="479326" y="116880"/>
                  <a:pt x="466923" y="104477"/>
                </a:cubicBezTo>
                <a:cubicBezTo>
                  <a:pt x="454521" y="92075"/>
                  <a:pt x="434380" y="92075"/>
                  <a:pt x="421977" y="104477"/>
                </a:cubicBezTo>
                <a:lnTo>
                  <a:pt x="317500" y="209054"/>
                </a:lnTo>
                <a:lnTo>
                  <a:pt x="260548" y="152202"/>
                </a:lnTo>
                <a:cubicBezTo>
                  <a:pt x="248146" y="139799"/>
                  <a:pt x="228005" y="139799"/>
                  <a:pt x="215602" y="152202"/>
                </a:cubicBezTo>
                <a:lnTo>
                  <a:pt x="120352" y="247452"/>
                </a:lnTo>
                <a:cubicBezTo>
                  <a:pt x="107950" y="259854"/>
                  <a:pt x="107950" y="279995"/>
                  <a:pt x="120352" y="292398"/>
                </a:cubicBezTo>
                <a:cubicBezTo>
                  <a:pt x="132755" y="304800"/>
                  <a:pt x="152896" y="304800"/>
                  <a:pt x="165298" y="292398"/>
                </a:cubicBezTo>
                <a:lnTo>
                  <a:pt x="238125" y="219571"/>
                </a:lnTo>
                <a:lnTo>
                  <a:pt x="295077" y="276523"/>
                </a:lnTo>
                <a:cubicBezTo>
                  <a:pt x="307479" y="288925"/>
                  <a:pt x="327620" y="288925"/>
                  <a:pt x="340023" y="276523"/>
                </a:cubicBezTo>
                <a:lnTo>
                  <a:pt x="467023" y="149523"/>
                </a:lnTo>
                <a:close/>
              </a:path>
            </a:pathLst>
          </a:custGeom>
          <a:solidFill>
            <a:srgbClr val="FF9900"/>
          </a:solidFill>
          <a:ln/>
        </p:spPr>
      </p:sp>
      <p:sp>
        <p:nvSpPr>
          <p:cNvPr id="22" name="Text 19"/>
          <p:cNvSpPr/>
          <p:nvPr/>
        </p:nvSpPr>
        <p:spPr>
          <a:xfrm>
            <a:off x="12065000" y="2489200"/>
            <a:ext cx="3175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CloudWatch</a:t>
            </a:r>
            <a:endParaRPr lang="en-US" sz="1600" dirty="0"/>
          </a:p>
        </p:txBody>
      </p:sp>
      <p:sp>
        <p:nvSpPr>
          <p:cNvPr id="23" name="Text 20"/>
          <p:cNvSpPr/>
          <p:nvPr/>
        </p:nvSpPr>
        <p:spPr>
          <a:xfrm>
            <a:off x="12065000" y="2844800"/>
            <a:ext cx="3175000" cy="1651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Monitoring and observability service for AWS resources and applications.</a:t>
            </a:r>
            <a:endParaRPr lang="en-US" sz="1400" dirty="0"/>
          </a:p>
        </p:txBody>
      </p:sp>
      <p:sp>
        <p:nvSpPr>
          <p:cNvPr id="24" name="Shape 21"/>
          <p:cNvSpPr/>
          <p:nvPr/>
        </p:nvSpPr>
        <p:spPr>
          <a:xfrm>
            <a:off x="762000" y="4953000"/>
            <a:ext cx="4699000" cy="1905000"/>
          </a:xfrm>
          <a:prstGeom prst="roundRect">
            <a:avLst>
              <a:gd name="adj" fmla="val 8000"/>
            </a:avLst>
          </a:prstGeom>
          <a:solidFill>
            <a:srgbClr val="F0F4F8"/>
          </a:solidFill>
          <a:ln/>
        </p:spPr>
      </p:sp>
      <p:sp>
        <p:nvSpPr>
          <p:cNvPr id="25" name="Shape 22"/>
          <p:cNvSpPr/>
          <p:nvPr/>
        </p:nvSpPr>
        <p:spPr>
          <a:xfrm>
            <a:off x="1016000" y="5181600"/>
            <a:ext cx="508000" cy="508000"/>
          </a:xfrm>
          <a:custGeom>
            <a:avLst/>
            <a:gdLst/>
            <a:ahLst/>
            <a:cxnLst/>
            <a:rect l="l" t="t" r="r" b="b"/>
            <a:pathLst>
              <a:path w="508000" h="508000">
                <a:moveTo>
                  <a:pt x="254000" y="0"/>
                </a:moveTo>
                <a:cubicBezTo>
                  <a:pt x="233929" y="0"/>
                  <a:pt x="217714" y="14188"/>
                  <a:pt x="217714" y="31750"/>
                </a:cubicBezTo>
                <a:lnTo>
                  <a:pt x="217714" y="34925"/>
                </a:lnTo>
                <a:cubicBezTo>
                  <a:pt x="134938" y="49609"/>
                  <a:pt x="72571" y="113705"/>
                  <a:pt x="72571" y="190500"/>
                </a:cubicBezTo>
                <a:lnTo>
                  <a:pt x="72571" y="212030"/>
                </a:lnTo>
                <a:cubicBezTo>
                  <a:pt x="72571" y="259755"/>
                  <a:pt x="53975" y="306090"/>
                  <a:pt x="19957" y="343396"/>
                </a:cubicBezTo>
                <a:lnTo>
                  <a:pt x="8845" y="355501"/>
                </a:lnTo>
                <a:cubicBezTo>
                  <a:pt x="3062" y="361752"/>
                  <a:pt x="0" y="369491"/>
                  <a:pt x="0" y="377527"/>
                </a:cubicBezTo>
                <a:cubicBezTo>
                  <a:pt x="0" y="396974"/>
                  <a:pt x="18029" y="412750"/>
                  <a:pt x="40254" y="412750"/>
                </a:cubicBezTo>
                <a:lnTo>
                  <a:pt x="467632" y="412750"/>
                </a:lnTo>
                <a:cubicBezTo>
                  <a:pt x="489857" y="412750"/>
                  <a:pt x="507887" y="396974"/>
                  <a:pt x="507887" y="377527"/>
                </a:cubicBezTo>
                <a:cubicBezTo>
                  <a:pt x="507887" y="369491"/>
                  <a:pt x="504825" y="361752"/>
                  <a:pt x="499042" y="355501"/>
                </a:cubicBezTo>
                <a:lnTo>
                  <a:pt x="487929" y="343396"/>
                </a:lnTo>
                <a:cubicBezTo>
                  <a:pt x="454025" y="306090"/>
                  <a:pt x="435429" y="259755"/>
                  <a:pt x="435429" y="212030"/>
                </a:cubicBezTo>
                <a:lnTo>
                  <a:pt x="435429" y="190500"/>
                </a:lnTo>
                <a:cubicBezTo>
                  <a:pt x="435429" y="113705"/>
                  <a:pt x="373063" y="49609"/>
                  <a:pt x="290286" y="34925"/>
                </a:cubicBezTo>
                <a:lnTo>
                  <a:pt x="290286" y="31750"/>
                </a:lnTo>
                <a:cubicBezTo>
                  <a:pt x="290286" y="14188"/>
                  <a:pt x="274071" y="0"/>
                  <a:pt x="254000" y="0"/>
                </a:cubicBezTo>
                <a:close/>
                <a:moveTo>
                  <a:pt x="183696" y="460375"/>
                </a:moveTo>
                <a:cubicBezTo>
                  <a:pt x="191747" y="487759"/>
                  <a:pt x="220209" y="508000"/>
                  <a:pt x="254000" y="508000"/>
                </a:cubicBezTo>
                <a:cubicBezTo>
                  <a:pt x="287791" y="508000"/>
                  <a:pt x="316253" y="487759"/>
                  <a:pt x="324304" y="460375"/>
                </a:cubicBezTo>
                <a:lnTo>
                  <a:pt x="183696" y="460375"/>
                </a:lnTo>
                <a:close/>
              </a:path>
            </a:pathLst>
          </a:custGeom>
          <a:solidFill>
            <a:srgbClr val="4A6FA5"/>
          </a:solidFill>
          <a:ln/>
        </p:spPr>
      </p:sp>
      <p:sp>
        <p:nvSpPr>
          <p:cNvPr id="26" name="Text 23"/>
          <p:cNvSpPr/>
          <p:nvPr/>
        </p:nvSpPr>
        <p:spPr>
          <a:xfrm>
            <a:off x="1016000" y="5791200"/>
            <a:ext cx="419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Amazon SNS</a:t>
            </a:r>
            <a:endParaRPr lang="en-US" sz="1600" dirty="0"/>
          </a:p>
        </p:txBody>
      </p:sp>
      <p:sp>
        <p:nvSpPr>
          <p:cNvPr id="27" name="Text 24"/>
          <p:cNvSpPr/>
          <p:nvPr/>
        </p:nvSpPr>
        <p:spPr>
          <a:xfrm>
            <a:off x="1016000" y="6146800"/>
            <a:ext cx="4191000" cy="571500"/>
          </a:xfrm>
          <a:prstGeom prst="rect">
            <a:avLst/>
          </a:prstGeom>
          <a:noFill/>
          <a:ln/>
        </p:spPr>
        <p:txBody>
          <a:bodyPr wrap="square" lIns="0" tIns="0" rIns="0" bIns="0" rtlCol="0" anchor="t"/>
          <a:lstStyle/>
          <a:p>
            <a:pPr algn="l">
              <a:lnSpc>
                <a:spcPct val="140000"/>
              </a:lnSpc>
            </a:pPr>
            <a:r>
              <a:rPr lang="en-US" sz="1400" dirty="0">
                <a:solidFill>
                  <a:srgbClr val="232F3E"/>
                </a:solidFill>
                <a:latin typeface="Quattrocento Sans" pitchFamily="34" charset="0"/>
                <a:ea typeface="Quattrocento Sans" pitchFamily="34" charset="-122"/>
                <a:cs typeface="Quattrocento Sans" pitchFamily="34" charset="-120"/>
              </a:rPr>
              <a:t>Sends alerts via email, SMS, or HTTP endpoints.</a:t>
            </a:r>
            <a:endParaRPr lang="en-US" sz="1400" dirty="0"/>
          </a:p>
        </p:txBody>
      </p:sp>
      <p:sp>
        <p:nvSpPr>
          <p:cNvPr id="28" name="Shape 25"/>
          <p:cNvSpPr/>
          <p:nvPr/>
        </p:nvSpPr>
        <p:spPr>
          <a:xfrm>
            <a:off x="5715000" y="4953000"/>
            <a:ext cx="4699000" cy="1905000"/>
          </a:xfrm>
          <a:prstGeom prst="roundRect">
            <a:avLst>
              <a:gd name="adj" fmla="val 8000"/>
            </a:avLst>
          </a:prstGeom>
          <a:solidFill>
            <a:srgbClr val="F0F4F8"/>
          </a:solidFill>
          <a:ln/>
        </p:spPr>
      </p:sp>
      <p:sp>
        <p:nvSpPr>
          <p:cNvPr id="29" name="Shape 26"/>
          <p:cNvSpPr/>
          <p:nvPr/>
        </p:nvSpPr>
        <p:spPr>
          <a:xfrm>
            <a:off x="5969000" y="5181600"/>
            <a:ext cx="508000" cy="508000"/>
          </a:xfrm>
          <a:custGeom>
            <a:avLst/>
            <a:gdLst/>
            <a:ahLst/>
            <a:cxnLst/>
            <a:rect l="l" t="t" r="r" b="b"/>
            <a:pathLst>
              <a:path w="508000" h="508000">
                <a:moveTo>
                  <a:pt x="333375" y="349250"/>
                </a:moveTo>
                <a:cubicBezTo>
                  <a:pt x="429816" y="349250"/>
                  <a:pt x="508000" y="271066"/>
                  <a:pt x="508000" y="174625"/>
                </a:cubicBezTo>
                <a:cubicBezTo>
                  <a:pt x="508000" y="78184"/>
                  <a:pt x="429816" y="0"/>
                  <a:pt x="333375" y="0"/>
                </a:cubicBezTo>
                <a:cubicBezTo>
                  <a:pt x="236934" y="0"/>
                  <a:pt x="158750" y="78184"/>
                  <a:pt x="158750" y="174625"/>
                </a:cubicBezTo>
                <a:cubicBezTo>
                  <a:pt x="158750" y="193179"/>
                  <a:pt x="161627" y="211138"/>
                  <a:pt x="166985" y="227905"/>
                </a:cubicBezTo>
                <a:lnTo>
                  <a:pt x="6945" y="387945"/>
                </a:lnTo>
                <a:cubicBezTo>
                  <a:pt x="2480" y="392410"/>
                  <a:pt x="0" y="398463"/>
                  <a:pt x="0" y="404813"/>
                </a:cubicBezTo>
                <a:lnTo>
                  <a:pt x="0" y="484187"/>
                </a:lnTo>
                <a:cubicBezTo>
                  <a:pt x="0" y="497384"/>
                  <a:pt x="10616" y="508000"/>
                  <a:pt x="23812" y="508000"/>
                </a:cubicBezTo>
                <a:lnTo>
                  <a:pt x="103188" y="508000"/>
                </a:lnTo>
                <a:cubicBezTo>
                  <a:pt x="116384" y="508000"/>
                  <a:pt x="127000" y="497384"/>
                  <a:pt x="127000" y="484187"/>
                </a:cubicBezTo>
                <a:lnTo>
                  <a:pt x="127000" y="444500"/>
                </a:lnTo>
                <a:lnTo>
                  <a:pt x="166688" y="444500"/>
                </a:lnTo>
                <a:cubicBezTo>
                  <a:pt x="179884" y="444500"/>
                  <a:pt x="190500" y="433884"/>
                  <a:pt x="190500" y="420688"/>
                </a:cubicBezTo>
                <a:lnTo>
                  <a:pt x="190500" y="381000"/>
                </a:lnTo>
                <a:lnTo>
                  <a:pt x="230188" y="381000"/>
                </a:lnTo>
                <a:cubicBezTo>
                  <a:pt x="236538" y="381000"/>
                  <a:pt x="242590" y="378520"/>
                  <a:pt x="247055" y="374055"/>
                </a:cubicBezTo>
                <a:lnTo>
                  <a:pt x="280095" y="341015"/>
                </a:lnTo>
                <a:cubicBezTo>
                  <a:pt x="296862" y="346373"/>
                  <a:pt x="314821" y="349250"/>
                  <a:pt x="333375" y="349250"/>
                </a:cubicBezTo>
                <a:close/>
                <a:moveTo>
                  <a:pt x="373063" y="95250"/>
                </a:moveTo>
                <a:cubicBezTo>
                  <a:pt x="394967" y="95250"/>
                  <a:pt x="412750" y="113033"/>
                  <a:pt x="412750" y="134938"/>
                </a:cubicBezTo>
                <a:cubicBezTo>
                  <a:pt x="412750" y="156842"/>
                  <a:pt x="394967" y="174625"/>
                  <a:pt x="373063" y="174625"/>
                </a:cubicBezTo>
                <a:cubicBezTo>
                  <a:pt x="351158" y="174625"/>
                  <a:pt x="333375" y="156842"/>
                  <a:pt x="333375" y="134938"/>
                </a:cubicBezTo>
                <a:cubicBezTo>
                  <a:pt x="333375" y="113033"/>
                  <a:pt x="351158" y="95250"/>
                  <a:pt x="373063" y="95250"/>
                </a:cubicBezTo>
                <a:close/>
              </a:path>
            </a:pathLst>
          </a:custGeom>
          <a:solidFill>
            <a:srgbClr val="4A6FA5"/>
          </a:solidFill>
          <a:ln/>
        </p:spPr>
      </p:sp>
      <p:sp>
        <p:nvSpPr>
          <p:cNvPr id="30" name="Text 27"/>
          <p:cNvSpPr/>
          <p:nvPr/>
        </p:nvSpPr>
        <p:spPr>
          <a:xfrm>
            <a:off x="5969000" y="5791200"/>
            <a:ext cx="4191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AWS IAM</a:t>
            </a:r>
            <a:endParaRPr lang="en-US" sz="1600" dirty="0"/>
          </a:p>
        </p:txBody>
      </p:sp>
      <p:sp>
        <p:nvSpPr>
          <p:cNvPr id="31" name="Text 28"/>
          <p:cNvSpPr/>
          <p:nvPr/>
        </p:nvSpPr>
        <p:spPr>
          <a:xfrm>
            <a:off x="5969000" y="6146800"/>
            <a:ext cx="4191000" cy="571500"/>
          </a:xfrm>
          <a:prstGeom prst="rect">
            <a:avLst/>
          </a:prstGeom>
          <a:noFill/>
          <a:ln/>
        </p:spPr>
        <p:txBody>
          <a:bodyPr wrap="square" lIns="0" tIns="0" rIns="0" bIns="0" rtlCol="0" anchor="t"/>
          <a:lstStyle/>
          <a:p>
            <a:pPr algn="l">
              <a:lnSpc>
                <a:spcPct val="140000"/>
              </a:lnSpc>
            </a:pPr>
            <a:r>
              <a:rPr lang="en-US" sz="1400" dirty="0">
                <a:solidFill>
                  <a:srgbClr val="232F3E"/>
                </a:solidFill>
                <a:latin typeface="Quattrocento Sans" pitchFamily="34" charset="0"/>
                <a:ea typeface="Quattrocento Sans" pitchFamily="34" charset="-122"/>
                <a:cs typeface="Quattrocento Sans" pitchFamily="34" charset="-120"/>
              </a:rPr>
              <a:t>Secure access control with least privilege principle.</a:t>
            </a:r>
            <a:endParaRPr lang="en-US" sz="1400" dirty="0"/>
          </a:p>
        </p:txBody>
      </p:sp>
      <p:sp>
        <p:nvSpPr>
          <p:cNvPr id="32" name="Shape 29"/>
          <p:cNvSpPr/>
          <p:nvPr/>
        </p:nvSpPr>
        <p:spPr>
          <a:xfrm>
            <a:off x="10668000" y="4953000"/>
            <a:ext cx="4826000" cy="1905000"/>
          </a:xfrm>
          <a:prstGeom prst="roundRect">
            <a:avLst>
              <a:gd name="adj" fmla="val 8000"/>
            </a:avLst>
          </a:prstGeom>
          <a:solidFill>
            <a:srgbClr val="F0F4F8"/>
          </a:solidFill>
          <a:ln/>
        </p:spPr>
      </p:sp>
      <p:sp>
        <p:nvSpPr>
          <p:cNvPr id="33" name="Shape 30"/>
          <p:cNvSpPr/>
          <p:nvPr/>
        </p:nvSpPr>
        <p:spPr>
          <a:xfrm>
            <a:off x="10922000" y="5181600"/>
            <a:ext cx="508000" cy="508000"/>
          </a:xfrm>
          <a:custGeom>
            <a:avLst/>
            <a:gdLst/>
            <a:ahLst/>
            <a:cxnLst/>
            <a:rect l="l" t="t" r="r" b="b"/>
            <a:pathLst>
              <a:path w="508000" h="508000">
                <a:moveTo>
                  <a:pt x="444738" y="235347"/>
                </a:moveTo>
                <a:cubicBezTo>
                  <a:pt x="452993" y="247055"/>
                  <a:pt x="467201" y="249634"/>
                  <a:pt x="477917" y="240804"/>
                </a:cubicBezTo>
                <a:cubicBezTo>
                  <a:pt x="489585" y="231080"/>
                  <a:pt x="492760" y="211336"/>
                  <a:pt x="484981" y="196751"/>
                </a:cubicBezTo>
                <a:lnTo>
                  <a:pt x="446881" y="125313"/>
                </a:lnTo>
                <a:cubicBezTo>
                  <a:pt x="444659" y="121146"/>
                  <a:pt x="441642" y="117673"/>
                  <a:pt x="438071" y="115193"/>
                </a:cubicBezTo>
                <a:lnTo>
                  <a:pt x="278924" y="4663"/>
                </a:lnTo>
                <a:cubicBezTo>
                  <a:pt x="263604" y="-5953"/>
                  <a:pt x="244951" y="-5953"/>
                  <a:pt x="229553" y="4663"/>
                </a:cubicBezTo>
                <a:lnTo>
                  <a:pt x="70485" y="115094"/>
                </a:lnTo>
                <a:cubicBezTo>
                  <a:pt x="66199" y="118070"/>
                  <a:pt x="62786" y="122436"/>
                  <a:pt x="60484" y="127794"/>
                </a:cubicBezTo>
                <a:lnTo>
                  <a:pt x="21987" y="216991"/>
                </a:lnTo>
                <a:cubicBezTo>
                  <a:pt x="11986" y="240209"/>
                  <a:pt x="18971" y="269081"/>
                  <a:pt x="37544" y="281583"/>
                </a:cubicBezTo>
                <a:lnTo>
                  <a:pt x="63738" y="299145"/>
                </a:lnTo>
                <a:lnTo>
                  <a:pt x="63738" y="352028"/>
                </a:lnTo>
                <a:cubicBezTo>
                  <a:pt x="63738" y="374848"/>
                  <a:pt x="73581" y="395982"/>
                  <a:pt x="89456" y="407293"/>
                </a:cubicBezTo>
                <a:lnTo>
                  <a:pt x="229156" y="506214"/>
                </a:lnTo>
                <a:cubicBezTo>
                  <a:pt x="244713" y="517227"/>
                  <a:pt x="263684" y="517227"/>
                  <a:pt x="279241" y="506214"/>
                </a:cubicBezTo>
                <a:lnTo>
                  <a:pt x="418941" y="407293"/>
                </a:lnTo>
                <a:cubicBezTo>
                  <a:pt x="434896" y="395982"/>
                  <a:pt x="444659" y="374948"/>
                  <a:pt x="444659" y="352028"/>
                </a:cubicBezTo>
                <a:lnTo>
                  <a:pt x="444659" y="235446"/>
                </a:lnTo>
                <a:close/>
                <a:moveTo>
                  <a:pt x="254238" y="225623"/>
                </a:moveTo>
                <a:lnTo>
                  <a:pt x="135096" y="142875"/>
                </a:lnTo>
                <a:lnTo>
                  <a:pt x="254238" y="60127"/>
                </a:lnTo>
                <a:lnTo>
                  <a:pt x="373380" y="142875"/>
                </a:lnTo>
                <a:lnTo>
                  <a:pt x="254238" y="225623"/>
                </a:lnTo>
                <a:close/>
                <a:moveTo>
                  <a:pt x="221297" y="275431"/>
                </a:moveTo>
                <a:lnTo>
                  <a:pt x="204391" y="321270"/>
                </a:lnTo>
                <a:lnTo>
                  <a:pt x="72787" y="233164"/>
                </a:lnTo>
                <a:lnTo>
                  <a:pt x="92948" y="186333"/>
                </a:lnTo>
                <a:lnTo>
                  <a:pt x="221297" y="275431"/>
                </a:lnTo>
                <a:close/>
              </a:path>
            </a:pathLst>
          </a:custGeom>
          <a:solidFill>
            <a:srgbClr val="4A6FA5"/>
          </a:solidFill>
          <a:ln/>
        </p:spPr>
      </p:sp>
      <p:sp>
        <p:nvSpPr>
          <p:cNvPr id="34" name="Text 31"/>
          <p:cNvSpPr/>
          <p:nvPr/>
        </p:nvSpPr>
        <p:spPr>
          <a:xfrm>
            <a:off x="10922000" y="5791200"/>
            <a:ext cx="4318000" cy="3175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Amazon S3</a:t>
            </a:r>
            <a:endParaRPr lang="en-US" sz="1600" dirty="0"/>
          </a:p>
        </p:txBody>
      </p:sp>
      <p:sp>
        <p:nvSpPr>
          <p:cNvPr id="35" name="Text 32"/>
          <p:cNvSpPr/>
          <p:nvPr/>
        </p:nvSpPr>
        <p:spPr>
          <a:xfrm>
            <a:off x="10922000" y="6146800"/>
            <a:ext cx="4318000" cy="571500"/>
          </a:xfrm>
          <a:prstGeom prst="rect">
            <a:avLst/>
          </a:prstGeom>
          <a:noFill/>
          <a:ln/>
        </p:spPr>
        <p:txBody>
          <a:bodyPr wrap="square" lIns="0" tIns="0" rIns="0" bIns="0" rtlCol="0" anchor="t"/>
          <a:lstStyle/>
          <a:p>
            <a:pPr algn="l">
              <a:lnSpc>
                <a:spcPct val="140000"/>
              </a:lnSpc>
            </a:pPr>
            <a:r>
              <a:rPr lang="en-US" sz="1400" dirty="0">
                <a:solidFill>
                  <a:srgbClr val="232F3E"/>
                </a:solidFill>
                <a:latin typeface="Quattrocento Sans" pitchFamily="34" charset="0"/>
                <a:ea typeface="Quattrocento Sans" pitchFamily="34" charset="-122"/>
                <a:cs typeface="Quattrocento Sans" pitchFamily="34" charset="-120"/>
              </a:rPr>
              <a:t>Scalable object storage for future file uploads.</a:t>
            </a:r>
            <a:endParaRPr lang="en-US" sz="1400" dirty="0"/>
          </a:p>
        </p:txBody>
      </p:sp>
      <p:sp>
        <p:nvSpPr>
          <p:cNvPr id="36" name="Shape 33"/>
          <p:cNvSpPr/>
          <p:nvPr/>
        </p:nvSpPr>
        <p:spPr>
          <a:xfrm>
            <a:off x="762000" y="7175500"/>
            <a:ext cx="14732000" cy="1079500"/>
          </a:xfrm>
          <a:prstGeom prst="roundRect">
            <a:avLst>
              <a:gd name="adj" fmla="val 5000"/>
            </a:avLst>
          </a:prstGeom>
          <a:solidFill>
            <a:srgbClr val="FFF3E0"/>
          </a:solidFill>
          <a:ln/>
        </p:spPr>
      </p:sp>
      <p:sp>
        <p:nvSpPr>
          <p:cNvPr id="37" name="Text 34"/>
          <p:cNvSpPr/>
          <p:nvPr/>
        </p:nvSpPr>
        <p:spPr>
          <a:xfrm>
            <a:off x="1079500" y="7302500"/>
            <a:ext cx="14097000" cy="825500"/>
          </a:xfrm>
          <a:prstGeom prst="rect">
            <a:avLst/>
          </a:prstGeom>
          <a:noFill/>
          <a:ln/>
        </p:spPr>
        <p:txBody>
          <a:bodyPr wrap="square" lIns="0" tIns="0" rIns="0" bIns="0" rtlCol="0" anchor="ctr"/>
          <a:lstStyle/>
          <a:p>
            <a:pPr algn="l">
              <a:lnSpc>
                <a:spcPct val="150000"/>
              </a:lnSpc>
            </a:pPr>
            <a:r>
              <a:rPr lang="en-US" sz="1500" b="1" dirty="0">
                <a:solidFill>
                  <a:srgbClr val="232F3E"/>
                </a:solidFill>
                <a:latin typeface="Quattrocento Sans" pitchFamily="34" charset="0"/>
                <a:ea typeface="Quattrocento Sans" pitchFamily="34" charset="-122"/>
                <a:cs typeface="Quattrocento Sans" pitchFamily="34" charset="-120"/>
              </a:rPr>
              <a:t>Note:</a:t>
            </a:r>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 All services are part of the </a:t>
            </a:r>
            <a:pPr algn="l">
              <a:lnSpc>
                <a:spcPct val="150000"/>
              </a:lnSpc>
            </a:pPr>
            <a:r>
              <a:rPr lang="en-US" sz="1500" b="1" dirty="0">
                <a:solidFill>
                  <a:srgbClr val="232F3E"/>
                </a:solidFill>
                <a:latin typeface="Quattrocento Sans" pitchFamily="34" charset="0"/>
                <a:ea typeface="Quattrocento Sans" pitchFamily="34" charset="-122"/>
                <a:cs typeface="Quattrocento Sans" pitchFamily="34" charset="-120"/>
              </a:rPr>
              <a:t>AWS Free Tier</a:t>
            </a:r>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 making this project cost-effective for educational purposes. Each service is configured following AWS best practices for security and reliability.</a:t>
            </a:r>
            <a:endParaRPr lang="en-US" sz="1500" dirty="0"/>
          </a:p>
        </p:txBody>
      </p:sp>
      <p:sp>
        <p:nvSpPr>
          <p:cNvPr id="38" name="Text 35"/>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08</a:t>
            </a:r>
            <a:endParaRPr lang="en-US" sz="1400" dirty="0"/>
          </a:p>
        </p:txBody>
      </p:sp>
    </p:spTree>
  </p:cSld>
  <p:clrMapOvr>
    <a:masterClrMapping/>
  </p:clrMapOvr>
  <p:transition>
    <p:fade/>
    <p:spd val="med"/>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0" y="457200"/>
            <a:ext cx="2705100" cy="50800"/>
          </a:xfrm>
          <a:prstGeom prst="rect">
            <a:avLst/>
          </a:prstGeom>
          <a:solidFill>
            <a:srgbClr val="FF9900"/>
          </a:solidFill>
          <a:ln/>
        </p:spPr>
      </p:sp>
      <p:sp>
        <p:nvSpPr>
          <p:cNvPr id="5" name="Text 2"/>
          <p:cNvSpPr/>
          <p:nvPr/>
        </p:nvSpPr>
        <p:spPr>
          <a:xfrm>
            <a:off x="762000" y="0"/>
            <a:ext cx="14732000" cy="4445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WORKFLOW</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STEPS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ADVANTAGES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FUTURE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CONCLUSION</a:t>
            </a:r>
            <a:endParaRPr lang="en-US" sz="1200" dirty="0"/>
          </a:p>
        </p:txBody>
      </p:sp>
      <p:sp>
        <p:nvSpPr>
          <p:cNvPr id="6" name="Text 3"/>
          <p:cNvSpPr/>
          <p:nvPr/>
        </p:nvSpPr>
        <p:spPr>
          <a:xfrm>
            <a:off x="762000" y="762000"/>
            <a:ext cx="762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APPLICATION WORKING FLOW</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587500"/>
            <a:ext cx="14732000" cy="5080000"/>
          </a:xfrm>
          <a:prstGeom prst="roundRect">
            <a:avLst>
              <a:gd name="adj" fmla="val 3000"/>
            </a:avLst>
          </a:prstGeom>
          <a:solidFill>
            <a:srgbClr val="F0F4F8"/>
          </a:solidFill>
          <a:ln/>
        </p:spPr>
      </p:sp>
      <p:sp>
        <p:nvSpPr>
          <p:cNvPr id="9" name="Shape 6"/>
          <p:cNvSpPr/>
          <p:nvPr/>
        </p:nvSpPr>
        <p:spPr>
          <a:xfrm>
            <a:off x="1524000" y="1841500"/>
            <a:ext cx="2540000" cy="698500"/>
          </a:xfrm>
          <a:prstGeom prst="roundRect">
            <a:avLst>
              <a:gd name="adj" fmla="val 12000"/>
            </a:avLst>
          </a:prstGeom>
          <a:solidFill>
            <a:srgbClr val="4A6FA5"/>
          </a:solidFill>
          <a:ln/>
        </p:spPr>
      </p:sp>
      <p:sp>
        <p:nvSpPr>
          <p:cNvPr id="10" name="Text 7"/>
          <p:cNvSpPr/>
          <p:nvPr/>
        </p:nvSpPr>
        <p:spPr>
          <a:xfrm>
            <a:off x="1524000" y="1841500"/>
            <a:ext cx="2540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1. Student opens</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website URL</a:t>
            </a:r>
            <a:endParaRPr lang="en-US" sz="1300" dirty="0"/>
          </a:p>
        </p:txBody>
      </p:sp>
      <p:sp>
        <p:nvSpPr>
          <p:cNvPr id="11" name="Shape 8"/>
          <p:cNvSpPr/>
          <p:nvPr/>
        </p:nvSpPr>
        <p:spPr>
          <a:xfrm>
            <a:off x="4191000" y="2133600"/>
            <a:ext cx="635000" cy="0"/>
          </a:xfrm>
          <a:prstGeom prst="straightConnector1">
            <a:avLst/>
          </a:prstGeom>
          <a:noFill/>
          <a:ln w="25400">
            <a:solidFill>
              <a:srgbClr val="FF9900"/>
            </a:solidFill>
            <a:prstDash val="solid"/>
            <a:headEnd type="none"/>
            <a:tailEnd type="arrow"/>
          </a:ln>
        </p:spPr>
      </p:sp>
      <p:sp>
        <p:nvSpPr>
          <p:cNvPr id="12" name="Shape 9"/>
          <p:cNvSpPr/>
          <p:nvPr/>
        </p:nvSpPr>
        <p:spPr>
          <a:xfrm>
            <a:off x="4953000" y="1841500"/>
            <a:ext cx="2540000" cy="698500"/>
          </a:xfrm>
          <a:prstGeom prst="roundRect">
            <a:avLst>
              <a:gd name="adj" fmla="val 12000"/>
            </a:avLst>
          </a:prstGeom>
          <a:solidFill>
            <a:srgbClr val="FF9900"/>
          </a:solidFill>
          <a:ln/>
        </p:spPr>
      </p:sp>
      <p:sp>
        <p:nvSpPr>
          <p:cNvPr id="13" name="Text 10"/>
          <p:cNvSpPr/>
          <p:nvPr/>
        </p:nvSpPr>
        <p:spPr>
          <a:xfrm>
            <a:off x="4953000" y="1841500"/>
            <a:ext cx="2540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2. Load Balancer</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receives request</a:t>
            </a:r>
            <a:endParaRPr lang="en-US" sz="1300" dirty="0"/>
          </a:p>
        </p:txBody>
      </p:sp>
      <p:sp>
        <p:nvSpPr>
          <p:cNvPr id="14" name="Shape 11"/>
          <p:cNvSpPr/>
          <p:nvPr/>
        </p:nvSpPr>
        <p:spPr>
          <a:xfrm>
            <a:off x="7620000" y="2133600"/>
            <a:ext cx="635000" cy="0"/>
          </a:xfrm>
          <a:prstGeom prst="straightConnector1">
            <a:avLst/>
          </a:prstGeom>
          <a:noFill/>
          <a:ln w="25400">
            <a:solidFill>
              <a:srgbClr val="FF9900"/>
            </a:solidFill>
            <a:prstDash val="solid"/>
            <a:headEnd type="none"/>
            <a:tailEnd type="arrow"/>
          </a:ln>
        </p:spPr>
      </p:sp>
      <p:sp>
        <p:nvSpPr>
          <p:cNvPr id="15" name="Shape 12"/>
          <p:cNvSpPr/>
          <p:nvPr/>
        </p:nvSpPr>
        <p:spPr>
          <a:xfrm>
            <a:off x="8382000" y="1841500"/>
            <a:ext cx="2540000" cy="698500"/>
          </a:xfrm>
          <a:prstGeom prst="roundRect">
            <a:avLst>
              <a:gd name="adj" fmla="val 12000"/>
            </a:avLst>
          </a:prstGeom>
          <a:solidFill>
            <a:srgbClr val="232F3E"/>
          </a:solidFill>
          <a:ln/>
        </p:spPr>
      </p:sp>
      <p:sp>
        <p:nvSpPr>
          <p:cNvPr id="16" name="Text 13"/>
          <p:cNvSpPr/>
          <p:nvPr/>
        </p:nvSpPr>
        <p:spPr>
          <a:xfrm>
            <a:off x="8382000" y="1841500"/>
            <a:ext cx="2540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3. EC2 Instance</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processes request</a:t>
            </a:r>
            <a:endParaRPr lang="en-US" sz="1300" dirty="0"/>
          </a:p>
        </p:txBody>
      </p:sp>
      <p:sp>
        <p:nvSpPr>
          <p:cNvPr id="17" name="Shape 14"/>
          <p:cNvSpPr/>
          <p:nvPr/>
        </p:nvSpPr>
        <p:spPr>
          <a:xfrm>
            <a:off x="11049000" y="2133600"/>
            <a:ext cx="635000" cy="0"/>
          </a:xfrm>
          <a:prstGeom prst="straightConnector1">
            <a:avLst/>
          </a:prstGeom>
          <a:noFill/>
          <a:ln w="25400">
            <a:solidFill>
              <a:srgbClr val="FF9900"/>
            </a:solidFill>
            <a:prstDash val="solid"/>
            <a:headEnd type="none"/>
            <a:tailEnd type="arrow"/>
          </a:ln>
        </p:spPr>
      </p:sp>
      <p:sp>
        <p:nvSpPr>
          <p:cNvPr id="18" name="Shape 15"/>
          <p:cNvSpPr/>
          <p:nvPr/>
        </p:nvSpPr>
        <p:spPr>
          <a:xfrm>
            <a:off x="11811000" y="1841500"/>
            <a:ext cx="2540000" cy="698500"/>
          </a:xfrm>
          <a:prstGeom prst="roundRect">
            <a:avLst>
              <a:gd name="adj" fmla="val 12000"/>
            </a:avLst>
          </a:prstGeom>
          <a:solidFill>
            <a:srgbClr val="232F3E"/>
          </a:solidFill>
          <a:ln/>
        </p:spPr>
      </p:sp>
      <p:sp>
        <p:nvSpPr>
          <p:cNvPr id="19" name="Text 16"/>
          <p:cNvSpPr/>
          <p:nvPr/>
        </p:nvSpPr>
        <p:spPr>
          <a:xfrm>
            <a:off x="11811000" y="1841500"/>
            <a:ext cx="2540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4. Flask Backend</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handles logic</a:t>
            </a:r>
            <a:endParaRPr lang="en-US" sz="1300" dirty="0"/>
          </a:p>
        </p:txBody>
      </p:sp>
      <p:sp>
        <p:nvSpPr>
          <p:cNvPr id="20" name="Shape 17"/>
          <p:cNvSpPr/>
          <p:nvPr/>
        </p:nvSpPr>
        <p:spPr>
          <a:xfrm>
            <a:off x="13081000" y="2667000"/>
            <a:ext cx="0" cy="508000"/>
          </a:xfrm>
          <a:prstGeom prst="straightConnector1">
            <a:avLst/>
          </a:prstGeom>
          <a:noFill/>
          <a:ln w="25400">
            <a:solidFill>
              <a:srgbClr val="FF9900"/>
            </a:solidFill>
            <a:prstDash val="solid"/>
            <a:headEnd type="none"/>
            <a:tailEnd type="arrow"/>
          </a:ln>
        </p:spPr>
      </p:sp>
      <p:sp>
        <p:nvSpPr>
          <p:cNvPr id="21" name="Shape 18"/>
          <p:cNvSpPr/>
          <p:nvPr/>
        </p:nvSpPr>
        <p:spPr>
          <a:xfrm>
            <a:off x="11176000" y="3302000"/>
            <a:ext cx="3175000" cy="698500"/>
          </a:xfrm>
          <a:prstGeom prst="roundRect">
            <a:avLst>
              <a:gd name="adj" fmla="val 12000"/>
            </a:avLst>
          </a:prstGeom>
          <a:solidFill>
            <a:srgbClr val="27AE60"/>
          </a:solidFill>
          <a:ln/>
        </p:spPr>
      </p:sp>
      <p:sp>
        <p:nvSpPr>
          <p:cNvPr id="22" name="Text 19"/>
          <p:cNvSpPr/>
          <p:nvPr/>
        </p:nvSpPr>
        <p:spPr>
          <a:xfrm>
            <a:off x="11176000" y="3302000"/>
            <a:ext cx="3175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5. Amazon RDS MySQL</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queries/updates data</a:t>
            </a:r>
            <a:endParaRPr lang="en-US" sz="1300" dirty="0"/>
          </a:p>
        </p:txBody>
      </p:sp>
      <p:sp>
        <p:nvSpPr>
          <p:cNvPr id="23" name="Shape 20"/>
          <p:cNvSpPr/>
          <p:nvPr/>
        </p:nvSpPr>
        <p:spPr>
          <a:xfrm>
            <a:off x="9588500" y="3594100"/>
            <a:ext cx="1460500" cy="0"/>
          </a:xfrm>
          <a:prstGeom prst="straightConnector1">
            <a:avLst/>
          </a:prstGeom>
          <a:noFill/>
          <a:ln w="25400">
            <a:solidFill>
              <a:srgbClr val="FF9900"/>
            </a:solidFill>
            <a:prstDash val="solid"/>
            <a:headEnd type="none"/>
            <a:tailEnd type="arrow"/>
          </a:ln>
        </p:spPr>
      </p:sp>
      <p:sp>
        <p:nvSpPr>
          <p:cNvPr id="24" name="Shape 21"/>
          <p:cNvSpPr/>
          <p:nvPr/>
        </p:nvSpPr>
        <p:spPr>
          <a:xfrm>
            <a:off x="6921500" y="3302000"/>
            <a:ext cx="2540000" cy="698500"/>
          </a:xfrm>
          <a:prstGeom prst="roundRect">
            <a:avLst>
              <a:gd name="adj" fmla="val 12000"/>
            </a:avLst>
          </a:prstGeom>
          <a:solidFill>
            <a:srgbClr val="4A6FA5"/>
          </a:solidFill>
          <a:ln/>
        </p:spPr>
      </p:sp>
      <p:sp>
        <p:nvSpPr>
          <p:cNvPr id="25" name="Text 22"/>
          <p:cNvSpPr/>
          <p:nvPr/>
        </p:nvSpPr>
        <p:spPr>
          <a:xfrm>
            <a:off x="6921500" y="3302000"/>
            <a:ext cx="2540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6. Response</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returned to Flask</a:t>
            </a:r>
            <a:endParaRPr lang="en-US" sz="1300" dirty="0"/>
          </a:p>
        </p:txBody>
      </p:sp>
      <p:sp>
        <p:nvSpPr>
          <p:cNvPr id="26" name="Shape 23"/>
          <p:cNvSpPr/>
          <p:nvPr/>
        </p:nvSpPr>
        <p:spPr>
          <a:xfrm>
            <a:off x="5016500" y="3594100"/>
            <a:ext cx="1778000" cy="0"/>
          </a:xfrm>
          <a:prstGeom prst="straightConnector1">
            <a:avLst/>
          </a:prstGeom>
          <a:noFill/>
          <a:ln w="25400">
            <a:solidFill>
              <a:srgbClr val="FF9900"/>
            </a:solidFill>
            <a:prstDash val="solid"/>
            <a:headEnd type="none"/>
            <a:tailEnd type="arrow"/>
          </a:ln>
        </p:spPr>
      </p:sp>
      <p:sp>
        <p:nvSpPr>
          <p:cNvPr id="27" name="Shape 24"/>
          <p:cNvSpPr/>
          <p:nvPr/>
        </p:nvSpPr>
        <p:spPr>
          <a:xfrm>
            <a:off x="2349500" y="3302000"/>
            <a:ext cx="2540000" cy="698500"/>
          </a:xfrm>
          <a:prstGeom prst="roundRect">
            <a:avLst>
              <a:gd name="adj" fmla="val 12000"/>
            </a:avLst>
          </a:prstGeom>
          <a:solidFill>
            <a:srgbClr val="4A6FA5"/>
          </a:solidFill>
          <a:ln/>
        </p:spPr>
      </p:sp>
      <p:sp>
        <p:nvSpPr>
          <p:cNvPr id="28" name="Text 25"/>
          <p:cNvSpPr/>
          <p:nvPr/>
        </p:nvSpPr>
        <p:spPr>
          <a:xfrm>
            <a:off x="2349500" y="3302000"/>
            <a:ext cx="2540000" cy="698500"/>
          </a:xfrm>
          <a:prstGeom prst="rect">
            <a:avLst/>
          </a:prstGeom>
          <a:noFill/>
          <a:ln/>
        </p:spPr>
        <p:txBody>
          <a:bodyPr wrap="square" lIns="0" tIns="0" rIns="0" bIns="0" rtlCol="0" anchor="ctr"/>
          <a:lstStyle/>
          <a:p>
            <a:pPr algn="ctr">
              <a:lnSpc>
                <a:spcPct val="120000"/>
              </a:lnSpc>
            </a:pPr>
            <a:r>
              <a:rPr lang="en-US" sz="1300" b="1" dirty="0">
                <a:solidFill>
                  <a:srgbClr val="FFFFFF"/>
                </a:solidFill>
                <a:latin typeface="Quattrocento Sans" pitchFamily="34" charset="0"/>
                <a:ea typeface="Quattrocento Sans" pitchFamily="34" charset="-122"/>
                <a:cs typeface="Quattrocento Sans" pitchFamily="34" charset="-120"/>
              </a:rPr>
              <a:t>7. Rendered</a:t>
            </a:r>
            <a:endParaRPr lang="en-US" sz="1300" dirty="0"/>
          </a:p>
          <a:p>
            <a:pPr algn="ctr">
              <a:lnSpc>
                <a:spcPct val="120000"/>
              </a:lnSpc>
            </a:pPr>
            <a:r>
              <a:rPr lang="en-US" sz="1300" dirty="0">
                <a:solidFill>
                  <a:srgbClr val="FFFFFF"/>
                </a:solidFill>
                <a:latin typeface="Quattrocento Sans" pitchFamily="34" charset="0"/>
                <a:ea typeface="Quattrocento Sans" pitchFamily="34" charset="-122"/>
                <a:cs typeface="Quattrocento Sans" pitchFamily="34" charset="-120"/>
              </a:rPr>
              <a:t>to student</a:t>
            </a:r>
            <a:endParaRPr lang="en-US" sz="1300" dirty="0"/>
          </a:p>
        </p:txBody>
      </p:sp>
      <p:sp>
        <p:nvSpPr>
          <p:cNvPr id="29" name="Text 26"/>
          <p:cNvSpPr/>
          <p:nvPr/>
        </p:nvSpPr>
        <p:spPr>
          <a:xfrm>
            <a:off x="1270000" y="4381500"/>
            <a:ext cx="3810000" cy="3556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Request-Response Details</a:t>
            </a:r>
            <a:endParaRPr lang="en-US" sz="1600" dirty="0"/>
          </a:p>
        </p:txBody>
      </p:sp>
      <p:sp>
        <p:nvSpPr>
          <p:cNvPr id="30" name="Text 27"/>
          <p:cNvSpPr/>
          <p:nvPr/>
        </p:nvSpPr>
        <p:spPr>
          <a:xfrm>
            <a:off x="1270000" y="4826000"/>
            <a:ext cx="6604000" cy="1524000"/>
          </a:xfrm>
          <a:prstGeom prst="rect">
            <a:avLst/>
          </a:prstGeom>
          <a:noFill/>
          <a:ln/>
        </p:spPr>
        <p:txBody>
          <a:bodyPr wrap="square" lIns="0" tIns="0" rIns="0" bIns="0" rtlCol="0" anchor="t"/>
          <a:lstStyle/>
          <a:p>
            <a:pPr algn="l">
              <a:lnSpc>
                <a:spcPct val="160000"/>
              </a:lnSpc>
            </a:pPr>
            <a:r>
              <a:rPr lang="en-US" sz="14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a:t>
            </a:r>
            <a:pPr algn="l">
              <a:lnSpc>
                <a:spcPct val="160000"/>
              </a:lnSpc>
            </a:pPr>
            <a:r>
              <a:rPr lang="en-US" sz="1400" b="1" dirty="0">
                <a:solidFill>
                  <a:srgbClr val="232F3E"/>
                </a:solidFill>
                <a:latin typeface="Quattrocento Sans" pitchFamily="34" charset="0"/>
                <a:ea typeface="Quattrocento Sans" pitchFamily="34" charset="-122"/>
                <a:cs typeface="Quattrocento Sans" pitchFamily="34" charset="-120"/>
              </a:rPr>
              <a:t>GET /</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 Display all notes from database</a:t>
            </a:r>
            <a:endParaRPr lang="en-US" sz="1400" dirty="0"/>
          </a:p>
          <a:p>
            <a:pPr algn="l">
              <a:lnSpc>
                <a:spcPct val="160000"/>
              </a:lnSpc>
            </a:pPr>
            <a:r>
              <a:rPr lang="en-US" sz="14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a:t>
            </a:r>
            <a:pPr algn="l">
              <a:lnSpc>
                <a:spcPct val="160000"/>
              </a:lnSpc>
            </a:pPr>
            <a:r>
              <a:rPr lang="en-US" sz="1400" b="1" dirty="0">
                <a:solidFill>
                  <a:srgbClr val="232F3E"/>
                </a:solidFill>
                <a:latin typeface="Quattrocento Sans" pitchFamily="34" charset="0"/>
                <a:ea typeface="Quattrocento Sans" pitchFamily="34" charset="-122"/>
                <a:cs typeface="Quattrocento Sans" pitchFamily="34" charset="-120"/>
              </a:rPr>
              <a:t>POST /add</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 Insert new note into RDS</a:t>
            </a:r>
            <a:endParaRPr lang="en-US" sz="1400" dirty="0"/>
          </a:p>
          <a:p>
            <a:pPr algn="l">
              <a:lnSpc>
                <a:spcPct val="160000"/>
              </a:lnSpc>
            </a:pPr>
            <a:r>
              <a:rPr lang="en-US" sz="14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a:t>
            </a:r>
            <a:pPr algn="l">
              <a:lnSpc>
                <a:spcPct val="160000"/>
              </a:lnSpc>
            </a:pPr>
            <a:r>
              <a:rPr lang="en-US" sz="1400" b="1" dirty="0">
                <a:solidFill>
                  <a:srgbClr val="232F3E"/>
                </a:solidFill>
                <a:latin typeface="Quattrocento Sans" pitchFamily="34" charset="0"/>
                <a:ea typeface="Quattrocento Sans" pitchFamily="34" charset="-122"/>
                <a:cs typeface="Quattrocento Sans" pitchFamily="34" charset="-120"/>
              </a:rPr>
              <a:t>POST /edit/&lt;id&gt;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 Update existing note</a:t>
            </a:r>
            <a:endParaRPr lang="en-US" sz="1400" dirty="0"/>
          </a:p>
          <a:p>
            <a:pPr algn="l">
              <a:lnSpc>
                <a:spcPct val="160000"/>
              </a:lnSpc>
            </a:pPr>
            <a:r>
              <a:rPr lang="en-US" sz="14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a:t>
            </a:r>
            <a:pPr algn="l">
              <a:lnSpc>
                <a:spcPct val="160000"/>
              </a:lnSpc>
            </a:pPr>
            <a:r>
              <a:rPr lang="en-US" sz="1400" b="1" dirty="0">
                <a:solidFill>
                  <a:srgbClr val="232F3E"/>
                </a:solidFill>
                <a:latin typeface="Quattrocento Sans" pitchFamily="34" charset="0"/>
                <a:ea typeface="Quattrocento Sans" pitchFamily="34" charset="-122"/>
                <a:cs typeface="Quattrocento Sans" pitchFamily="34" charset="-120"/>
              </a:rPr>
              <a:t>POST /delete/&lt;id&gt;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 Remove note from DB</a:t>
            </a:r>
            <a:endParaRPr lang="en-US" sz="1400" dirty="0"/>
          </a:p>
        </p:txBody>
      </p:sp>
      <p:sp>
        <p:nvSpPr>
          <p:cNvPr id="31" name="Text 28"/>
          <p:cNvSpPr/>
          <p:nvPr/>
        </p:nvSpPr>
        <p:spPr>
          <a:xfrm>
            <a:off x="8128000" y="4826000"/>
            <a:ext cx="6604000" cy="1524000"/>
          </a:xfrm>
          <a:prstGeom prst="rect">
            <a:avLst/>
          </a:prstGeom>
          <a:noFill/>
          <a:ln/>
        </p:spPr>
        <p:txBody>
          <a:bodyPr wrap="square" lIns="0" tIns="0" rIns="0" bIns="0" rtlCol="0" anchor="t"/>
          <a:lstStyle/>
          <a:p>
            <a:pPr algn="l">
              <a:lnSpc>
                <a:spcPct val="160000"/>
              </a:lnSpc>
            </a:pPr>
            <a:r>
              <a:rPr lang="en-US" sz="14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a:t>
            </a:r>
            <a:pPr algn="l">
              <a:lnSpc>
                <a:spcPct val="160000"/>
              </a:lnSpc>
            </a:pPr>
            <a:r>
              <a:rPr lang="en-US" sz="1400" b="1" dirty="0">
                <a:solidFill>
                  <a:srgbClr val="232F3E"/>
                </a:solidFill>
                <a:latin typeface="Quattrocento Sans" pitchFamily="34" charset="0"/>
                <a:ea typeface="Quattrocento Sans" pitchFamily="34" charset="-122"/>
                <a:cs typeface="Quattrocento Sans" pitchFamily="34" charset="-120"/>
              </a:rPr>
              <a:t>GET /search</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 Query notes by keyword</a:t>
            </a:r>
            <a:endParaRPr lang="en-US" sz="1400" dirty="0"/>
          </a:p>
          <a:p>
            <a:pPr algn="l">
              <a:lnSpc>
                <a:spcPct val="160000"/>
              </a:lnSpc>
            </a:pPr>
            <a:r>
              <a:rPr lang="en-US" sz="14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All routes connect to same RDS endpoint</a:t>
            </a:r>
            <a:endParaRPr lang="en-US" sz="1400" dirty="0"/>
          </a:p>
          <a:p>
            <a:pPr algn="l">
              <a:lnSpc>
                <a:spcPct val="160000"/>
              </a:lnSpc>
            </a:pPr>
            <a:r>
              <a:rPr lang="en-US" sz="14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Response time: ~50-200ms average</a:t>
            </a:r>
            <a:endParaRPr lang="en-US" sz="1400" dirty="0"/>
          </a:p>
          <a:p>
            <a:pPr algn="l">
              <a:lnSpc>
                <a:spcPct val="160000"/>
              </a:lnSpc>
            </a:pPr>
            <a:r>
              <a:rPr lang="en-US" sz="14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400" dirty="0">
                <a:solidFill>
                  <a:srgbClr val="232F3E"/>
                </a:solidFill>
                <a:latin typeface="Quattrocento Sans" pitchFamily="34" charset="0"/>
                <a:ea typeface="Quattrocento Sans" pitchFamily="34" charset="-122"/>
                <a:cs typeface="Quattrocento Sans" pitchFamily="34" charset="-120"/>
              </a:rPr>
              <a:t> Stateless servers enable seamless failover</a:t>
            </a:r>
            <a:endParaRPr lang="en-US" sz="1400" dirty="0"/>
          </a:p>
        </p:txBody>
      </p:sp>
      <p:sp>
        <p:nvSpPr>
          <p:cNvPr id="32" name="Shape 29"/>
          <p:cNvSpPr/>
          <p:nvPr/>
        </p:nvSpPr>
        <p:spPr>
          <a:xfrm>
            <a:off x="762000" y="6985000"/>
            <a:ext cx="14732000" cy="1397000"/>
          </a:xfrm>
          <a:prstGeom prst="roundRect">
            <a:avLst>
              <a:gd name="adj" fmla="val 4000"/>
            </a:avLst>
          </a:prstGeom>
          <a:solidFill>
            <a:srgbClr val="232F3E"/>
          </a:solidFill>
          <a:ln/>
        </p:spPr>
      </p:sp>
      <p:sp>
        <p:nvSpPr>
          <p:cNvPr id="33" name="Text 30"/>
          <p:cNvSpPr/>
          <p:nvPr/>
        </p:nvSpPr>
        <p:spPr>
          <a:xfrm>
            <a:off x="1143000" y="7175500"/>
            <a:ext cx="13970000" cy="1016000"/>
          </a:xfrm>
          <a:prstGeom prst="rect">
            <a:avLst/>
          </a:prstGeom>
          <a:noFill/>
          <a:ln/>
        </p:spPr>
        <p:txBody>
          <a:bodyPr wrap="square" lIns="0" tIns="0" rIns="0" bIns="0" rtlCol="0" anchor="ctr"/>
          <a:lstStyle/>
          <a:p>
            <a:pPr algn="ctr">
              <a:lnSpc>
                <a:spcPct val="150000"/>
              </a:lnSpc>
            </a:pPr>
            <a:r>
              <a:rPr lang="en-US" sz="1600" dirty="0">
                <a:solidFill>
                  <a:srgbClr val="FFFFFF"/>
                </a:solidFill>
                <a:latin typeface="Quattrocento Sans" pitchFamily="34" charset="0"/>
                <a:ea typeface="Quattrocento Sans" pitchFamily="34" charset="-122"/>
                <a:cs typeface="Quattrocento Sans" pitchFamily="34" charset="-120"/>
              </a:rPr>
              <a:t>The entire flow completes in </a:t>
            </a:r>
            <a:pPr algn="ctr">
              <a:lnSpc>
                <a:spcPct val="150000"/>
              </a:lnSpc>
            </a:pPr>
            <a:r>
              <a:rPr lang="en-US" sz="1600" b="1" dirty="0">
                <a:solidFill>
                  <a:srgbClr val="FFFFFF"/>
                </a:solidFill>
                <a:latin typeface="Quattrocento Sans" pitchFamily="34" charset="0"/>
                <a:ea typeface="Quattrocento Sans" pitchFamily="34" charset="-122"/>
                <a:cs typeface="Quattrocento Sans" pitchFamily="34" charset="-120"/>
              </a:rPr>
              <a:t>milliseconds</a:t>
            </a:r>
            <a:pPr algn="ctr">
              <a:lnSpc>
                <a:spcPct val="150000"/>
              </a:lnSpc>
            </a:pPr>
            <a:r>
              <a:rPr lang="en-US" sz="1600" dirty="0">
                <a:solidFill>
                  <a:srgbClr val="FFFFFF"/>
                </a:solidFill>
                <a:latin typeface="Quattrocento Sans" pitchFamily="34" charset="0"/>
                <a:ea typeface="Quattrocento Sans" pitchFamily="34" charset="-122"/>
                <a:cs typeface="Quattrocento Sans" pitchFamily="34" charset="-120"/>
              </a:rPr>
              <a:t>, providing a seamless user experience.</a:t>
            </a:r>
            <a:endParaRPr lang="en-US" sz="1600" dirty="0"/>
          </a:p>
          <a:p>
            <a:pPr algn="ctr">
              <a:lnSpc>
                <a:spcPct val="150000"/>
              </a:lnSpc>
            </a:pPr>
            <a:r>
              <a:rPr lang="en-US" sz="1600" dirty="0">
                <a:solidFill>
                  <a:srgbClr val="FFFFFF"/>
                </a:solidFill>
                <a:latin typeface="Quattrocento Sans" pitchFamily="34" charset="0"/>
                <a:ea typeface="Quattrocento Sans" pitchFamily="34" charset="-122"/>
                <a:cs typeface="Quattrocento Sans" pitchFamily="34" charset="-120"/>
              </a:rPr>
              <a:t>Students can add, view, edit, delete, and search notes from any device, anywhere.</a:t>
            </a:r>
            <a:endParaRPr lang="en-US" sz="1600" dirty="0"/>
          </a:p>
        </p:txBody>
      </p:sp>
      <p:sp>
        <p:nvSpPr>
          <p:cNvPr id="34" name="Text 31"/>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14</a:t>
            </a:r>
            <a:endParaRPr lang="en-US" sz="1400" dirty="0"/>
          </a:p>
        </p:txBody>
      </p:sp>
    </p:spTree>
  </p:cSld>
  <p:clrMapOvr>
    <a:masterClrMapping/>
  </p:clrMapOvr>
  <p:transition>
    <p:fade/>
    <p:spd val="med"/>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2705100" y="457200"/>
            <a:ext cx="27051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WORKFLOW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STEPS</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ADVANTAGES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FUTURE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CONCLUSION</a:t>
            </a:r>
            <a:endParaRPr lang="en-US" sz="1200" dirty="0"/>
          </a:p>
        </p:txBody>
      </p:sp>
      <p:sp>
        <p:nvSpPr>
          <p:cNvPr id="6" name="Text 3"/>
          <p:cNvSpPr/>
          <p:nvPr/>
        </p:nvSpPr>
        <p:spPr>
          <a:xfrm>
            <a:off x="762000" y="762000"/>
            <a:ext cx="762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IMPLEMENTATION STEPS</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587500"/>
            <a:ext cx="7239000" cy="6413500"/>
          </a:xfrm>
          <a:prstGeom prst="roundRect">
            <a:avLst>
              <a:gd name="adj" fmla="val 4000"/>
            </a:avLst>
          </a:prstGeom>
          <a:solidFill>
            <a:srgbClr val="F0F4F8"/>
          </a:solidFill>
          <a:ln/>
        </p:spPr>
      </p:sp>
      <p:sp>
        <p:nvSpPr>
          <p:cNvPr id="9" name="Text 6"/>
          <p:cNvSpPr/>
          <p:nvPr/>
        </p:nvSpPr>
        <p:spPr>
          <a:xfrm>
            <a:off x="1079500" y="1752600"/>
            <a:ext cx="3810000" cy="355600"/>
          </a:xfrm>
          <a:prstGeom prst="rect">
            <a:avLst/>
          </a:prstGeom>
          <a:noFill/>
          <a:ln/>
        </p:spPr>
        <p:txBody>
          <a:bodyPr wrap="none" lIns="0" tIns="0" rIns="0" bIns="0" rtlCol="0" anchor="ctr"/>
          <a:lstStyle/>
          <a:p>
            <a:pPr algn="l">
              <a:lnSpc>
                <a:spcPct val="120000"/>
              </a:lnSpc>
            </a:pPr>
            <a:r>
              <a:rPr lang="en-US" sz="1600" b="1" dirty="0">
                <a:solidFill>
                  <a:srgbClr val="232F3E"/>
                </a:solidFill>
                <a:latin typeface="Liter" pitchFamily="34" charset="0"/>
                <a:ea typeface="Liter" pitchFamily="34" charset="-122"/>
                <a:cs typeface="Liter" pitchFamily="34" charset="-120"/>
              </a:rPr>
              <a:t>Infrastructure Setup</a:t>
            </a:r>
            <a:endParaRPr lang="en-US" sz="1600" dirty="0"/>
          </a:p>
        </p:txBody>
      </p:sp>
      <p:sp>
        <p:nvSpPr>
          <p:cNvPr id="10" name="Shape 7"/>
          <p:cNvSpPr/>
          <p:nvPr/>
        </p:nvSpPr>
        <p:spPr>
          <a:xfrm>
            <a:off x="1079500" y="2286000"/>
            <a:ext cx="457200" cy="457200"/>
          </a:xfrm>
          <a:prstGeom prst="ellipse">
            <a:avLst/>
          </a:prstGeom>
          <a:solidFill>
            <a:srgbClr val="FF9900"/>
          </a:solidFill>
          <a:ln/>
        </p:spPr>
      </p:sp>
      <p:sp>
        <p:nvSpPr>
          <p:cNvPr id="11" name="Text 8"/>
          <p:cNvSpPr/>
          <p:nvPr/>
        </p:nvSpPr>
        <p:spPr>
          <a:xfrm>
            <a:off x="1079500" y="22860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1</a:t>
            </a:r>
            <a:endParaRPr lang="en-US" sz="1400" dirty="0"/>
          </a:p>
        </p:txBody>
      </p:sp>
      <p:sp>
        <p:nvSpPr>
          <p:cNvPr id="12" name="Text 9"/>
          <p:cNvSpPr/>
          <p:nvPr/>
        </p:nvSpPr>
        <p:spPr>
          <a:xfrm>
            <a:off x="1676400" y="2286000"/>
            <a:ext cx="5969000" cy="457200"/>
          </a:xfrm>
          <a:prstGeom prst="rect">
            <a:avLst/>
          </a:prstGeom>
          <a:noFill/>
          <a:ln/>
        </p:spPr>
        <p:txBody>
          <a:bodyPr wrap="none" lIns="0" tIns="0" rIns="0" bIns="0" rtlCol="0" anchor="ctr"/>
          <a:lstStyle/>
          <a:p>
            <a:pPr algn="l">
              <a:lnSpc>
                <a:spcPct val="120000"/>
              </a:lnSpc>
            </a:pPr>
            <a:r>
              <a:rPr lang="en-US" sz="1500" dirty="0">
                <a:solidFill>
                  <a:srgbClr val="232F3E"/>
                </a:solidFill>
                <a:latin typeface="Quattrocento Sans" pitchFamily="34" charset="0"/>
                <a:ea typeface="Quattrocento Sans" pitchFamily="34" charset="-122"/>
                <a:cs typeface="Quattrocento Sans" pitchFamily="34" charset="-120"/>
              </a:rPr>
              <a:t>Launch two EC2 instances with Ubuntu Server</a:t>
            </a:r>
            <a:endParaRPr lang="en-US" sz="1500" dirty="0"/>
          </a:p>
        </p:txBody>
      </p:sp>
      <p:sp>
        <p:nvSpPr>
          <p:cNvPr id="13" name="Shape 10"/>
          <p:cNvSpPr/>
          <p:nvPr/>
        </p:nvSpPr>
        <p:spPr>
          <a:xfrm>
            <a:off x="1079500" y="2895600"/>
            <a:ext cx="457200" cy="457200"/>
          </a:xfrm>
          <a:prstGeom prst="ellipse">
            <a:avLst/>
          </a:prstGeom>
          <a:solidFill>
            <a:srgbClr val="FF9900"/>
          </a:solidFill>
          <a:ln/>
        </p:spPr>
      </p:sp>
      <p:sp>
        <p:nvSpPr>
          <p:cNvPr id="14" name="Text 11"/>
          <p:cNvSpPr/>
          <p:nvPr/>
        </p:nvSpPr>
        <p:spPr>
          <a:xfrm>
            <a:off x="1079500" y="28956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2</a:t>
            </a:r>
            <a:endParaRPr lang="en-US" sz="1400" dirty="0"/>
          </a:p>
        </p:txBody>
      </p:sp>
      <p:sp>
        <p:nvSpPr>
          <p:cNvPr id="15" name="Text 12"/>
          <p:cNvSpPr/>
          <p:nvPr/>
        </p:nvSpPr>
        <p:spPr>
          <a:xfrm>
            <a:off x="1676400" y="2895600"/>
            <a:ext cx="5969000" cy="457200"/>
          </a:xfrm>
          <a:prstGeom prst="rect">
            <a:avLst/>
          </a:prstGeom>
          <a:noFill/>
          <a:ln/>
        </p:spPr>
        <p:txBody>
          <a:bodyPr wrap="none" lIns="0" tIns="0" rIns="0" bIns="0" rtlCol="0" anchor="ctr"/>
          <a:lstStyle/>
          <a:p>
            <a:pPr algn="l">
              <a:lnSpc>
                <a:spcPct val="120000"/>
              </a:lnSpc>
            </a:pPr>
            <a:r>
              <a:rPr lang="en-US" sz="1500" dirty="0">
                <a:solidFill>
                  <a:srgbClr val="232F3E"/>
                </a:solidFill>
                <a:latin typeface="Quattrocento Sans" pitchFamily="34" charset="0"/>
                <a:ea typeface="Quattrocento Sans" pitchFamily="34" charset="-122"/>
                <a:cs typeface="Quattrocento Sans" pitchFamily="34" charset="-120"/>
              </a:rPr>
              <a:t>Deploy Flask website on both instances</a:t>
            </a:r>
            <a:endParaRPr lang="en-US" sz="1500" dirty="0"/>
          </a:p>
        </p:txBody>
      </p:sp>
      <p:sp>
        <p:nvSpPr>
          <p:cNvPr id="16" name="Shape 13"/>
          <p:cNvSpPr/>
          <p:nvPr/>
        </p:nvSpPr>
        <p:spPr>
          <a:xfrm>
            <a:off x="1079500" y="3505200"/>
            <a:ext cx="457200" cy="457200"/>
          </a:xfrm>
          <a:prstGeom prst="ellipse">
            <a:avLst/>
          </a:prstGeom>
          <a:solidFill>
            <a:srgbClr val="FF9900"/>
          </a:solidFill>
          <a:ln/>
        </p:spPr>
      </p:sp>
      <p:sp>
        <p:nvSpPr>
          <p:cNvPr id="17" name="Text 14"/>
          <p:cNvSpPr/>
          <p:nvPr/>
        </p:nvSpPr>
        <p:spPr>
          <a:xfrm>
            <a:off x="1079500" y="35052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3</a:t>
            </a:r>
            <a:endParaRPr lang="en-US" sz="1400" dirty="0"/>
          </a:p>
        </p:txBody>
      </p:sp>
      <p:sp>
        <p:nvSpPr>
          <p:cNvPr id="18" name="Text 15"/>
          <p:cNvSpPr/>
          <p:nvPr/>
        </p:nvSpPr>
        <p:spPr>
          <a:xfrm>
            <a:off x="1676400" y="3505200"/>
            <a:ext cx="5969000" cy="457200"/>
          </a:xfrm>
          <a:prstGeom prst="rect">
            <a:avLst/>
          </a:prstGeom>
          <a:noFill/>
          <a:ln/>
        </p:spPr>
        <p:txBody>
          <a:bodyPr wrap="none" lIns="0" tIns="0" rIns="0" bIns="0" rtlCol="0" anchor="ctr"/>
          <a:lstStyle/>
          <a:p>
            <a:pPr algn="l">
              <a:lnSpc>
                <a:spcPct val="120000"/>
              </a:lnSpc>
            </a:pPr>
            <a:r>
              <a:rPr lang="en-US" sz="1500" dirty="0">
                <a:solidFill>
                  <a:srgbClr val="232F3E"/>
                </a:solidFill>
                <a:latin typeface="Quattrocento Sans" pitchFamily="34" charset="0"/>
                <a:ea typeface="Quattrocento Sans" pitchFamily="34" charset="-122"/>
                <a:cs typeface="Quattrocento Sans" pitchFamily="34" charset="-120"/>
              </a:rPr>
              <a:t>Configure Apache with mod_wsgi</a:t>
            </a:r>
            <a:endParaRPr lang="en-US" sz="1500" dirty="0"/>
          </a:p>
        </p:txBody>
      </p:sp>
      <p:sp>
        <p:nvSpPr>
          <p:cNvPr id="19" name="Shape 16"/>
          <p:cNvSpPr/>
          <p:nvPr/>
        </p:nvSpPr>
        <p:spPr>
          <a:xfrm>
            <a:off x="1079500" y="4114800"/>
            <a:ext cx="457200" cy="457200"/>
          </a:xfrm>
          <a:prstGeom prst="ellipse">
            <a:avLst/>
          </a:prstGeom>
          <a:solidFill>
            <a:srgbClr val="4A6FA5"/>
          </a:solidFill>
          <a:ln/>
        </p:spPr>
      </p:sp>
      <p:sp>
        <p:nvSpPr>
          <p:cNvPr id="20" name="Text 17"/>
          <p:cNvSpPr/>
          <p:nvPr/>
        </p:nvSpPr>
        <p:spPr>
          <a:xfrm>
            <a:off x="1079500" y="41148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4</a:t>
            </a:r>
            <a:endParaRPr lang="en-US" sz="1400" dirty="0"/>
          </a:p>
        </p:txBody>
      </p:sp>
      <p:sp>
        <p:nvSpPr>
          <p:cNvPr id="21" name="Text 18"/>
          <p:cNvSpPr/>
          <p:nvPr/>
        </p:nvSpPr>
        <p:spPr>
          <a:xfrm>
            <a:off x="1676400" y="4114800"/>
            <a:ext cx="5969000" cy="457200"/>
          </a:xfrm>
          <a:prstGeom prst="rect">
            <a:avLst/>
          </a:prstGeom>
          <a:noFill/>
          <a:ln/>
        </p:spPr>
        <p:txBody>
          <a:bodyPr wrap="none" lIns="0" tIns="0" rIns="0" bIns="0" rtlCol="0" anchor="ctr"/>
          <a:lstStyle/>
          <a:p>
            <a:pPr algn="l">
              <a:lnSpc>
                <a:spcPct val="120000"/>
              </a:lnSpc>
            </a:pPr>
            <a:r>
              <a:rPr lang="en-US" sz="1500" dirty="0">
                <a:solidFill>
                  <a:srgbClr val="232F3E"/>
                </a:solidFill>
                <a:latin typeface="Quattrocento Sans" pitchFamily="34" charset="0"/>
                <a:ea typeface="Quattrocento Sans" pitchFamily="34" charset="-122"/>
                <a:cs typeface="Quattrocento Sans" pitchFamily="34" charset="-120"/>
              </a:rPr>
              <a:t>Create Amazon RDS MySQL instance</a:t>
            </a:r>
            <a:endParaRPr lang="en-US" sz="1500" dirty="0"/>
          </a:p>
        </p:txBody>
      </p:sp>
      <p:sp>
        <p:nvSpPr>
          <p:cNvPr id="22" name="Shape 19"/>
          <p:cNvSpPr/>
          <p:nvPr/>
        </p:nvSpPr>
        <p:spPr>
          <a:xfrm>
            <a:off x="1079500" y="4724400"/>
            <a:ext cx="457200" cy="457200"/>
          </a:xfrm>
          <a:prstGeom prst="ellipse">
            <a:avLst/>
          </a:prstGeom>
          <a:solidFill>
            <a:srgbClr val="4A6FA5"/>
          </a:solidFill>
          <a:ln/>
        </p:spPr>
      </p:sp>
      <p:sp>
        <p:nvSpPr>
          <p:cNvPr id="23" name="Text 20"/>
          <p:cNvSpPr/>
          <p:nvPr/>
        </p:nvSpPr>
        <p:spPr>
          <a:xfrm>
            <a:off x="1079500" y="47244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5</a:t>
            </a:r>
            <a:endParaRPr lang="en-US" sz="1400" dirty="0"/>
          </a:p>
        </p:txBody>
      </p:sp>
      <p:sp>
        <p:nvSpPr>
          <p:cNvPr id="24" name="Text 21"/>
          <p:cNvSpPr/>
          <p:nvPr/>
        </p:nvSpPr>
        <p:spPr>
          <a:xfrm>
            <a:off x="1676400" y="4724400"/>
            <a:ext cx="5969000" cy="457200"/>
          </a:xfrm>
          <a:prstGeom prst="rect">
            <a:avLst/>
          </a:prstGeom>
          <a:noFill/>
          <a:ln/>
        </p:spPr>
        <p:txBody>
          <a:bodyPr wrap="none" lIns="0" tIns="0" rIns="0" bIns="0" rtlCol="0" anchor="ctr"/>
          <a:lstStyle/>
          <a:p>
            <a:pPr algn="l">
              <a:lnSpc>
                <a:spcPct val="120000"/>
              </a:lnSpc>
            </a:pPr>
            <a:r>
              <a:rPr lang="en-US" sz="1500" dirty="0">
                <a:solidFill>
                  <a:srgbClr val="232F3E"/>
                </a:solidFill>
                <a:latin typeface="Quattrocento Sans" pitchFamily="34" charset="0"/>
                <a:ea typeface="Quattrocento Sans" pitchFamily="34" charset="-122"/>
                <a:cs typeface="Quattrocento Sans" pitchFamily="34" charset="-120"/>
              </a:rPr>
              <a:t>Connect Flask backend to RDS database</a:t>
            </a:r>
            <a:endParaRPr lang="en-US" sz="1500" dirty="0"/>
          </a:p>
        </p:txBody>
      </p:sp>
      <p:sp>
        <p:nvSpPr>
          <p:cNvPr id="25" name="Shape 22"/>
          <p:cNvSpPr/>
          <p:nvPr/>
        </p:nvSpPr>
        <p:spPr>
          <a:xfrm>
            <a:off x="8255000" y="1587500"/>
            <a:ext cx="7239000" cy="6413500"/>
          </a:xfrm>
          <a:prstGeom prst="roundRect">
            <a:avLst>
              <a:gd name="adj" fmla="val 4000"/>
            </a:avLst>
          </a:prstGeom>
          <a:solidFill>
            <a:srgbClr val="232F3E"/>
          </a:solidFill>
          <a:ln/>
        </p:spPr>
      </p:sp>
      <p:sp>
        <p:nvSpPr>
          <p:cNvPr id="26" name="Text 23"/>
          <p:cNvSpPr/>
          <p:nvPr/>
        </p:nvSpPr>
        <p:spPr>
          <a:xfrm>
            <a:off x="8572500" y="1752600"/>
            <a:ext cx="3810000" cy="355600"/>
          </a:xfrm>
          <a:prstGeom prst="rect">
            <a:avLst/>
          </a:prstGeom>
          <a:noFill/>
          <a:ln/>
        </p:spPr>
        <p:txBody>
          <a:bodyPr wrap="none" lIns="0" tIns="0" rIns="0" bIns="0" rtlCol="0" anchor="ctr"/>
          <a:lstStyle/>
          <a:p>
            <a:pPr algn="l">
              <a:lnSpc>
                <a:spcPct val="120000"/>
              </a:lnSpc>
            </a:pPr>
            <a:r>
              <a:rPr lang="en-US" sz="1600" b="1" dirty="0">
                <a:solidFill>
                  <a:srgbClr val="FFFFFF"/>
                </a:solidFill>
                <a:latin typeface="Liter" pitchFamily="34" charset="0"/>
                <a:ea typeface="Liter" pitchFamily="34" charset="-122"/>
                <a:cs typeface="Liter" pitchFamily="34" charset="-120"/>
              </a:rPr>
              <a:t>Configuration &amp; Testing</a:t>
            </a:r>
            <a:endParaRPr lang="en-US" sz="1600" dirty="0"/>
          </a:p>
        </p:txBody>
      </p:sp>
      <p:sp>
        <p:nvSpPr>
          <p:cNvPr id="27" name="Shape 24"/>
          <p:cNvSpPr/>
          <p:nvPr/>
        </p:nvSpPr>
        <p:spPr>
          <a:xfrm>
            <a:off x="8572500" y="2286000"/>
            <a:ext cx="457200" cy="457200"/>
          </a:xfrm>
          <a:prstGeom prst="ellipse">
            <a:avLst/>
          </a:prstGeom>
          <a:solidFill>
            <a:srgbClr val="FF9900"/>
          </a:solidFill>
          <a:ln/>
        </p:spPr>
      </p:sp>
      <p:sp>
        <p:nvSpPr>
          <p:cNvPr id="28" name="Text 25"/>
          <p:cNvSpPr/>
          <p:nvPr/>
        </p:nvSpPr>
        <p:spPr>
          <a:xfrm>
            <a:off x="8572500" y="22860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6</a:t>
            </a:r>
            <a:endParaRPr lang="en-US" sz="1400" dirty="0"/>
          </a:p>
        </p:txBody>
      </p:sp>
      <p:sp>
        <p:nvSpPr>
          <p:cNvPr id="29" name="Text 26"/>
          <p:cNvSpPr/>
          <p:nvPr/>
        </p:nvSpPr>
        <p:spPr>
          <a:xfrm>
            <a:off x="9169400" y="2286000"/>
            <a:ext cx="5969000" cy="457200"/>
          </a:xfrm>
          <a:prstGeom prst="rect">
            <a:avLst/>
          </a:prstGeom>
          <a:noFill/>
          <a:ln/>
        </p:spPr>
        <p:txBody>
          <a:bodyPr wrap="none" lIns="0" tIns="0" rIns="0" bIns="0" rtlCol="0" anchor="ctr"/>
          <a:lstStyle/>
          <a:p>
            <a:pPr algn="l">
              <a:lnSpc>
                <a:spcPct val="120000"/>
              </a:lnSpc>
            </a:pPr>
            <a:r>
              <a:rPr lang="en-US" sz="1500" dirty="0">
                <a:solidFill>
                  <a:srgbClr val="FFFFFF"/>
                </a:solidFill>
                <a:latin typeface="Quattrocento Sans" pitchFamily="34" charset="0"/>
                <a:ea typeface="Quattrocento Sans" pitchFamily="34" charset="-122"/>
                <a:cs typeface="Quattrocento Sans" pitchFamily="34" charset="-120"/>
              </a:rPr>
              <a:t>Configure Application Load Balancer</a:t>
            </a:r>
            <a:endParaRPr lang="en-US" sz="1500" dirty="0"/>
          </a:p>
        </p:txBody>
      </p:sp>
      <p:sp>
        <p:nvSpPr>
          <p:cNvPr id="30" name="Shape 27"/>
          <p:cNvSpPr/>
          <p:nvPr/>
        </p:nvSpPr>
        <p:spPr>
          <a:xfrm>
            <a:off x="8572500" y="2895600"/>
            <a:ext cx="457200" cy="457200"/>
          </a:xfrm>
          <a:prstGeom prst="ellipse">
            <a:avLst/>
          </a:prstGeom>
          <a:solidFill>
            <a:srgbClr val="FF9900"/>
          </a:solidFill>
          <a:ln/>
        </p:spPr>
      </p:sp>
      <p:sp>
        <p:nvSpPr>
          <p:cNvPr id="31" name="Text 28"/>
          <p:cNvSpPr/>
          <p:nvPr/>
        </p:nvSpPr>
        <p:spPr>
          <a:xfrm>
            <a:off x="8572500" y="28956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7</a:t>
            </a:r>
            <a:endParaRPr lang="en-US" sz="1400" dirty="0"/>
          </a:p>
        </p:txBody>
      </p:sp>
      <p:sp>
        <p:nvSpPr>
          <p:cNvPr id="32" name="Text 29"/>
          <p:cNvSpPr/>
          <p:nvPr/>
        </p:nvSpPr>
        <p:spPr>
          <a:xfrm>
            <a:off x="9169400" y="2895600"/>
            <a:ext cx="5969000" cy="457200"/>
          </a:xfrm>
          <a:prstGeom prst="rect">
            <a:avLst/>
          </a:prstGeom>
          <a:noFill/>
          <a:ln/>
        </p:spPr>
        <p:txBody>
          <a:bodyPr wrap="none" lIns="0" tIns="0" rIns="0" bIns="0" rtlCol="0" anchor="ctr"/>
          <a:lstStyle/>
          <a:p>
            <a:pPr algn="l">
              <a:lnSpc>
                <a:spcPct val="120000"/>
              </a:lnSpc>
            </a:pPr>
            <a:r>
              <a:rPr lang="en-US" sz="1500" dirty="0">
                <a:solidFill>
                  <a:srgbClr val="FFFFFF"/>
                </a:solidFill>
                <a:latin typeface="Quattrocento Sans" pitchFamily="34" charset="0"/>
                <a:ea typeface="Quattrocento Sans" pitchFamily="34" charset="-122"/>
                <a:cs typeface="Quattrocento Sans" pitchFamily="34" charset="-120"/>
              </a:rPr>
              <a:t>Set up CloudWatch dashboards and alarms</a:t>
            </a:r>
            <a:endParaRPr lang="en-US" sz="1500" dirty="0"/>
          </a:p>
        </p:txBody>
      </p:sp>
      <p:sp>
        <p:nvSpPr>
          <p:cNvPr id="33" name="Shape 30"/>
          <p:cNvSpPr/>
          <p:nvPr/>
        </p:nvSpPr>
        <p:spPr>
          <a:xfrm>
            <a:off x="8572500" y="3505200"/>
            <a:ext cx="457200" cy="457200"/>
          </a:xfrm>
          <a:prstGeom prst="ellipse">
            <a:avLst/>
          </a:prstGeom>
          <a:solidFill>
            <a:srgbClr val="FF9900"/>
          </a:solidFill>
          <a:ln/>
        </p:spPr>
      </p:sp>
      <p:sp>
        <p:nvSpPr>
          <p:cNvPr id="34" name="Text 31"/>
          <p:cNvSpPr/>
          <p:nvPr/>
        </p:nvSpPr>
        <p:spPr>
          <a:xfrm>
            <a:off x="8572500" y="35052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8</a:t>
            </a:r>
            <a:endParaRPr lang="en-US" sz="1400" dirty="0"/>
          </a:p>
        </p:txBody>
      </p:sp>
      <p:sp>
        <p:nvSpPr>
          <p:cNvPr id="35" name="Text 32"/>
          <p:cNvSpPr/>
          <p:nvPr/>
        </p:nvSpPr>
        <p:spPr>
          <a:xfrm>
            <a:off x="9169400" y="3505200"/>
            <a:ext cx="5969000" cy="457200"/>
          </a:xfrm>
          <a:prstGeom prst="rect">
            <a:avLst/>
          </a:prstGeom>
          <a:noFill/>
          <a:ln/>
        </p:spPr>
        <p:txBody>
          <a:bodyPr wrap="none" lIns="0" tIns="0" rIns="0" bIns="0" rtlCol="0" anchor="ctr"/>
          <a:lstStyle/>
          <a:p>
            <a:pPr algn="l">
              <a:lnSpc>
                <a:spcPct val="120000"/>
              </a:lnSpc>
            </a:pPr>
            <a:r>
              <a:rPr lang="en-US" sz="1500" dirty="0">
                <a:solidFill>
                  <a:srgbClr val="FFFFFF"/>
                </a:solidFill>
                <a:latin typeface="Quattrocento Sans" pitchFamily="34" charset="0"/>
                <a:ea typeface="Quattrocento Sans" pitchFamily="34" charset="-122"/>
                <a:cs typeface="Quattrocento Sans" pitchFamily="34" charset="-120"/>
              </a:rPr>
              <a:t>Configure SNS topic and email subscription</a:t>
            </a:r>
            <a:endParaRPr lang="en-US" sz="1500" dirty="0"/>
          </a:p>
        </p:txBody>
      </p:sp>
      <p:sp>
        <p:nvSpPr>
          <p:cNvPr id="36" name="Shape 33"/>
          <p:cNvSpPr/>
          <p:nvPr/>
        </p:nvSpPr>
        <p:spPr>
          <a:xfrm>
            <a:off x="8572500" y="4114800"/>
            <a:ext cx="457200" cy="457200"/>
          </a:xfrm>
          <a:prstGeom prst="ellipse">
            <a:avLst/>
          </a:prstGeom>
          <a:solidFill>
            <a:srgbClr val="27AE60"/>
          </a:solidFill>
          <a:ln/>
        </p:spPr>
      </p:sp>
      <p:sp>
        <p:nvSpPr>
          <p:cNvPr id="37" name="Text 34"/>
          <p:cNvSpPr/>
          <p:nvPr/>
        </p:nvSpPr>
        <p:spPr>
          <a:xfrm>
            <a:off x="8572500" y="4114800"/>
            <a:ext cx="457200" cy="457200"/>
          </a:xfrm>
          <a:prstGeom prst="rect">
            <a:avLst/>
          </a:prstGeom>
          <a:noFill/>
          <a:ln/>
        </p:spPr>
        <p:txBody>
          <a:bodyPr wrap="none" lIns="0" tIns="0" rIns="0" bIns="0" rtlCol="0" anchor="ctr"/>
          <a:lstStyle/>
          <a:p>
            <a:pPr algn="ctr">
              <a:lnSpc>
                <a:spcPct val="120000"/>
              </a:lnSpc>
            </a:pPr>
            <a:r>
              <a:rPr lang="en-US" sz="1400" b="1" dirty="0">
                <a:solidFill>
                  <a:srgbClr val="FFFFFF"/>
                </a:solidFill>
                <a:latin typeface="Liter" pitchFamily="34" charset="0"/>
                <a:ea typeface="Liter" pitchFamily="34" charset="-122"/>
                <a:cs typeface="Liter" pitchFamily="34" charset="-120"/>
              </a:rPr>
              <a:t>9</a:t>
            </a:r>
            <a:endParaRPr lang="en-US" sz="1400" dirty="0"/>
          </a:p>
        </p:txBody>
      </p:sp>
      <p:sp>
        <p:nvSpPr>
          <p:cNvPr id="38" name="Text 35"/>
          <p:cNvSpPr/>
          <p:nvPr/>
        </p:nvSpPr>
        <p:spPr>
          <a:xfrm>
            <a:off x="9169400" y="4114800"/>
            <a:ext cx="5969000" cy="457200"/>
          </a:xfrm>
          <a:prstGeom prst="rect">
            <a:avLst/>
          </a:prstGeom>
          <a:noFill/>
          <a:ln/>
        </p:spPr>
        <p:txBody>
          <a:bodyPr wrap="none" lIns="0" tIns="0" rIns="0" bIns="0" rtlCol="0" anchor="ctr"/>
          <a:lstStyle/>
          <a:p>
            <a:pPr algn="l">
              <a:lnSpc>
                <a:spcPct val="120000"/>
              </a:lnSpc>
            </a:pPr>
            <a:r>
              <a:rPr lang="en-US" sz="1500" dirty="0">
                <a:solidFill>
                  <a:srgbClr val="FFFFFF"/>
                </a:solidFill>
                <a:latin typeface="Quattrocento Sans" pitchFamily="34" charset="0"/>
                <a:ea typeface="Quattrocento Sans" pitchFamily="34" charset="-122"/>
                <a:cs typeface="Quattrocento Sans" pitchFamily="34" charset="-120"/>
              </a:rPr>
              <a:t>Test complete architecture and failover</a:t>
            </a:r>
            <a:endParaRPr lang="en-US" sz="1500" dirty="0"/>
          </a:p>
        </p:txBody>
      </p:sp>
      <p:sp>
        <p:nvSpPr>
          <p:cNvPr id="39" name="Shape 36"/>
          <p:cNvSpPr/>
          <p:nvPr/>
        </p:nvSpPr>
        <p:spPr>
          <a:xfrm>
            <a:off x="1079500" y="8686800"/>
            <a:ext cx="14097000" cy="76200"/>
          </a:xfrm>
          <a:prstGeom prst="roundRect">
            <a:avLst>
              <a:gd name="adj" fmla="val 50000"/>
            </a:avLst>
          </a:prstGeom>
          <a:gradFill rotWithShape="1" flip="none">
            <a:gsLst>
              <a:gs pos="0">
                <a:srgbClr val="FF9900"/>
              </a:gs>
              <a:gs pos="50000">
                <a:srgbClr val="4A6FA5"/>
              </a:gs>
              <a:gs pos="100000">
                <a:srgbClr val="27AE60"/>
              </a:gs>
            </a:gsLst>
            <a:lin ang="0" scaled="1"/>
          </a:gradFill>
          <a:ln/>
        </p:spPr>
      </p:sp>
      <p:sp>
        <p:nvSpPr>
          <p:cNvPr id="40" name="Text 37"/>
          <p:cNvSpPr/>
          <p:nvPr/>
        </p:nvSpPr>
        <p:spPr>
          <a:xfrm>
            <a:off x="1079500" y="8813800"/>
            <a:ext cx="14097000" cy="304800"/>
          </a:xfrm>
          <a:prstGeom prst="rect">
            <a:avLst/>
          </a:prstGeom>
          <a:noFill/>
          <a:ln/>
        </p:spPr>
        <p:txBody>
          <a:bodyPr wrap="square" lIns="0" tIns="0" rIns="0" bIns="0" rtlCol="0" anchor="t"/>
          <a:lstStyle/>
          <a:p>
            <a:pPr algn="ctr">
              <a:lnSpc>
                <a:spcPct val="150000"/>
              </a:lnSpc>
            </a:pPr>
            <a:r>
              <a:rPr lang="en-US" sz="1200" dirty="0">
                <a:solidFill>
                  <a:srgbClr val="FF9900"/>
                </a:solidFill>
                <a:latin typeface="Quattrocento Sans" pitchFamily="34" charset="0"/>
                <a:ea typeface="Quattrocento Sans" pitchFamily="34" charset="-122"/>
                <a:cs typeface="Quattrocento Sans" pitchFamily="34" charset="-120"/>
              </a:rPr>
              <a:t>■ Infrastructure</a:t>
            </a:r>
            <a:pPr algn="ctr">
              <a:lnSpc>
                <a:spcPct val="150000"/>
              </a:lnSpc>
            </a:pPr>
            <a:r>
              <a:rPr lang="en-US" sz="1200" dirty="0">
                <a:solidFill>
                  <a:srgbClr val="64748B"/>
                </a:solidFill>
                <a:latin typeface="Quattrocento Sans" pitchFamily="34" charset="0"/>
                <a:ea typeface="Quattrocento Sans" pitchFamily="34" charset="-122"/>
                <a:cs typeface="Quattrocento Sans" pitchFamily="34" charset="-120"/>
              </a:rPr>
              <a:t> → </a:t>
            </a:r>
            <a:pPr algn="ctr">
              <a:lnSpc>
                <a:spcPct val="150000"/>
              </a:lnSpc>
            </a:pPr>
            <a:r>
              <a:rPr lang="en-US" sz="1200" dirty="0">
                <a:solidFill>
                  <a:srgbClr val="4A6FA5"/>
                </a:solidFill>
                <a:latin typeface="Quattrocento Sans" pitchFamily="34" charset="0"/>
                <a:ea typeface="Quattrocento Sans" pitchFamily="34" charset="-122"/>
                <a:cs typeface="Quattrocento Sans" pitchFamily="34" charset="-120"/>
              </a:rPr>
              <a:t>■ Database</a:t>
            </a:r>
            <a:pPr algn="ctr">
              <a:lnSpc>
                <a:spcPct val="150000"/>
              </a:lnSpc>
            </a:pPr>
            <a:r>
              <a:rPr lang="en-US" sz="1200" dirty="0">
                <a:solidFill>
                  <a:srgbClr val="64748B"/>
                </a:solidFill>
                <a:latin typeface="Quattrocento Sans" pitchFamily="34" charset="0"/>
                <a:ea typeface="Quattrocento Sans" pitchFamily="34" charset="-122"/>
                <a:cs typeface="Quattrocento Sans" pitchFamily="34" charset="-120"/>
              </a:rPr>
              <a:t> → </a:t>
            </a:r>
            <a:pPr algn="ctr">
              <a:lnSpc>
                <a:spcPct val="150000"/>
              </a:lnSpc>
            </a:pPr>
            <a:r>
              <a:rPr lang="en-US" sz="1200" dirty="0">
                <a:solidFill>
                  <a:srgbClr val="27AE60"/>
                </a:solidFill>
                <a:latin typeface="Quattrocento Sans" pitchFamily="34" charset="0"/>
                <a:ea typeface="Quattrocento Sans" pitchFamily="34" charset="-122"/>
                <a:cs typeface="Quattrocento Sans" pitchFamily="34" charset="-120"/>
              </a:rPr>
              <a:t>■ Monitoring</a:t>
            </a:r>
            <a:pPr algn="ctr">
              <a:lnSpc>
                <a:spcPct val="150000"/>
              </a:lnSpc>
            </a:pPr>
            <a:r>
              <a:rPr lang="en-US" sz="1200" dirty="0">
                <a:solidFill>
                  <a:srgbClr val="64748B"/>
                </a:solidFill>
                <a:latin typeface="Quattrocento Sans" pitchFamily="34" charset="0"/>
                <a:ea typeface="Quattrocento Sans" pitchFamily="34" charset="-122"/>
                <a:cs typeface="Quattrocento Sans" pitchFamily="34" charset="-120"/>
              </a:rPr>
              <a:t> | Estimated time: 2-3 weeks</a:t>
            </a:r>
            <a:endParaRPr lang="en-US" sz="1200" dirty="0"/>
          </a:p>
        </p:txBody>
      </p:sp>
      <p:sp>
        <p:nvSpPr>
          <p:cNvPr id="41" name="Shape 38"/>
          <p:cNvSpPr/>
          <p:nvPr/>
        </p:nvSpPr>
        <p:spPr>
          <a:xfrm>
            <a:off x="7366000" y="8064500"/>
            <a:ext cx="571500" cy="571500"/>
          </a:xfrm>
          <a:custGeom>
            <a:avLst/>
            <a:gdLst/>
            <a:ahLst/>
            <a:cxnLst/>
            <a:rect l="l" t="t" r="r" b="b"/>
            <a:pathLst>
              <a:path w="571500" h="571500">
                <a:moveTo>
                  <a:pt x="285750" y="571500"/>
                </a:moveTo>
                <a:cubicBezTo>
                  <a:pt x="443460" y="571500"/>
                  <a:pt x="571500" y="443460"/>
                  <a:pt x="571500" y="285750"/>
                </a:cubicBezTo>
                <a:cubicBezTo>
                  <a:pt x="571500" y="128040"/>
                  <a:pt x="443460" y="0"/>
                  <a:pt x="285750" y="0"/>
                </a:cubicBezTo>
                <a:cubicBezTo>
                  <a:pt x="128040" y="0"/>
                  <a:pt x="0" y="128040"/>
                  <a:pt x="0" y="285750"/>
                </a:cubicBezTo>
                <a:cubicBezTo>
                  <a:pt x="0" y="443460"/>
                  <a:pt x="128040" y="571500"/>
                  <a:pt x="285750" y="571500"/>
                </a:cubicBezTo>
                <a:close/>
                <a:moveTo>
                  <a:pt x="379958" y="237418"/>
                </a:moveTo>
                <a:lnTo>
                  <a:pt x="290661" y="380293"/>
                </a:lnTo>
                <a:cubicBezTo>
                  <a:pt x="285973" y="387772"/>
                  <a:pt x="277937" y="392460"/>
                  <a:pt x="269118" y="392906"/>
                </a:cubicBezTo>
                <a:cubicBezTo>
                  <a:pt x="260300" y="393353"/>
                  <a:pt x="251817" y="389334"/>
                  <a:pt x="246571" y="382191"/>
                </a:cubicBezTo>
                <a:lnTo>
                  <a:pt x="192993" y="310753"/>
                </a:lnTo>
                <a:cubicBezTo>
                  <a:pt x="184063" y="298921"/>
                  <a:pt x="186519" y="282178"/>
                  <a:pt x="198351" y="273248"/>
                </a:cubicBezTo>
                <a:cubicBezTo>
                  <a:pt x="210183" y="264319"/>
                  <a:pt x="226926" y="266774"/>
                  <a:pt x="235855" y="278606"/>
                </a:cubicBezTo>
                <a:lnTo>
                  <a:pt x="265993" y="318790"/>
                </a:lnTo>
                <a:lnTo>
                  <a:pt x="334528" y="209066"/>
                </a:lnTo>
                <a:cubicBezTo>
                  <a:pt x="342342" y="196565"/>
                  <a:pt x="358862" y="192658"/>
                  <a:pt x="371475" y="200583"/>
                </a:cubicBezTo>
                <a:cubicBezTo>
                  <a:pt x="384088" y="208508"/>
                  <a:pt x="387883" y="224917"/>
                  <a:pt x="379958" y="237530"/>
                </a:cubicBezTo>
                <a:close/>
              </a:path>
            </a:pathLst>
          </a:custGeom>
          <a:solidFill>
            <a:srgbClr val="27AE60"/>
          </a:solidFill>
          <a:ln/>
        </p:spPr>
      </p:sp>
      <p:sp>
        <p:nvSpPr>
          <p:cNvPr id="42" name="Text 39"/>
          <p:cNvSpPr/>
          <p:nvPr/>
        </p:nvSpPr>
        <p:spPr>
          <a:xfrm>
            <a:off x="1079500" y="8064500"/>
            <a:ext cx="14097000" cy="571500"/>
          </a:xfrm>
          <a:prstGeom prst="rect">
            <a:avLst/>
          </a:prstGeom>
          <a:noFill/>
          <a:ln/>
        </p:spPr>
        <p:txBody>
          <a:bodyPr wrap="square" lIns="0" tIns="0" rIns="0" bIns="0" rtlCol="0" anchor="ctr"/>
          <a:lstStyle/>
          <a:p>
            <a:pPr algn="ctr">
              <a:lnSpc>
                <a:spcPct val="120000"/>
              </a:lnSpc>
            </a:pPr>
            <a:r>
              <a:rPr lang="en-US" sz="1600" b="1" dirty="0">
                <a:solidFill>
                  <a:srgbClr val="FFFFFF"/>
                </a:solidFill>
                <a:latin typeface="Quattrocento Sans" pitchFamily="34" charset="0"/>
                <a:ea typeface="Quattrocento Sans" pitchFamily="34" charset="-122"/>
                <a:cs typeface="Quattrocento Sans" pitchFamily="34" charset="-120"/>
              </a:rPr>
              <a:t>All steps completed successfully</a:t>
            </a:r>
            <a:pPr algn="ctr">
              <a:lnSpc>
                <a:spcPct val="120000"/>
              </a:lnSpc>
            </a:pPr>
            <a:r>
              <a:rPr lang="en-US" sz="1600" dirty="0">
                <a:solidFill>
                  <a:srgbClr val="FFFFFF"/>
                </a:solidFill>
                <a:latin typeface="Quattrocento Sans" pitchFamily="34" charset="0"/>
                <a:ea typeface="Quattrocento Sans" pitchFamily="34" charset="-122"/>
                <a:cs typeface="Quattrocento Sans" pitchFamily="34" charset="-120"/>
              </a:rPr>
              <a:t> — the system is fully operational and ready for demonstration.</a:t>
            </a:r>
            <a:endParaRPr lang="en-US" sz="1600" dirty="0"/>
          </a:p>
        </p:txBody>
      </p:sp>
      <p:sp>
        <p:nvSpPr>
          <p:cNvPr id="43" name="Text 40"/>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15</a:t>
            </a:r>
            <a:endParaRPr lang="en-US" sz="1400" dirty="0"/>
          </a:p>
        </p:txBody>
      </p:sp>
    </p:spTree>
  </p:cSld>
  <p:clrMapOvr>
    <a:masterClrMapping/>
  </p:clrMapOvr>
  <p:transition>
    <p:fade/>
    <p:spd val="med"/>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5410200" y="457200"/>
            <a:ext cx="27051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STEPS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ADVANTAGES</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FUTURE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CONCLUSION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DEMO</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ADVANTAGES OF THE SYSTEM</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587500"/>
            <a:ext cx="4699000" cy="1651000"/>
          </a:xfrm>
          <a:prstGeom prst="roundRect">
            <a:avLst>
              <a:gd name="adj" fmla="val 8000"/>
            </a:avLst>
          </a:prstGeom>
          <a:solidFill>
            <a:srgbClr val="F0F4F8"/>
          </a:solidFill>
          <a:ln/>
        </p:spPr>
      </p:sp>
      <p:sp>
        <p:nvSpPr>
          <p:cNvPr id="9" name="Shape 6"/>
          <p:cNvSpPr/>
          <p:nvPr/>
        </p:nvSpPr>
        <p:spPr>
          <a:xfrm>
            <a:off x="1016000" y="1803400"/>
            <a:ext cx="457200" cy="457200"/>
          </a:xfrm>
          <a:custGeom>
            <a:avLst/>
            <a:gdLst/>
            <a:ahLst/>
            <a:cxnLst/>
            <a:rect l="l" t="t" r="r" b="b"/>
            <a:pathLst>
              <a:path w="457200" h="457200">
                <a:moveTo>
                  <a:pt x="268962" y="-20181"/>
                </a:moveTo>
                <a:cubicBezTo>
                  <a:pt x="246638" y="-31343"/>
                  <a:pt x="210383" y="-31343"/>
                  <a:pt x="188059" y="-20181"/>
                </a:cubicBezTo>
                <a:lnTo>
                  <a:pt x="16609" y="65544"/>
                </a:lnTo>
                <a:cubicBezTo>
                  <a:pt x="-5715" y="76706"/>
                  <a:pt x="-5715" y="94833"/>
                  <a:pt x="16609" y="105995"/>
                </a:cubicBezTo>
                <a:cubicBezTo>
                  <a:pt x="38933" y="117157"/>
                  <a:pt x="75188" y="117157"/>
                  <a:pt x="97512" y="105995"/>
                </a:cubicBezTo>
                <a:lnTo>
                  <a:pt x="171450" y="69026"/>
                </a:lnTo>
                <a:lnTo>
                  <a:pt x="171450" y="388174"/>
                </a:lnTo>
                <a:lnTo>
                  <a:pt x="97512" y="351294"/>
                </a:lnTo>
                <a:cubicBezTo>
                  <a:pt x="75188" y="340132"/>
                  <a:pt x="38933" y="340132"/>
                  <a:pt x="16609" y="351294"/>
                </a:cubicBezTo>
                <a:cubicBezTo>
                  <a:pt x="-5715" y="362456"/>
                  <a:pt x="-5715" y="380583"/>
                  <a:pt x="16609" y="391745"/>
                </a:cubicBezTo>
                <a:lnTo>
                  <a:pt x="188059" y="477470"/>
                </a:lnTo>
                <a:cubicBezTo>
                  <a:pt x="198775" y="482828"/>
                  <a:pt x="213241" y="485864"/>
                  <a:pt x="228421" y="485864"/>
                </a:cubicBezTo>
                <a:cubicBezTo>
                  <a:pt x="243602" y="485864"/>
                  <a:pt x="258068" y="482828"/>
                  <a:pt x="268784" y="477470"/>
                </a:cubicBezTo>
                <a:lnTo>
                  <a:pt x="440234" y="391745"/>
                </a:lnTo>
                <a:cubicBezTo>
                  <a:pt x="462558" y="380583"/>
                  <a:pt x="462558" y="362456"/>
                  <a:pt x="440234" y="351294"/>
                </a:cubicBezTo>
                <a:cubicBezTo>
                  <a:pt x="417909" y="340132"/>
                  <a:pt x="381655" y="340132"/>
                  <a:pt x="359331" y="351294"/>
                </a:cubicBezTo>
                <a:lnTo>
                  <a:pt x="285393" y="388263"/>
                </a:lnTo>
                <a:lnTo>
                  <a:pt x="285393" y="69026"/>
                </a:lnTo>
                <a:lnTo>
                  <a:pt x="359331" y="105995"/>
                </a:lnTo>
                <a:cubicBezTo>
                  <a:pt x="381655" y="117158"/>
                  <a:pt x="417909" y="117158"/>
                  <a:pt x="440234" y="105995"/>
                </a:cubicBezTo>
                <a:cubicBezTo>
                  <a:pt x="462558" y="94833"/>
                  <a:pt x="462558" y="76706"/>
                  <a:pt x="440234" y="65544"/>
                </a:cubicBezTo>
                <a:lnTo>
                  <a:pt x="268784" y="-20181"/>
                </a:lnTo>
                <a:close/>
              </a:path>
            </a:pathLst>
          </a:custGeom>
          <a:solidFill>
            <a:srgbClr val="FF9900"/>
          </a:solidFill>
          <a:ln/>
        </p:spPr>
      </p:sp>
      <p:sp>
        <p:nvSpPr>
          <p:cNvPr id="10" name="Text 7"/>
          <p:cNvSpPr/>
          <p:nvPr/>
        </p:nvSpPr>
        <p:spPr>
          <a:xfrm>
            <a:off x="1600200" y="1803400"/>
            <a:ext cx="3556000" cy="381000"/>
          </a:xfrm>
          <a:prstGeom prst="rect">
            <a:avLst/>
          </a:prstGeom>
          <a:noFill/>
          <a:ln/>
        </p:spPr>
        <p:txBody>
          <a:bodyPr wrap="none" lIns="0" tIns="0" rIns="0" bIns="0" rtlCol="0" anchor="ctr"/>
          <a:lstStyle/>
          <a:p>
            <a:pPr algn="l">
              <a:lnSpc>
                <a:spcPct val="120000"/>
              </a:lnSpc>
            </a:pPr>
            <a:r>
              <a:rPr lang="en-US" sz="1700" b="1" dirty="0">
                <a:solidFill>
                  <a:srgbClr val="232F3E"/>
                </a:solidFill>
                <a:latin typeface="Liter" pitchFamily="34" charset="0"/>
                <a:ea typeface="Liter" pitchFamily="34" charset="-122"/>
                <a:cs typeface="Liter" pitchFamily="34" charset="-120"/>
              </a:rPr>
              <a:t>Scalable</a:t>
            </a:r>
            <a:endParaRPr lang="en-US" sz="1700" dirty="0"/>
          </a:p>
        </p:txBody>
      </p:sp>
      <p:sp>
        <p:nvSpPr>
          <p:cNvPr id="11" name="Text 8"/>
          <p:cNvSpPr/>
          <p:nvPr/>
        </p:nvSpPr>
        <p:spPr>
          <a:xfrm>
            <a:off x="1016000" y="2286000"/>
            <a:ext cx="4191000" cy="762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Add more EC2 instances behind the load balancer as user demand grows.</a:t>
            </a:r>
            <a:endParaRPr lang="en-US" sz="1400" dirty="0"/>
          </a:p>
        </p:txBody>
      </p:sp>
      <p:sp>
        <p:nvSpPr>
          <p:cNvPr id="12" name="Shape 9"/>
          <p:cNvSpPr/>
          <p:nvPr/>
        </p:nvSpPr>
        <p:spPr>
          <a:xfrm>
            <a:off x="5715000" y="1587500"/>
            <a:ext cx="4699000" cy="1651000"/>
          </a:xfrm>
          <a:prstGeom prst="roundRect">
            <a:avLst>
              <a:gd name="adj" fmla="val 8000"/>
            </a:avLst>
          </a:prstGeom>
          <a:solidFill>
            <a:srgbClr val="F0F4F8"/>
          </a:solidFill>
          <a:ln/>
        </p:spPr>
      </p:sp>
      <p:sp>
        <p:nvSpPr>
          <p:cNvPr id="13" name="Shape 10"/>
          <p:cNvSpPr/>
          <p:nvPr/>
        </p:nvSpPr>
        <p:spPr>
          <a:xfrm>
            <a:off x="5969000" y="1803400"/>
            <a:ext cx="457200" cy="457200"/>
          </a:xfrm>
          <a:custGeom>
            <a:avLst/>
            <a:gdLst/>
            <a:ahLst/>
            <a:cxnLst/>
            <a:rect l="l" t="t" r="r" b="b"/>
            <a:pathLst>
              <a:path w="457200" h="457200">
                <a:moveTo>
                  <a:pt x="228600" y="0"/>
                </a:moveTo>
                <a:cubicBezTo>
                  <a:pt x="232708" y="0"/>
                  <a:pt x="236815" y="893"/>
                  <a:pt x="240566" y="2590"/>
                </a:cubicBezTo>
                <a:lnTo>
                  <a:pt x="408801" y="73938"/>
                </a:lnTo>
                <a:cubicBezTo>
                  <a:pt x="428446" y="82242"/>
                  <a:pt x="443091" y="101620"/>
                  <a:pt x="443002" y="125016"/>
                </a:cubicBezTo>
                <a:cubicBezTo>
                  <a:pt x="442555" y="213598"/>
                  <a:pt x="406122" y="375672"/>
                  <a:pt x="252264" y="449342"/>
                </a:cubicBezTo>
                <a:cubicBezTo>
                  <a:pt x="237351" y="456486"/>
                  <a:pt x="220028" y="456486"/>
                  <a:pt x="205115" y="449342"/>
                </a:cubicBezTo>
                <a:cubicBezTo>
                  <a:pt x="51167" y="375672"/>
                  <a:pt x="14823" y="213598"/>
                  <a:pt x="14377" y="125016"/>
                </a:cubicBezTo>
                <a:cubicBezTo>
                  <a:pt x="14287" y="101620"/>
                  <a:pt x="28932" y="82242"/>
                  <a:pt x="48577" y="73938"/>
                </a:cubicBezTo>
                <a:lnTo>
                  <a:pt x="216724" y="2590"/>
                </a:lnTo>
                <a:cubicBezTo>
                  <a:pt x="220474" y="893"/>
                  <a:pt x="224492" y="0"/>
                  <a:pt x="228600" y="0"/>
                </a:cubicBezTo>
                <a:close/>
                <a:moveTo>
                  <a:pt x="228600" y="59650"/>
                </a:moveTo>
                <a:lnTo>
                  <a:pt x="228600" y="397282"/>
                </a:lnTo>
                <a:cubicBezTo>
                  <a:pt x="351830" y="337631"/>
                  <a:pt x="384959" y="205472"/>
                  <a:pt x="385763" y="126355"/>
                </a:cubicBezTo>
                <a:lnTo>
                  <a:pt x="228600" y="59740"/>
                </a:lnTo>
                <a:lnTo>
                  <a:pt x="228600" y="59740"/>
                </a:lnTo>
                <a:close/>
              </a:path>
            </a:pathLst>
          </a:custGeom>
          <a:solidFill>
            <a:srgbClr val="FF9900"/>
          </a:solidFill>
          <a:ln/>
        </p:spPr>
      </p:sp>
      <p:sp>
        <p:nvSpPr>
          <p:cNvPr id="14" name="Text 11"/>
          <p:cNvSpPr/>
          <p:nvPr/>
        </p:nvSpPr>
        <p:spPr>
          <a:xfrm>
            <a:off x="6553200" y="1803400"/>
            <a:ext cx="3556000" cy="381000"/>
          </a:xfrm>
          <a:prstGeom prst="rect">
            <a:avLst/>
          </a:prstGeom>
          <a:noFill/>
          <a:ln/>
        </p:spPr>
        <p:txBody>
          <a:bodyPr wrap="none" lIns="0" tIns="0" rIns="0" bIns="0" rtlCol="0" anchor="ctr"/>
          <a:lstStyle/>
          <a:p>
            <a:pPr algn="l">
              <a:lnSpc>
                <a:spcPct val="120000"/>
              </a:lnSpc>
            </a:pPr>
            <a:r>
              <a:rPr lang="en-US" sz="1700" b="1" dirty="0">
                <a:solidFill>
                  <a:srgbClr val="232F3E"/>
                </a:solidFill>
                <a:latin typeface="Liter" pitchFamily="34" charset="0"/>
                <a:ea typeface="Liter" pitchFamily="34" charset="-122"/>
                <a:cs typeface="Liter" pitchFamily="34" charset="-120"/>
              </a:rPr>
              <a:t>Reliable</a:t>
            </a:r>
            <a:endParaRPr lang="en-US" sz="1700" dirty="0"/>
          </a:p>
        </p:txBody>
      </p:sp>
      <p:sp>
        <p:nvSpPr>
          <p:cNvPr id="15" name="Text 12"/>
          <p:cNvSpPr/>
          <p:nvPr/>
        </p:nvSpPr>
        <p:spPr>
          <a:xfrm>
            <a:off x="5969000" y="2286000"/>
            <a:ext cx="4191000" cy="762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Multi-instance deployment with automatic failover ensures continuous availability.</a:t>
            </a:r>
            <a:endParaRPr lang="en-US" sz="1400" dirty="0"/>
          </a:p>
        </p:txBody>
      </p:sp>
      <p:sp>
        <p:nvSpPr>
          <p:cNvPr id="16" name="Shape 13"/>
          <p:cNvSpPr/>
          <p:nvPr/>
        </p:nvSpPr>
        <p:spPr>
          <a:xfrm>
            <a:off x="10668000" y="1587500"/>
            <a:ext cx="4826000" cy="1651000"/>
          </a:xfrm>
          <a:prstGeom prst="roundRect">
            <a:avLst>
              <a:gd name="adj" fmla="val 8000"/>
            </a:avLst>
          </a:prstGeom>
          <a:solidFill>
            <a:srgbClr val="F0F4F8"/>
          </a:solidFill>
          <a:ln/>
        </p:spPr>
      </p:sp>
      <p:sp>
        <p:nvSpPr>
          <p:cNvPr id="17" name="Shape 14"/>
          <p:cNvSpPr/>
          <p:nvPr/>
        </p:nvSpPr>
        <p:spPr>
          <a:xfrm>
            <a:off x="10922000" y="1803400"/>
            <a:ext cx="457200" cy="457200"/>
          </a:xfrm>
          <a:custGeom>
            <a:avLst/>
            <a:gdLst/>
            <a:ahLst/>
            <a:cxnLst/>
            <a:rect l="l" t="t" r="r" b="b"/>
            <a:pathLst>
              <a:path w="457200" h="457200">
                <a:moveTo>
                  <a:pt x="345758" y="-8840"/>
                </a:moveTo>
                <a:cubicBezTo>
                  <a:pt x="357902" y="-1161"/>
                  <a:pt x="362392" y="12769"/>
                  <a:pt x="356881" y="24914"/>
                </a:cubicBezTo>
                <a:lnTo>
                  <a:pt x="276871" y="200025"/>
                </a:lnTo>
                <a:lnTo>
                  <a:pt x="424543" y="200025"/>
                </a:lnTo>
                <a:cubicBezTo>
                  <a:pt x="438320" y="200025"/>
                  <a:pt x="450567" y="207526"/>
                  <a:pt x="455261" y="218867"/>
                </a:cubicBezTo>
                <a:cubicBezTo>
                  <a:pt x="459955" y="230207"/>
                  <a:pt x="455975" y="242888"/>
                  <a:pt x="445464" y="250567"/>
                </a:cubicBezTo>
                <a:lnTo>
                  <a:pt x="151550" y="464880"/>
                </a:lnTo>
                <a:cubicBezTo>
                  <a:pt x="140018" y="473273"/>
                  <a:pt x="123587" y="473720"/>
                  <a:pt x="111443" y="466040"/>
                </a:cubicBezTo>
                <a:cubicBezTo>
                  <a:pt x="99298" y="458361"/>
                  <a:pt x="94808" y="444431"/>
                  <a:pt x="100319" y="432286"/>
                </a:cubicBezTo>
                <a:lnTo>
                  <a:pt x="180329" y="257175"/>
                </a:lnTo>
                <a:lnTo>
                  <a:pt x="32657" y="257175"/>
                </a:lnTo>
                <a:cubicBezTo>
                  <a:pt x="18880" y="257175"/>
                  <a:pt x="6633" y="249674"/>
                  <a:pt x="1939" y="238333"/>
                </a:cubicBezTo>
                <a:cubicBezTo>
                  <a:pt x="-2755" y="226993"/>
                  <a:pt x="1225" y="214312"/>
                  <a:pt x="11736" y="206633"/>
                </a:cubicBezTo>
                <a:lnTo>
                  <a:pt x="305650" y="-7680"/>
                </a:lnTo>
                <a:cubicBezTo>
                  <a:pt x="317183" y="-16073"/>
                  <a:pt x="333613" y="-16520"/>
                  <a:pt x="345758" y="-8840"/>
                </a:cubicBezTo>
                <a:close/>
              </a:path>
            </a:pathLst>
          </a:custGeom>
          <a:solidFill>
            <a:srgbClr val="FF9900"/>
          </a:solidFill>
          <a:ln/>
        </p:spPr>
      </p:sp>
      <p:sp>
        <p:nvSpPr>
          <p:cNvPr id="18" name="Text 15"/>
          <p:cNvSpPr/>
          <p:nvPr/>
        </p:nvSpPr>
        <p:spPr>
          <a:xfrm>
            <a:off x="11506200" y="1803400"/>
            <a:ext cx="3683000" cy="381000"/>
          </a:xfrm>
          <a:prstGeom prst="rect">
            <a:avLst/>
          </a:prstGeom>
          <a:noFill/>
          <a:ln/>
        </p:spPr>
        <p:txBody>
          <a:bodyPr wrap="none" lIns="0" tIns="0" rIns="0" bIns="0" rtlCol="0" anchor="ctr"/>
          <a:lstStyle/>
          <a:p>
            <a:pPr algn="l">
              <a:lnSpc>
                <a:spcPct val="120000"/>
              </a:lnSpc>
            </a:pPr>
            <a:r>
              <a:rPr lang="en-US" sz="1700" b="1" dirty="0">
                <a:solidFill>
                  <a:srgbClr val="232F3E"/>
                </a:solidFill>
                <a:latin typeface="Liter" pitchFamily="34" charset="0"/>
                <a:ea typeface="Liter" pitchFamily="34" charset="-122"/>
                <a:cs typeface="Liter" pitchFamily="34" charset="-120"/>
              </a:rPr>
              <a:t>High Availability</a:t>
            </a:r>
            <a:endParaRPr lang="en-US" sz="1700" dirty="0"/>
          </a:p>
        </p:txBody>
      </p:sp>
      <p:sp>
        <p:nvSpPr>
          <p:cNvPr id="19" name="Text 16"/>
          <p:cNvSpPr/>
          <p:nvPr/>
        </p:nvSpPr>
        <p:spPr>
          <a:xfrm>
            <a:off x="10922000" y="2286000"/>
            <a:ext cx="4318000" cy="762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If one server fails, the other continues serving users with zero downtime.</a:t>
            </a:r>
            <a:endParaRPr lang="en-US" sz="1400" dirty="0"/>
          </a:p>
        </p:txBody>
      </p:sp>
      <p:sp>
        <p:nvSpPr>
          <p:cNvPr id="20" name="Shape 17"/>
          <p:cNvSpPr/>
          <p:nvPr/>
        </p:nvSpPr>
        <p:spPr>
          <a:xfrm>
            <a:off x="762000" y="3492500"/>
            <a:ext cx="4699000" cy="1651000"/>
          </a:xfrm>
          <a:prstGeom prst="roundRect">
            <a:avLst>
              <a:gd name="adj" fmla="val 8000"/>
            </a:avLst>
          </a:prstGeom>
          <a:solidFill>
            <a:srgbClr val="F0F4F8"/>
          </a:solidFill>
          <a:ln/>
        </p:spPr>
      </p:sp>
      <p:sp>
        <p:nvSpPr>
          <p:cNvPr id="21" name="Shape 18"/>
          <p:cNvSpPr/>
          <p:nvPr/>
        </p:nvSpPr>
        <p:spPr>
          <a:xfrm>
            <a:off x="1016000" y="3708400"/>
            <a:ext cx="457200" cy="457200"/>
          </a:xfrm>
          <a:custGeom>
            <a:avLst/>
            <a:gdLst/>
            <a:ahLst/>
            <a:cxnLst/>
            <a:rect l="l" t="t" r="r" b="b"/>
            <a:pathLst>
              <a:path w="457200" h="457200">
                <a:moveTo>
                  <a:pt x="457200" y="183773"/>
                </a:moveTo>
                <a:cubicBezTo>
                  <a:pt x="442096" y="192524"/>
                  <a:pt x="424747" y="199579"/>
                  <a:pt x="406683" y="205204"/>
                </a:cubicBezTo>
                <a:cubicBezTo>
                  <a:pt x="358718" y="220206"/>
                  <a:pt x="295751" y="228600"/>
                  <a:pt x="228600" y="228600"/>
                </a:cubicBezTo>
                <a:cubicBezTo>
                  <a:pt x="161449" y="228600"/>
                  <a:pt x="98380" y="220117"/>
                  <a:pt x="50517" y="205204"/>
                </a:cubicBezTo>
                <a:cubicBezTo>
                  <a:pt x="32555" y="199579"/>
                  <a:pt x="15104" y="192524"/>
                  <a:pt x="0" y="183773"/>
                </a:cubicBezTo>
                <a:lnTo>
                  <a:pt x="0" y="257175"/>
                </a:lnTo>
                <a:cubicBezTo>
                  <a:pt x="0" y="296644"/>
                  <a:pt x="102360" y="328613"/>
                  <a:pt x="228600" y="328613"/>
                </a:cubicBezTo>
                <a:cubicBezTo>
                  <a:pt x="354840" y="328613"/>
                  <a:pt x="457200" y="296644"/>
                  <a:pt x="457200" y="257175"/>
                </a:cubicBezTo>
                <a:lnTo>
                  <a:pt x="457200" y="183773"/>
                </a:lnTo>
                <a:close/>
                <a:moveTo>
                  <a:pt x="457200" y="114300"/>
                </a:moveTo>
                <a:lnTo>
                  <a:pt x="457200" y="71438"/>
                </a:lnTo>
                <a:cubicBezTo>
                  <a:pt x="457200" y="31968"/>
                  <a:pt x="354840" y="0"/>
                  <a:pt x="228600" y="0"/>
                </a:cubicBezTo>
                <a:cubicBezTo>
                  <a:pt x="102360" y="0"/>
                  <a:pt x="0" y="31968"/>
                  <a:pt x="0" y="71438"/>
                </a:cubicBezTo>
                <a:lnTo>
                  <a:pt x="0" y="114300"/>
                </a:lnTo>
                <a:cubicBezTo>
                  <a:pt x="0" y="153769"/>
                  <a:pt x="102360" y="185738"/>
                  <a:pt x="228600" y="185738"/>
                </a:cubicBezTo>
                <a:cubicBezTo>
                  <a:pt x="354840" y="185738"/>
                  <a:pt x="457200" y="153769"/>
                  <a:pt x="457200" y="114300"/>
                </a:cubicBezTo>
                <a:close/>
                <a:moveTo>
                  <a:pt x="406683" y="348079"/>
                </a:moveTo>
                <a:cubicBezTo>
                  <a:pt x="358820" y="362992"/>
                  <a:pt x="295853" y="371475"/>
                  <a:pt x="228600" y="371475"/>
                </a:cubicBezTo>
                <a:cubicBezTo>
                  <a:pt x="161347" y="371475"/>
                  <a:pt x="98380" y="362992"/>
                  <a:pt x="50517" y="348079"/>
                </a:cubicBezTo>
                <a:cubicBezTo>
                  <a:pt x="32555" y="342454"/>
                  <a:pt x="15104" y="335399"/>
                  <a:pt x="0" y="326648"/>
                </a:cubicBezTo>
                <a:lnTo>
                  <a:pt x="0" y="385763"/>
                </a:lnTo>
                <a:cubicBezTo>
                  <a:pt x="0" y="425232"/>
                  <a:pt x="102360" y="457200"/>
                  <a:pt x="228600" y="457200"/>
                </a:cubicBezTo>
                <a:cubicBezTo>
                  <a:pt x="354840" y="457200"/>
                  <a:pt x="457200" y="425232"/>
                  <a:pt x="457200" y="385763"/>
                </a:cubicBezTo>
                <a:lnTo>
                  <a:pt x="457200" y="326648"/>
                </a:lnTo>
                <a:cubicBezTo>
                  <a:pt x="442096" y="335399"/>
                  <a:pt x="424747" y="342454"/>
                  <a:pt x="406683" y="348079"/>
                </a:cubicBezTo>
                <a:close/>
              </a:path>
            </a:pathLst>
          </a:custGeom>
          <a:solidFill>
            <a:srgbClr val="4A6FA5"/>
          </a:solidFill>
          <a:ln/>
        </p:spPr>
      </p:sp>
      <p:sp>
        <p:nvSpPr>
          <p:cNvPr id="22" name="Text 19"/>
          <p:cNvSpPr/>
          <p:nvPr/>
        </p:nvSpPr>
        <p:spPr>
          <a:xfrm>
            <a:off x="1600200" y="3708400"/>
            <a:ext cx="3556000" cy="381000"/>
          </a:xfrm>
          <a:prstGeom prst="rect">
            <a:avLst/>
          </a:prstGeom>
          <a:noFill/>
          <a:ln/>
        </p:spPr>
        <p:txBody>
          <a:bodyPr wrap="none" lIns="0" tIns="0" rIns="0" bIns="0" rtlCol="0" anchor="ctr"/>
          <a:lstStyle/>
          <a:p>
            <a:pPr algn="l">
              <a:lnSpc>
                <a:spcPct val="120000"/>
              </a:lnSpc>
            </a:pPr>
            <a:r>
              <a:rPr lang="en-US" sz="1700" b="1" dirty="0">
                <a:solidFill>
                  <a:srgbClr val="232F3E"/>
                </a:solidFill>
                <a:latin typeface="Liter" pitchFamily="34" charset="0"/>
                <a:ea typeface="Liter" pitchFamily="34" charset="-122"/>
                <a:cs typeface="Liter" pitchFamily="34" charset="-120"/>
              </a:rPr>
              <a:t>Centralized Database</a:t>
            </a:r>
            <a:endParaRPr lang="en-US" sz="1700" dirty="0"/>
          </a:p>
        </p:txBody>
      </p:sp>
      <p:sp>
        <p:nvSpPr>
          <p:cNvPr id="23" name="Text 20"/>
          <p:cNvSpPr/>
          <p:nvPr/>
        </p:nvSpPr>
        <p:spPr>
          <a:xfrm>
            <a:off x="1016000" y="4191000"/>
            <a:ext cx="4191000" cy="762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All users access the same data regardless of which server handles their request.</a:t>
            </a:r>
            <a:endParaRPr lang="en-US" sz="1400" dirty="0"/>
          </a:p>
        </p:txBody>
      </p:sp>
      <p:sp>
        <p:nvSpPr>
          <p:cNvPr id="24" name="Shape 21"/>
          <p:cNvSpPr/>
          <p:nvPr/>
        </p:nvSpPr>
        <p:spPr>
          <a:xfrm>
            <a:off x="5715000" y="3492500"/>
            <a:ext cx="4699000" cy="1651000"/>
          </a:xfrm>
          <a:prstGeom prst="roundRect">
            <a:avLst>
              <a:gd name="adj" fmla="val 8000"/>
            </a:avLst>
          </a:prstGeom>
          <a:solidFill>
            <a:srgbClr val="F0F4F8"/>
          </a:solidFill>
          <a:ln/>
        </p:spPr>
      </p:sp>
      <p:sp>
        <p:nvSpPr>
          <p:cNvPr id="25" name="Shape 22"/>
          <p:cNvSpPr/>
          <p:nvPr/>
        </p:nvSpPr>
        <p:spPr>
          <a:xfrm>
            <a:off x="5969000" y="3708400"/>
            <a:ext cx="457200" cy="457200"/>
          </a:xfrm>
          <a:custGeom>
            <a:avLst/>
            <a:gdLst/>
            <a:ahLst/>
            <a:cxnLst/>
            <a:rect l="l" t="t" r="r" b="b"/>
            <a:pathLst>
              <a:path w="457200" h="457200">
                <a:moveTo>
                  <a:pt x="57150" y="57150"/>
                </a:moveTo>
                <a:cubicBezTo>
                  <a:pt x="57150" y="41344"/>
                  <a:pt x="44381" y="28575"/>
                  <a:pt x="28575" y="28575"/>
                </a:cubicBezTo>
                <a:cubicBezTo>
                  <a:pt x="12769" y="28575"/>
                  <a:pt x="0" y="41344"/>
                  <a:pt x="0" y="57150"/>
                </a:cubicBezTo>
                <a:lnTo>
                  <a:pt x="0" y="357188"/>
                </a:lnTo>
                <a:cubicBezTo>
                  <a:pt x="0" y="396657"/>
                  <a:pt x="31968" y="428625"/>
                  <a:pt x="71438" y="428625"/>
                </a:cubicBezTo>
                <a:lnTo>
                  <a:pt x="428625" y="428625"/>
                </a:lnTo>
                <a:cubicBezTo>
                  <a:pt x="444431" y="428625"/>
                  <a:pt x="457200" y="415856"/>
                  <a:pt x="457200" y="400050"/>
                </a:cubicBezTo>
                <a:cubicBezTo>
                  <a:pt x="457200" y="384244"/>
                  <a:pt x="444431" y="371475"/>
                  <a:pt x="428625" y="371475"/>
                </a:cubicBezTo>
                <a:lnTo>
                  <a:pt x="71438" y="371475"/>
                </a:lnTo>
                <a:cubicBezTo>
                  <a:pt x="63579" y="371475"/>
                  <a:pt x="57150" y="365046"/>
                  <a:pt x="57150" y="357188"/>
                </a:cubicBezTo>
                <a:lnTo>
                  <a:pt x="57150" y="57150"/>
                </a:lnTo>
                <a:close/>
                <a:moveTo>
                  <a:pt x="420231" y="134481"/>
                </a:moveTo>
                <a:cubicBezTo>
                  <a:pt x="431393" y="123319"/>
                  <a:pt x="431393" y="105192"/>
                  <a:pt x="420231" y="94030"/>
                </a:cubicBezTo>
                <a:cubicBezTo>
                  <a:pt x="409069" y="82867"/>
                  <a:pt x="390942" y="82867"/>
                  <a:pt x="379780" y="94030"/>
                </a:cubicBezTo>
                <a:lnTo>
                  <a:pt x="285750" y="188149"/>
                </a:lnTo>
                <a:lnTo>
                  <a:pt x="234494" y="136981"/>
                </a:lnTo>
                <a:cubicBezTo>
                  <a:pt x="223331" y="125819"/>
                  <a:pt x="205204" y="125819"/>
                  <a:pt x="194042" y="136981"/>
                </a:cubicBezTo>
                <a:lnTo>
                  <a:pt x="108317" y="222706"/>
                </a:lnTo>
                <a:cubicBezTo>
                  <a:pt x="97155" y="233869"/>
                  <a:pt x="97155" y="251996"/>
                  <a:pt x="108317" y="263158"/>
                </a:cubicBezTo>
                <a:cubicBezTo>
                  <a:pt x="119479" y="274320"/>
                  <a:pt x="137606" y="274320"/>
                  <a:pt x="148769" y="263158"/>
                </a:cubicBezTo>
                <a:lnTo>
                  <a:pt x="214313" y="197614"/>
                </a:lnTo>
                <a:lnTo>
                  <a:pt x="265569" y="248870"/>
                </a:lnTo>
                <a:cubicBezTo>
                  <a:pt x="276731" y="260033"/>
                  <a:pt x="294858" y="260033"/>
                  <a:pt x="306020" y="248870"/>
                </a:cubicBezTo>
                <a:lnTo>
                  <a:pt x="420320" y="134570"/>
                </a:lnTo>
                <a:close/>
              </a:path>
            </a:pathLst>
          </a:custGeom>
          <a:solidFill>
            <a:srgbClr val="4A6FA5"/>
          </a:solidFill>
          <a:ln/>
        </p:spPr>
      </p:sp>
      <p:sp>
        <p:nvSpPr>
          <p:cNvPr id="26" name="Text 23"/>
          <p:cNvSpPr/>
          <p:nvPr/>
        </p:nvSpPr>
        <p:spPr>
          <a:xfrm>
            <a:off x="6553200" y="3708400"/>
            <a:ext cx="3556000" cy="381000"/>
          </a:xfrm>
          <a:prstGeom prst="rect">
            <a:avLst/>
          </a:prstGeom>
          <a:noFill/>
          <a:ln/>
        </p:spPr>
        <p:txBody>
          <a:bodyPr wrap="none" lIns="0" tIns="0" rIns="0" bIns="0" rtlCol="0" anchor="ctr"/>
          <a:lstStyle/>
          <a:p>
            <a:pPr algn="l">
              <a:lnSpc>
                <a:spcPct val="120000"/>
              </a:lnSpc>
            </a:pPr>
            <a:r>
              <a:rPr lang="en-US" sz="1700" b="1" dirty="0">
                <a:solidFill>
                  <a:srgbClr val="232F3E"/>
                </a:solidFill>
                <a:latin typeface="Liter" pitchFamily="34" charset="0"/>
                <a:ea typeface="Liter" pitchFamily="34" charset="-122"/>
                <a:cs typeface="Liter" pitchFamily="34" charset="-120"/>
              </a:rPr>
              <a:t>Easy Monitoring</a:t>
            </a:r>
            <a:endParaRPr lang="en-US" sz="1700" dirty="0"/>
          </a:p>
        </p:txBody>
      </p:sp>
      <p:sp>
        <p:nvSpPr>
          <p:cNvPr id="27" name="Text 24"/>
          <p:cNvSpPr/>
          <p:nvPr/>
        </p:nvSpPr>
        <p:spPr>
          <a:xfrm>
            <a:off x="5969000" y="4191000"/>
            <a:ext cx="4191000" cy="762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CloudWatch provides real-time visibility into system performance and health.</a:t>
            </a:r>
            <a:endParaRPr lang="en-US" sz="1400" dirty="0"/>
          </a:p>
        </p:txBody>
      </p:sp>
      <p:sp>
        <p:nvSpPr>
          <p:cNvPr id="28" name="Shape 25"/>
          <p:cNvSpPr/>
          <p:nvPr/>
        </p:nvSpPr>
        <p:spPr>
          <a:xfrm>
            <a:off x="10668000" y="3492500"/>
            <a:ext cx="4826000" cy="1651000"/>
          </a:xfrm>
          <a:prstGeom prst="roundRect">
            <a:avLst>
              <a:gd name="adj" fmla="val 8000"/>
            </a:avLst>
          </a:prstGeom>
          <a:solidFill>
            <a:srgbClr val="F0F4F8"/>
          </a:solidFill>
          <a:ln/>
        </p:spPr>
      </p:sp>
      <p:sp>
        <p:nvSpPr>
          <p:cNvPr id="29" name="Shape 26"/>
          <p:cNvSpPr/>
          <p:nvPr/>
        </p:nvSpPr>
        <p:spPr>
          <a:xfrm>
            <a:off x="10922000" y="3708400"/>
            <a:ext cx="457200" cy="457200"/>
          </a:xfrm>
          <a:custGeom>
            <a:avLst/>
            <a:gdLst/>
            <a:ahLst/>
            <a:cxnLst/>
            <a:rect l="l" t="t" r="r" b="b"/>
            <a:pathLst>
              <a:path w="457200" h="457200">
                <a:moveTo>
                  <a:pt x="0" y="300038"/>
                </a:moveTo>
                <a:cubicBezTo>
                  <a:pt x="0" y="371029"/>
                  <a:pt x="51197" y="428625"/>
                  <a:pt x="114300" y="428625"/>
                </a:cubicBezTo>
                <a:lnTo>
                  <a:pt x="355600" y="428625"/>
                </a:lnTo>
                <a:cubicBezTo>
                  <a:pt x="411718" y="428625"/>
                  <a:pt x="457200" y="377458"/>
                  <a:pt x="457200" y="314325"/>
                </a:cubicBezTo>
                <a:cubicBezTo>
                  <a:pt x="457200" y="268248"/>
                  <a:pt x="432991" y="228511"/>
                  <a:pt x="398066" y="210473"/>
                </a:cubicBezTo>
                <a:cubicBezTo>
                  <a:pt x="403384" y="198775"/>
                  <a:pt x="406400" y="185470"/>
                  <a:pt x="406400" y="171450"/>
                </a:cubicBezTo>
                <a:cubicBezTo>
                  <a:pt x="406400" y="124123"/>
                  <a:pt x="372269" y="85725"/>
                  <a:pt x="330200" y="85725"/>
                </a:cubicBezTo>
                <a:cubicBezTo>
                  <a:pt x="316151" y="85725"/>
                  <a:pt x="303054" y="90011"/>
                  <a:pt x="291783" y="97423"/>
                </a:cubicBezTo>
                <a:cubicBezTo>
                  <a:pt x="272653" y="56525"/>
                  <a:pt x="234474" y="28575"/>
                  <a:pt x="190500" y="28575"/>
                </a:cubicBezTo>
                <a:cubicBezTo>
                  <a:pt x="127397" y="28575"/>
                  <a:pt x="76200" y="86171"/>
                  <a:pt x="76200" y="157163"/>
                </a:cubicBezTo>
                <a:cubicBezTo>
                  <a:pt x="76200" y="164306"/>
                  <a:pt x="76756" y="171361"/>
                  <a:pt x="77708" y="178147"/>
                </a:cubicBezTo>
                <a:cubicBezTo>
                  <a:pt x="32544" y="195292"/>
                  <a:pt x="0" y="243423"/>
                  <a:pt x="0" y="300038"/>
                </a:cubicBezTo>
                <a:close/>
              </a:path>
            </a:pathLst>
          </a:custGeom>
          <a:solidFill>
            <a:srgbClr val="4A6FA5"/>
          </a:solidFill>
          <a:ln/>
        </p:spPr>
      </p:sp>
      <p:sp>
        <p:nvSpPr>
          <p:cNvPr id="30" name="Text 27"/>
          <p:cNvSpPr/>
          <p:nvPr/>
        </p:nvSpPr>
        <p:spPr>
          <a:xfrm>
            <a:off x="11506200" y="3708400"/>
            <a:ext cx="3683000" cy="381000"/>
          </a:xfrm>
          <a:prstGeom prst="rect">
            <a:avLst/>
          </a:prstGeom>
          <a:noFill/>
          <a:ln/>
        </p:spPr>
        <p:txBody>
          <a:bodyPr wrap="none" lIns="0" tIns="0" rIns="0" bIns="0" rtlCol="0" anchor="ctr"/>
          <a:lstStyle/>
          <a:p>
            <a:pPr algn="l">
              <a:lnSpc>
                <a:spcPct val="120000"/>
              </a:lnSpc>
            </a:pPr>
            <a:r>
              <a:rPr lang="en-US" sz="1700" b="1" dirty="0">
                <a:solidFill>
                  <a:srgbClr val="232F3E"/>
                </a:solidFill>
                <a:latin typeface="Liter" pitchFamily="34" charset="0"/>
                <a:ea typeface="Liter" pitchFamily="34" charset="-122"/>
                <a:cs typeface="Liter" pitchFamily="34" charset="-120"/>
              </a:rPr>
              <a:t>Cloud-Based</a:t>
            </a:r>
            <a:endParaRPr lang="en-US" sz="1700" dirty="0"/>
          </a:p>
        </p:txBody>
      </p:sp>
      <p:sp>
        <p:nvSpPr>
          <p:cNvPr id="31" name="Text 28"/>
          <p:cNvSpPr/>
          <p:nvPr/>
        </p:nvSpPr>
        <p:spPr>
          <a:xfrm>
            <a:off x="10922000" y="4191000"/>
            <a:ext cx="4318000" cy="762000"/>
          </a:xfrm>
          <a:prstGeom prst="rect">
            <a:avLst/>
          </a:prstGeom>
          <a:noFill/>
          <a:ln/>
        </p:spPr>
        <p:txBody>
          <a:bodyPr wrap="square" lIns="0" tIns="0" rIns="0" bIns="0" rtlCol="0" anchor="t"/>
          <a:lstStyle/>
          <a:p>
            <a:pPr algn="l">
              <a:lnSpc>
                <a:spcPct val="150000"/>
              </a:lnSpc>
            </a:pPr>
            <a:r>
              <a:rPr lang="en-US" sz="1400" dirty="0">
                <a:solidFill>
                  <a:srgbClr val="232F3E"/>
                </a:solidFill>
                <a:latin typeface="Quattrocento Sans" pitchFamily="34" charset="0"/>
                <a:ea typeface="Quattrocento Sans" pitchFamily="34" charset="-122"/>
                <a:cs typeface="Quattrocento Sans" pitchFamily="34" charset="-120"/>
              </a:rPr>
              <a:t>No local infrastructure needed. Accessible from anywhere with internet connection.</a:t>
            </a:r>
            <a:endParaRPr lang="en-US" sz="1400" dirty="0"/>
          </a:p>
        </p:txBody>
      </p:sp>
      <p:sp>
        <p:nvSpPr>
          <p:cNvPr id="32" name="Shape 29"/>
          <p:cNvSpPr/>
          <p:nvPr/>
        </p:nvSpPr>
        <p:spPr>
          <a:xfrm>
            <a:off x="762000" y="5461000"/>
            <a:ext cx="14732000" cy="2921000"/>
          </a:xfrm>
          <a:prstGeom prst="roundRect">
            <a:avLst>
              <a:gd name="adj" fmla="val 4000"/>
            </a:avLst>
          </a:prstGeom>
          <a:solidFill>
            <a:srgbClr val="232F3E"/>
          </a:solidFill>
          <a:ln/>
        </p:spPr>
      </p:sp>
      <p:sp>
        <p:nvSpPr>
          <p:cNvPr id="33" name="Shape 30"/>
          <p:cNvSpPr/>
          <p:nvPr/>
        </p:nvSpPr>
        <p:spPr>
          <a:xfrm>
            <a:off x="1270000" y="5842000"/>
            <a:ext cx="635000" cy="635000"/>
          </a:xfrm>
          <a:custGeom>
            <a:avLst/>
            <a:gdLst/>
            <a:ahLst/>
            <a:cxnLst/>
            <a:rect l="l" t="t" r="r" b="b"/>
            <a:pathLst>
              <a:path w="635000" h="635000">
                <a:moveTo>
                  <a:pt x="317500" y="-39687"/>
                </a:moveTo>
                <a:cubicBezTo>
                  <a:pt x="375911" y="-39687"/>
                  <a:pt x="423333" y="13663"/>
                  <a:pt x="423333" y="79375"/>
                </a:cubicBezTo>
                <a:cubicBezTo>
                  <a:pt x="423333" y="145087"/>
                  <a:pt x="375911" y="198438"/>
                  <a:pt x="317500" y="198438"/>
                </a:cubicBezTo>
                <a:cubicBezTo>
                  <a:pt x="259089" y="198438"/>
                  <a:pt x="211667" y="145087"/>
                  <a:pt x="211667" y="79375"/>
                </a:cubicBezTo>
                <a:cubicBezTo>
                  <a:pt x="211667" y="13663"/>
                  <a:pt x="259089" y="-39687"/>
                  <a:pt x="317500" y="-39687"/>
                </a:cubicBezTo>
                <a:close/>
                <a:moveTo>
                  <a:pt x="52917" y="377031"/>
                </a:moveTo>
                <a:cubicBezTo>
                  <a:pt x="52917" y="290091"/>
                  <a:pt x="104731" y="214064"/>
                  <a:pt x="182011" y="172517"/>
                </a:cubicBezTo>
                <a:cubicBezTo>
                  <a:pt x="209903" y="223738"/>
                  <a:pt x="260174" y="257969"/>
                  <a:pt x="317500" y="257969"/>
                </a:cubicBezTo>
                <a:cubicBezTo>
                  <a:pt x="378905" y="257969"/>
                  <a:pt x="432263" y="218653"/>
                  <a:pt x="458611" y="161230"/>
                </a:cubicBezTo>
                <a:cubicBezTo>
                  <a:pt x="476030" y="147216"/>
                  <a:pt x="497306" y="138906"/>
                  <a:pt x="520347" y="138906"/>
                </a:cubicBezTo>
                <a:lnTo>
                  <a:pt x="541845" y="138906"/>
                </a:lnTo>
                <a:cubicBezTo>
                  <a:pt x="553310" y="138906"/>
                  <a:pt x="561688" y="151061"/>
                  <a:pt x="558932" y="163587"/>
                </a:cubicBezTo>
                <a:lnTo>
                  <a:pt x="540081" y="248295"/>
                </a:lnTo>
                <a:cubicBezTo>
                  <a:pt x="550995" y="263674"/>
                  <a:pt x="560145" y="280169"/>
                  <a:pt x="566980" y="297656"/>
                </a:cubicBezTo>
                <a:lnTo>
                  <a:pt x="590903" y="297656"/>
                </a:lnTo>
                <a:cubicBezTo>
                  <a:pt x="605565" y="297656"/>
                  <a:pt x="617361" y="310927"/>
                  <a:pt x="617361" y="327422"/>
                </a:cubicBezTo>
                <a:lnTo>
                  <a:pt x="617361" y="466328"/>
                </a:lnTo>
                <a:cubicBezTo>
                  <a:pt x="617361" y="482823"/>
                  <a:pt x="605565" y="496094"/>
                  <a:pt x="590903" y="496094"/>
                </a:cubicBezTo>
                <a:lnTo>
                  <a:pt x="546806" y="496094"/>
                </a:lnTo>
                <a:cubicBezTo>
                  <a:pt x="528615" y="523379"/>
                  <a:pt x="504362" y="545207"/>
                  <a:pt x="476250" y="558974"/>
                </a:cubicBezTo>
                <a:lnTo>
                  <a:pt x="476250" y="595313"/>
                </a:lnTo>
                <a:cubicBezTo>
                  <a:pt x="476250" y="617265"/>
                  <a:pt x="460485" y="635000"/>
                  <a:pt x="440972" y="635000"/>
                </a:cubicBezTo>
                <a:lnTo>
                  <a:pt x="404592" y="635000"/>
                </a:lnTo>
                <a:cubicBezTo>
                  <a:pt x="388827" y="635000"/>
                  <a:pt x="375047" y="623218"/>
                  <a:pt x="370637" y="606227"/>
                </a:cubicBezTo>
                <a:lnTo>
                  <a:pt x="362810" y="575469"/>
                </a:lnTo>
                <a:lnTo>
                  <a:pt x="272080" y="575469"/>
                </a:lnTo>
                <a:lnTo>
                  <a:pt x="264253" y="606227"/>
                </a:lnTo>
                <a:cubicBezTo>
                  <a:pt x="259953" y="623218"/>
                  <a:pt x="246173" y="635000"/>
                  <a:pt x="230408" y="635000"/>
                </a:cubicBezTo>
                <a:lnTo>
                  <a:pt x="194028" y="635000"/>
                </a:lnTo>
                <a:cubicBezTo>
                  <a:pt x="174515" y="635000"/>
                  <a:pt x="158750" y="617265"/>
                  <a:pt x="158750" y="595313"/>
                </a:cubicBezTo>
                <a:lnTo>
                  <a:pt x="158750" y="558974"/>
                </a:lnTo>
                <a:cubicBezTo>
                  <a:pt x="96463" y="528340"/>
                  <a:pt x="52917" y="458391"/>
                  <a:pt x="52917" y="377031"/>
                </a:cubicBezTo>
                <a:close/>
                <a:moveTo>
                  <a:pt x="467431" y="396875"/>
                </a:moveTo>
                <a:cubicBezTo>
                  <a:pt x="482033" y="396875"/>
                  <a:pt x="493889" y="383537"/>
                  <a:pt x="493889" y="367109"/>
                </a:cubicBezTo>
                <a:cubicBezTo>
                  <a:pt x="493889" y="350681"/>
                  <a:pt x="482033" y="337344"/>
                  <a:pt x="467431" y="337344"/>
                </a:cubicBezTo>
                <a:cubicBezTo>
                  <a:pt x="452828" y="337344"/>
                  <a:pt x="440972" y="350681"/>
                  <a:pt x="440972" y="367109"/>
                </a:cubicBezTo>
                <a:cubicBezTo>
                  <a:pt x="440972" y="383537"/>
                  <a:pt x="452828" y="396875"/>
                  <a:pt x="467431" y="396875"/>
                </a:cubicBezTo>
                <a:close/>
              </a:path>
            </a:pathLst>
          </a:custGeom>
          <a:solidFill>
            <a:srgbClr val="FF9900"/>
          </a:solidFill>
          <a:ln/>
        </p:spPr>
      </p:sp>
      <p:sp>
        <p:nvSpPr>
          <p:cNvPr id="34" name="Text 31"/>
          <p:cNvSpPr/>
          <p:nvPr/>
        </p:nvSpPr>
        <p:spPr>
          <a:xfrm>
            <a:off x="2159000" y="5778500"/>
            <a:ext cx="5080000" cy="444500"/>
          </a:xfrm>
          <a:prstGeom prst="rect">
            <a:avLst/>
          </a:prstGeom>
          <a:noFill/>
          <a:ln/>
        </p:spPr>
        <p:txBody>
          <a:bodyPr wrap="none" lIns="0" tIns="0" rIns="0" bIns="0" rtlCol="0" anchor="ctr"/>
          <a:lstStyle/>
          <a:p>
            <a:pPr algn="l">
              <a:lnSpc>
                <a:spcPct val="120000"/>
              </a:lnSpc>
            </a:pPr>
            <a:r>
              <a:rPr lang="en-US" sz="2200" b="1" dirty="0">
                <a:solidFill>
                  <a:srgbClr val="FFFFFF"/>
                </a:solidFill>
                <a:latin typeface="Liter" pitchFamily="34" charset="0"/>
                <a:ea typeface="Liter" pitchFamily="34" charset="-122"/>
                <a:cs typeface="Liter" pitchFamily="34" charset="-120"/>
              </a:rPr>
              <a:t>Cost-Effective with AWS Free Tier</a:t>
            </a:r>
            <a:endParaRPr lang="en-US" sz="2200" dirty="0"/>
          </a:p>
        </p:txBody>
      </p:sp>
      <p:sp>
        <p:nvSpPr>
          <p:cNvPr id="35" name="Text 32"/>
          <p:cNvSpPr/>
          <p:nvPr/>
        </p:nvSpPr>
        <p:spPr>
          <a:xfrm>
            <a:off x="1270000" y="6477000"/>
            <a:ext cx="13716000" cy="1587500"/>
          </a:xfrm>
          <a:prstGeom prst="rect">
            <a:avLst/>
          </a:prstGeom>
          <a:noFill/>
          <a:ln/>
        </p:spPr>
        <p:txBody>
          <a:bodyPr wrap="square" lIns="0" tIns="0" rIns="0" bIns="0" rtlCol="0" anchor="t"/>
          <a:lstStyle/>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EC2 t2.micro:</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750 hours/month free per instance</a:t>
            </a:r>
            <a:endParaRPr lang="en-US" sz="1500" dirty="0"/>
          </a:p>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RDS db.t3.micro:</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750 hours/month free</a:t>
            </a:r>
            <a:endParaRPr lang="en-US" sz="1500" dirty="0"/>
          </a:p>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ALB, CloudWatch, SNS:</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Generous free tier allowances</a:t>
            </a:r>
            <a:endParaRPr lang="en-US" sz="1500" dirty="0"/>
          </a:p>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a:t>
            </a:r>
            <a:pPr algn="l">
              <a:lnSpc>
                <a:spcPct val="160000"/>
              </a:lnSpc>
            </a:pPr>
            <a:r>
              <a:rPr lang="en-US" sz="1500" b="1" dirty="0">
                <a:solidFill>
                  <a:srgbClr val="FFFFFF"/>
                </a:solidFill>
                <a:latin typeface="Quattrocento Sans" pitchFamily="34" charset="0"/>
                <a:ea typeface="Quattrocento Sans" pitchFamily="34" charset="-122"/>
                <a:cs typeface="Quattrocento Sans" pitchFamily="34" charset="-120"/>
              </a:rPr>
              <a:t>Total estimated cost:</a:t>
            </a:r>
            <a:pPr algn="l">
              <a:lnSpc>
                <a:spcPct val="160000"/>
              </a:lnSpc>
            </a:pPr>
            <a:r>
              <a:rPr lang="en-US" sz="1500" dirty="0">
                <a:solidFill>
                  <a:srgbClr val="FFFFFF"/>
                </a:solidFill>
                <a:latin typeface="Quattrocento Sans" pitchFamily="34" charset="0"/>
                <a:ea typeface="Quattrocento Sans" pitchFamily="34" charset="-122"/>
                <a:cs typeface="Quattrocento Sans" pitchFamily="34" charset="-120"/>
              </a:rPr>
              <a:t> $0-5/month for educational use within free tier limits</a:t>
            </a:r>
            <a:endParaRPr lang="en-US" sz="1500" dirty="0"/>
          </a:p>
        </p:txBody>
      </p:sp>
      <p:sp>
        <p:nvSpPr>
          <p:cNvPr id="36" name="Text 33"/>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16</a:t>
            </a:r>
            <a:endParaRPr lang="en-US" sz="1400" dirty="0"/>
          </a:p>
        </p:txBody>
      </p:sp>
    </p:spTree>
  </p:cSld>
  <p:clrMapOvr>
    <a:masterClrMapping/>
  </p:clrMapOvr>
  <p:transition>
    <p:fade/>
    <p:spd val="med"/>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8115300" y="457200"/>
            <a:ext cx="20320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ADVANTAGES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FUTURE</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CONCLUSION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DEMO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THANK YOU</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FUTURE ENHANCEMENTS</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587500"/>
            <a:ext cx="3429000" cy="1651000"/>
          </a:xfrm>
          <a:prstGeom prst="roundRect">
            <a:avLst>
              <a:gd name="adj" fmla="val 8000"/>
            </a:avLst>
          </a:prstGeom>
          <a:solidFill>
            <a:srgbClr val="F0F4F8"/>
          </a:solidFill>
          <a:ln/>
        </p:spPr>
      </p:sp>
      <p:sp>
        <p:nvSpPr>
          <p:cNvPr id="9" name="Shape 6"/>
          <p:cNvSpPr/>
          <p:nvPr/>
        </p:nvSpPr>
        <p:spPr>
          <a:xfrm>
            <a:off x="1016000" y="1778000"/>
            <a:ext cx="381000" cy="381000"/>
          </a:xfrm>
          <a:custGeom>
            <a:avLst/>
            <a:gdLst/>
            <a:ahLst/>
            <a:cxnLst/>
            <a:rect l="l" t="t" r="r" b="b"/>
            <a:pathLst>
              <a:path w="381000" h="381000">
                <a:moveTo>
                  <a:pt x="148167" y="5953"/>
                </a:moveTo>
                <a:cubicBezTo>
                  <a:pt x="191975" y="5953"/>
                  <a:pt x="227542" y="45966"/>
                  <a:pt x="227542" y="95250"/>
                </a:cubicBezTo>
                <a:cubicBezTo>
                  <a:pt x="227542" y="144534"/>
                  <a:pt x="191975" y="184547"/>
                  <a:pt x="148167" y="184547"/>
                </a:cubicBezTo>
                <a:cubicBezTo>
                  <a:pt x="104358" y="184547"/>
                  <a:pt x="68792" y="144534"/>
                  <a:pt x="68792" y="95250"/>
                </a:cubicBezTo>
                <a:cubicBezTo>
                  <a:pt x="68792" y="45966"/>
                  <a:pt x="104358" y="5953"/>
                  <a:pt x="148167" y="5953"/>
                </a:cubicBezTo>
                <a:close/>
                <a:moveTo>
                  <a:pt x="128521" y="226219"/>
                </a:moveTo>
                <a:lnTo>
                  <a:pt x="167812" y="226219"/>
                </a:lnTo>
                <a:cubicBezTo>
                  <a:pt x="187457" y="226219"/>
                  <a:pt x="205978" y="231651"/>
                  <a:pt x="222250" y="241176"/>
                </a:cubicBezTo>
                <a:lnTo>
                  <a:pt x="222250" y="244376"/>
                </a:lnTo>
                <a:cubicBezTo>
                  <a:pt x="209285" y="257473"/>
                  <a:pt x="201083" y="276448"/>
                  <a:pt x="201083" y="297582"/>
                </a:cubicBezTo>
                <a:lnTo>
                  <a:pt x="201083" y="369019"/>
                </a:lnTo>
                <a:cubicBezTo>
                  <a:pt x="201083" y="373112"/>
                  <a:pt x="201414" y="377130"/>
                  <a:pt x="201943" y="381000"/>
                </a:cubicBezTo>
                <a:lnTo>
                  <a:pt x="30229" y="381000"/>
                </a:lnTo>
                <a:cubicBezTo>
                  <a:pt x="19381" y="381000"/>
                  <a:pt x="10583" y="371103"/>
                  <a:pt x="10583" y="358899"/>
                </a:cubicBezTo>
                <a:cubicBezTo>
                  <a:pt x="10583" y="285601"/>
                  <a:pt x="63368" y="226219"/>
                  <a:pt x="128521" y="226219"/>
                </a:cubicBezTo>
                <a:close/>
                <a:moveTo>
                  <a:pt x="328083" y="226293"/>
                </a:moveTo>
                <a:cubicBezTo>
                  <a:pt x="328083" y="213122"/>
                  <a:pt x="318624" y="202481"/>
                  <a:pt x="306917" y="202481"/>
                </a:cubicBezTo>
                <a:cubicBezTo>
                  <a:pt x="295209" y="202481"/>
                  <a:pt x="285750" y="213122"/>
                  <a:pt x="285750" y="226293"/>
                </a:cubicBezTo>
                <a:lnTo>
                  <a:pt x="285750" y="261938"/>
                </a:lnTo>
                <a:lnTo>
                  <a:pt x="328083" y="261938"/>
                </a:lnTo>
                <a:lnTo>
                  <a:pt x="328083" y="226293"/>
                </a:lnTo>
                <a:close/>
                <a:moveTo>
                  <a:pt x="232833" y="297656"/>
                </a:moveTo>
                <a:cubicBezTo>
                  <a:pt x="232833" y="282104"/>
                  <a:pt x="241697" y="268858"/>
                  <a:pt x="254000" y="263947"/>
                </a:cubicBezTo>
                <a:lnTo>
                  <a:pt x="254000" y="226293"/>
                </a:lnTo>
                <a:cubicBezTo>
                  <a:pt x="254000" y="193402"/>
                  <a:pt x="277680" y="166762"/>
                  <a:pt x="306917" y="166762"/>
                </a:cubicBezTo>
                <a:cubicBezTo>
                  <a:pt x="336153" y="166762"/>
                  <a:pt x="359833" y="193402"/>
                  <a:pt x="359833" y="226293"/>
                </a:cubicBezTo>
                <a:lnTo>
                  <a:pt x="359833" y="263947"/>
                </a:lnTo>
                <a:cubicBezTo>
                  <a:pt x="372136" y="268858"/>
                  <a:pt x="381000" y="282104"/>
                  <a:pt x="381000" y="297656"/>
                </a:cubicBezTo>
                <a:lnTo>
                  <a:pt x="381000" y="369094"/>
                </a:lnTo>
                <a:cubicBezTo>
                  <a:pt x="381000" y="388813"/>
                  <a:pt x="366779" y="404813"/>
                  <a:pt x="349250" y="404813"/>
                </a:cubicBezTo>
                <a:lnTo>
                  <a:pt x="264583" y="404813"/>
                </a:lnTo>
                <a:cubicBezTo>
                  <a:pt x="247055" y="404813"/>
                  <a:pt x="232833" y="388813"/>
                  <a:pt x="232833" y="369094"/>
                </a:cubicBezTo>
                <a:lnTo>
                  <a:pt x="232833" y="297656"/>
                </a:lnTo>
                <a:close/>
              </a:path>
            </a:pathLst>
          </a:custGeom>
          <a:solidFill>
            <a:srgbClr val="FF9900"/>
          </a:solidFill>
          <a:ln/>
        </p:spPr>
      </p:sp>
      <p:sp>
        <p:nvSpPr>
          <p:cNvPr id="10" name="Text 7"/>
          <p:cNvSpPr/>
          <p:nvPr/>
        </p:nvSpPr>
        <p:spPr>
          <a:xfrm>
            <a:off x="1016000" y="2260600"/>
            <a:ext cx="2921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User Login</a:t>
            </a:r>
            <a:endParaRPr lang="en-US" sz="1500" dirty="0"/>
          </a:p>
        </p:txBody>
      </p:sp>
      <p:sp>
        <p:nvSpPr>
          <p:cNvPr id="11" name="Text 8"/>
          <p:cNvSpPr/>
          <p:nvPr/>
        </p:nvSpPr>
        <p:spPr>
          <a:xfrm>
            <a:off x="1016000" y="2578100"/>
            <a:ext cx="2921000" cy="508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AWS Cognito authentication</a:t>
            </a:r>
            <a:endParaRPr lang="en-US" sz="1300" dirty="0"/>
          </a:p>
        </p:txBody>
      </p:sp>
      <p:sp>
        <p:nvSpPr>
          <p:cNvPr id="12" name="Shape 9"/>
          <p:cNvSpPr/>
          <p:nvPr/>
        </p:nvSpPr>
        <p:spPr>
          <a:xfrm>
            <a:off x="4445000" y="1587500"/>
            <a:ext cx="3429000" cy="1651000"/>
          </a:xfrm>
          <a:prstGeom prst="roundRect">
            <a:avLst>
              <a:gd name="adj" fmla="val 8000"/>
            </a:avLst>
          </a:prstGeom>
          <a:solidFill>
            <a:srgbClr val="F0F4F8"/>
          </a:solidFill>
          <a:ln/>
        </p:spPr>
      </p:sp>
      <p:sp>
        <p:nvSpPr>
          <p:cNvPr id="13" name="Shape 10"/>
          <p:cNvSpPr/>
          <p:nvPr/>
        </p:nvSpPr>
        <p:spPr>
          <a:xfrm>
            <a:off x="4699000" y="1778000"/>
            <a:ext cx="381000" cy="381000"/>
          </a:xfrm>
          <a:custGeom>
            <a:avLst/>
            <a:gdLst/>
            <a:ahLst/>
            <a:cxnLst/>
            <a:rect l="l" t="t" r="r" b="b"/>
            <a:pathLst>
              <a:path w="381000" h="381000">
                <a:moveTo>
                  <a:pt x="0" y="190500"/>
                </a:moveTo>
                <a:cubicBezTo>
                  <a:pt x="0" y="85360"/>
                  <a:pt x="85360" y="0"/>
                  <a:pt x="190500" y="0"/>
                </a:cubicBezTo>
                <a:cubicBezTo>
                  <a:pt x="295640" y="0"/>
                  <a:pt x="381000" y="85360"/>
                  <a:pt x="381000" y="190500"/>
                </a:cubicBezTo>
                <a:cubicBezTo>
                  <a:pt x="381000" y="295640"/>
                  <a:pt x="295640" y="381000"/>
                  <a:pt x="190500" y="381000"/>
                </a:cubicBezTo>
                <a:cubicBezTo>
                  <a:pt x="85360" y="381000"/>
                  <a:pt x="0" y="295640"/>
                  <a:pt x="0" y="190500"/>
                </a:cubicBezTo>
                <a:close/>
                <a:moveTo>
                  <a:pt x="214313" y="71438"/>
                </a:moveTo>
                <a:cubicBezTo>
                  <a:pt x="214313" y="58295"/>
                  <a:pt x="203642" y="47625"/>
                  <a:pt x="190500" y="47625"/>
                </a:cubicBezTo>
                <a:cubicBezTo>
                  <a:pt x="177358" y="47625"/>
                  <a:pt x="166688" y="58295"/>
                  <a:pt x="166688" y="71438"/>
                </a:cubicBezTo>
                <a:cubicBezTo>
                  <a:pt x="166688" y="84580"/>
                  <a:pt x="177358" y="95250"/>
                  <a:pt x="190500" y="95250"/>
                </a:cubicBezTo>
                <a:cubicBezTo>
                  <a:pt x="203642" y="95250"/>
                  <a:pt x="214313" y="84580"/>
                  <a:pt x="214313" y="71438"/>
                </a:cubicBezTo>
                <a:close/>
                <a:moveTo>
                  <a:pt x="190500" y="309563"/>
                </a:moveTo>
                <a:cubicBezTo>
                  <a:pt x="216768" y="309563"/>
                  <a:pt x="238125" y="288206"/>
                  <a:pt x="238125" y="261938"/>
                </a:cubicBezTo>
                <a:cubicBezTo>
                  <a:pt x="238125" y="249882"/>
                  <a:pt x="233660" y="238795"/>
                  <a:pt x="226219" y="230460"/>
                </a:cubicBezTo>
                <a:lnTo>
                  <a:pt x="277937" y="127099"/>
                </a:lnTo>
                <a:cubicBezTo>
                  <a:pt x="282327" y="118244"/>
                  <a:pt x="278755" y="107528"/>
                  <a:pt x="269974" y="103138"/>
                </a:cubicBezTo>
                <a:cubicBezTo>
                  <a:pt x="261193" y="98747"/>
                  <a:pt x="250403" y="102319"/>
                  <a:pt x="246013" y="111100"/>
                </a:cubicBezTo>
                <a:lnTo>
                  <a:pt x="194295" y="214461"/>
                </a:lnTo>
                <a:cubicBezTo>
                  <a:pt x="193030" y="214387"/>
                  <a:pt x="191765" y="214313"/>
                  <a:pt x="190500" y="214313"/>
                </a:cubicBezTo>
                <a:cubicBezTo>
                  <a:pt x="164232" y="214313"/>
                  <a:pt x="142875" y="235669"/>
                  <a:pt x="142875" y="261938"/>
                </a:cubicBezTo>
                <a:cubicBezTo>
                  <a:pt x="142875" y="288206"/>
                  <a:pt x="164232" y="309563"/>
                  <a:pt x="190500" y="309563"/>
                </a:cubicBezTo>
                <a:close/>
                <a:moveTo>
                  <a:pt x="130969" y="107156"/>
                </a:moveTo>
                <a:cubicBezTo>
                  <a:pt x="130969" y="94014"/>
                  <a:pt x="120299" y="83344"/>
                  <a:pt x="107156" y="83344"/>
                </a:cubicBezTo>
                <a:cubicBezTo>
                  <a:pt x="94014" y="83344"/>
                  <a:pt x="83344" y="94014"/>
                  <a:pt x="83344" y="107156"/>
                </a:cubicBezTo>
                <a:cubicBezTo>
                  <a:pt x="83344" y="120299"/>
                  <a:pt x="94014" y="130969"/>
                  <a:pt x="107156" y="130969"/>
                </a:cubicBezTo>
                <a:cubicBezTo>
                  <a:pt x="120299" y="130969"/>
                  <a:pt x="130969" y="120299"/>
                  <a:pt x="130969" y="107156"/>
                </a:cubicBezTo>
                <a:close/>
                <a:moveTo>
                  <a:pt x="71438" y="214313"/>
                </a:moveTo>
                <a:cubicBezTo>
                  <a:pt x="84580" y="214313"/>
                  <a:pt x="95250" y="203642"/>
                  <a:pt x="95250" y="190500"/>
                </a:cubicBezTo>
                <a:cubicBezTo>
                  <a:pt x="95250" y="177358"/>
                  <a:pt x="84580" y="166688"/>
                  <a:pt x="71438" y="166688"/>
                </a:cubicBezTo>
                <a:cubicBezTo>
                  <a:pt x="58295" y="166688"/>
                  <a:pt x="47625" y="177358"/>
                  <a:pt x="47625" y="190500"/>
                </a:cubicBezTo>
                <a:cubicBezTo>
                  <a:pt x="47625" y="203642"/>
                  <a:pt x="58295" y="214313"/>
                  <a:pt x="71438" y="214313"/>
                </a:cubicBezTo>
                <a:close/>
                <a:moveTo>
                  <a:pt x="333375" y="190500"/>
                </a:moveTo>
                <a:cubicBezTo>
                  <a:pt x="333375" y="177358"/>
                  <a:pt x="322705" y="166688"/>
                  <a:pt x="309563" y="166688"/>
                </a:cubicBezTo>
                <a:cubicBezTo>
                  <a:pt x="296420" y="166688"/>
                  <a:pt x="285750" y="177358"/>
                  <a:pt x="285750" y="190500"/>
                </a:cubicBezTo>
                <a:cubicBezTo>
                  <a:pt x="285750" y="203642"/>
                  <a:pt x="296420" y="214313"/>
                  <a:pt x="309563" y="214313"/>
                </a:cubicBezTo>
                <a:cubicBezTo>
                  <a:pt x="322705" y="214313"/>
                  <a:pt x="333375" y="203642"/>
                  <a:pt x="333375" y="190500"/>
                </a:cubicBezTo>
                <a:close/>
              </a:path>
            </a:pathLst>
          </a:custGeom>
          <a:solidFill>
            <a:srgbClr val="FF9900"/>
          </a:solidFill>
          <a:ln/>
        </p:spPr>
      </p:sp>
      <p:sp>
        <p:nvSpPr>
          <p:cNvPr id="14" name="Text 11"/>
          <p:cNvSpPr/>
          <p:nvPr/>
        </p:nvSpPr>
        <p:spPr>
          <a:xfrm>
            <a:off x="4699000" y="2260600"/>
            <a:ext cx="2921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Admin Dashboard</a:t>
            </a:r>
            <a:endParaRPr lang="en-US" sz="1500" dirty="0"/>
          </a:p>
        </p:txBody>
      </p:sp>
      <p:sp>
        <p:nvSpPr>
          <p:cNvPr id="15" name="Text 12"/>
          <p:cNvSpPr/>
          <p:nvPr/>
        </p:nvSpPr>
        <p:spPr>
          <a:xfrm>
            <a:off x="4699000" y="2578100"/>
            <a:ext cx="2921000" cy="508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User and content management</a:t>
            </a:r>
            <a:endParaRPr lang="en-US" sz="1300" dirty="0"/>
          </a:p>
        </p:txBody>
      </p:sp>
      <p:sp>
        <p:nvSpPr>
          <p:cNvPr id="16" name="Shape 13"/>
          <p:cNvSpPr/>
          <p:nvPr/>
        </p:nvSpPr>
        <p:spPr>
          <a:xfrm>
            <a:off x="8128000" y="1587500"/>
            <a:ext cx="3429000" cy="1651000"/>
          </a:xfrm>
          <a:prstGeom prst="roundRect">
            <a:avLst>
              <a:gd name="adj" fmla="val 8000"/>
            </a:avLst>
          </a:prstGeom>
          <a:solidFill>
            <a:srgbClr val="F0F4F8"/>
          </a:solidFill>
          <a:ln/>
        </p:spPr>
      </p:sp>
      <p:sp>
        <p:nvSpPr>
          <p:cNvPr id="17" name="Shape 14"/>
          <p:cNvSpPr/>
          <p:nvPr/>
        </p:nvSpPr>
        <p:spPr>
          <a:xfrm>
            <a:off x="8382000" y="1778000"/>
            <a:ext cx="381000" cy="381000"/>
          </a:xfrm>
          <a:custGeom>
            <a:avLst/>
            <a:gdLst/>
            <a:ahLst/>
            <a:cxnLst/>
            <a:rect l="l" t="t" r="r" b="b"/>
            <a:pathLst>
              <a:path w="381000" h="381000">
                <a:moveTo>
                  <a:pt x="63500" y="0"/>
                </a:moveTo>
                <a:cubicBezTo>
                  <a:pt x="40151" y="0"/>
                  <a:pt x="21167" y="21357"/>
                  <a:pt x="21167" y="47625"/>
                </a:cubicBezTo>
                <a:lnTo>
                  <a:pt x="21167" y="333375"/>
                </a:lnTo>
                <a:cubicBezTo>
                  <a:pt x="21167" y="359643"/>
                  <a:pt x="40151" y="381000"/>
                  <a:pt x="63500" y="381000"/>
                </a:cubicBezTo>
                <a:lnTo>
                  <a:pt x="116417" y="381000"/>
                </a:lnTo>
                <a:lnTo>
                  <a:pt x="116417" y="297656"/>
                </a:lnTo>
                <a:cubicBezTo>
                  <a:pt x="116417" y="271388"/>
                  <a:pt x="135401" y="250031"/>
                  <a:pt x="158750" y="250031"/>
                </a:cubicBezTo>
                <a:lnTo>
                  <a:pt x="275167" y="250031"/>
                </a:lnTo>
                <a:lnTo>
                  <a:pt x="275167" y="126876"/>
                </a:lnTo>
                <a:cubicBezTo>
                  <a:pt x="275167" y="114226"/>
                  <a:pt x="270735" y="102096"/>
                  <a:pt x="262797" y="93166"/>
                </a:cubicBezTo>
                <a:lnTo>
                  <a:pt x="192286" y="13915"/>
                </a:lnTo>
                <a:cubicBezTo>
                  <a:pt x="184348" y="4986"/>
                  <a:pt x="173633" y="0"/>
                  <a:pt x="162388" y="0"/>
                </a:cubicBezTo>
                <a:lnTo>
                  <a:pt x="63500" y="0"/>
                </a:lnTo>
                <a:close/>
                <a:moveTo>
                  <a:pt x="236471" y="130969"/>
                </a:moveTo>
                <a:lnTo>
                  <a:pt x="174625" y="130969"/>
                </a:lnTo>
                <a:cubicBezTo>
                  <a:pt x="165828" y="130969"/>
                  <a:pt x="158750" y="123006"/>
                  <a:pt x="158750" y="113109"/>
                </a:cubicBezTo>
                <a:lnTo>
                  <a:pt x="158750" y="43532"/>
                </a:lnTo>
                <a:lnTo>
                  <a:pt x="236471" y="130969"/>
                </a:lnTo>
                <a:close/>
                <a:moveTo>
                  <a:pt x="158750" y="282773"/>
                </a:moveTo>
                <a:cubicBezTo>
                  <a:pt x="151474" y="282773"/>
                  <a:pt x="145521" y="289471"/>
                  <a:pt x="145521" y="297656"/>
                </a:cubicBezTo>
                <a:lnTo>
                  <a:pt x="145521" y="392906"/>
                </a:lnTo>
                <a:cubicBezTo>
                  <a:pt x="145521" y="401092"/>
                  <a:pt x="151474" y="407789"/>
                  <a:pt x="158750" y="407789"/>
                </a:cubicBezTo>
                <a:cubicBezTo>
                  <a:pt x="166026" y="407789"/>
                  <a:pt x="171979" y="401092"/>
                  <a:pt x="171979" y="392906"/>
                </a:cubicBezTo>
                <a:lnTo>
                  <a:pt x="171979" y="372070"/>
                </a:lnTo>
                <a:lnTo>
                  <a:pt x="179917" y="372070"/>
                </a:lnTo>
                <a:cubicBezTo>
                  <a:pt x="201811" y="372070"/>
                  <a:pt x="219604" y="352053"/>
                  <a:pt x="219604" y="327422"/>
                </a:cubicBezTo>
                <a:cubicBezTo>
                  <a:pt x="219604" y="302791"/>
                  <a:pt x="201811" y="282773"/>
                  <a:pt x="179917" y="282773"/>
                </a:cubicBezTo>
                <a:lnTo>
                  <a:pt x="158750" y="282773"/>
                </a:lnTo>
                <a:close/>
                <a:moveTo>
                  <a:pt x="179917" y="342305"/>
                </a:moveTo>
                <a:lnTo>
                  <a:pt x="171979" y="342305"/>
                </a:lnTo>
                <a:lnTo>
                  <a:pt x="171979" y="312539"/>
                </a:lnTo>
                <a:lnTo>
                  <a:pt x="179917" y="312539"/>
                </a:lnTo>
                <a:cubicBezTo>
                  <a:pt x="187193" y="312539"/>
                  <a:pt x="193146" y="319236"/>
                  <a:pt x="193146" y="327422"/>
                </a:cubicBezTo>
                <a:cubicBezTo>
                  <a:pt x="193146" y="335607"/>
                  <a:pt x="187193" y="342305"/>
                  <a:pt x="179917" y="342305"/>
                </a:cubicBezTo>
                <a:close/>
                <a:moveTo>
                  <a:pt x="243417" y="282773"/>
                </a:moveTo>
                <a:cubicBezTo>
                  <a:pt x="236141" y="282773"/>
                  <a:pt x="230188" y="289471"/>
                  <a:pt x="230188" y="297656"/>
                </a:cubicBezTo>
                <a:lnTo>
                  <a:pt x="230188" y="392906"/>
                </a:lnTo>
                <a:cubicBezTo>
                  <a:pt x="230188" y="401092"/>
                  <a:pt x="236141" y="407789"/>
                  <a:pt x="243417" y="407789"/>
                </a:cubicBezTo>
                <a:lnTo>
                  <a:pt x="264583" y="407789"/>
                </a:lnTo>
                <a:cubicBezTo>
                  <a:pt x="283567" y="407789"/>
                  <a:pt x="298979" y="390451"/>
                  <a:pt x="298979" y="369094"/>
                </a:cubicBezTo>
                <a:lnTo>
                  <a:pt x="298979" y="321469"/>
                </a:lnTo>
                <a:cubicBezTo>
                  <a:pt x="298979" y="300112"/>
                  <a:pt x="283567" y="282773"/>
                  <a:pt x="264583" y="282773"/>
                </a:cubicBezTo>
                <a:lnTo>
                  <a:pt x="243417" y="282773"/>
                </a:lnTo>
                <a:close/>
                <a:moveTo>
                  <a:pt x="256646" y="378023"/>
                </a:moveTo>
                <a:lnTo>
                  <a:pt x="256646" y="312539"/>
                </a:lnTo>
                <a:lnTo>
                  <a:pt x="264583" y="312539"/>
                </a:lnTo>
                <a:cubicBezTo>
                  <a:pt x="268949" y="312539"/>
                  <a:pt x="272521" y="316557"/>
                  <a:pt x="272521" y="321469"/>
                </a:cubicBezTo>
                <a:lnTo>
                  <a:pt x="272521" y="369094"/>
                </a:lnTo>
                <a:cubicBezTo>
                  <a:pt x="272521" y="374005"/>
                  <a:pt x="268949" y="378023"/>
                  <a:pt x="264583" y="378023"/>
                </a:cubicBezTo>
                <a:lnTo>
                  <a:pt x="256646" y="378023"/>
                </a:lnTo>
                <a:close/>
                <a:moveTo>
                  <a:pt x="314854" y="297656"/>
                </a:moveTo>
                <a:lnTo>
                  <a:pt x="314854" y="392906"/>
                </a:lnTo>
                <a:cubicBezTo>
                  <a:pt x="314854" y="401092"/>
                  <a:pt x="320807" y="407789"/>
                  <a:pt x="328083" y="407789"/>
                </a:cubicBezTo>
                <a:cubicBezTo>
                  <a:pt x="335359" y="407789"/>
                  <a:pt x="341313" y="401092"/>
                  <a:pt x="341313" y="392906"/>
                </a:cubicBezTo>
                <a:lnTo>
                  <a:pt x="341313" y="360164"/>
                </a:lnTo>
                <a:lnTo>
                  <a:pt x="359833" y="360164"/>
                </a:lnTo>
                <a:cubicBezTo>
                  <a:pt x="367109" y="360164"/>
                  <a:pt x="373063" y="353467"/>
                  <a:pt x="373063" y="345281"/>
                </a:cubicBezTo>
                <a:cubicBezTo>
                  <a:pt x="373063" y="337096"/>
                  <a:pt x="367109" y="330398"/>
                  <a:pt x="359833" y="330398"/>
                </a:cubicBezTo>
                <a:lnTo>
                  <a:pt x="341313" y="330398"/>
                </a:lnTo>
                <a:lnTo>
                  <a:pt x="341313" y="312539"/>
                </a:lnTo>
                <a:lnTo>
                  <a:pt x="359833" y="312539"/>
                </a:lnTo>
                <a:cubicBezTo>
                  <a:pt x="367109" y="312539"/>
                  <a:pt x="373063" y="305842"/>
                  <a:pt x="373063" y="297656"/>
                </a:cubicBezTo>
                <a:cubicBezTo>
                  <a:pt x="373063" y="289471"/>
                  <a:pt x="367109" y="282773"/>
                  <a:pt x="359833" y="282773"/>
                </a:cubicBezTo>
                <a:lnTo>
                  <a:pt x="328083" y="282773"/>
                </a:lnTo>
                <a:cubicBezTo>
                  <a:pt x="320807" y="282773"/>
                  <a:pt x="314854" y="289471"/>
                  <a:pt x="314854" y="297656"/>
                </a:cubicBezTo>
                <a:close/>
              </a:path>
            </a:pathLst>
          </a:custGeom>
          <a:solidFill>
            <a:srgbClr val="FF9900"/>
          </a:solidFill>
          <a:ln/>
        </p:spPr>
      </p:sp>
      <p:sp>
        <p:nvSpPr>
          <p:cNvPr id="18" name="Text 15"/>
          <p:cNvSpPr/>
          <p:nvPr/>
        </p:nvSpPr>
        <p:spPr>
          <a:xfrm>
            <a:off x="8382000" y="2260600"/>
            <a:ext cx="2921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S3 File Upload</a:t>
            </a:r>
            <a:endParaRPr lang="en-US" sz="1500" dirty="0"/>
          </a:p>
        </p:txBody>
      </p:sp>
      <p:sp>
        <p:nvSpPr>
          <p:cNvPr id="19" name="Text 16"/>
          <p:cNvSpPr/>
          <p:nvPr/>
        </p:nvSpPr>
        <p:spPr>
          <a:xfrm>
            <a:off x="8382000" y="2578100"/>
            <a:ext cx="2921000" cy="508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PDF and image storage in S3</a:t>
            </a:r>
            <a:endParaRPr lang="en-US" sz="1300" dirty="0"/>
          </a:p>
        </p:txBody>
      </p:sp>
      <p:sp>
        <p:nvSpPr>
          <p:cNvPr id="20" name="Shape 17"/>
          <p:cNvSpPr/>
          <p:nvPr/>
        </p:nvSpPr>
        <p:spPr>
          <a:xfrm>
            <a:off x="11811000" y="1587500"/>
            <a:ext cx="3683000" cy="1651000"/>
          </a:xfrm>
          <a:prstGeom prst="roundRect">
            <a:avLst>
              <a:gd name="adj" fmla="val 8000"/>
            </a:avLst>
          </a:prstGeom>
          <a:solidFill>
            <a:srgbClr val="F0F4F8"/>
          </a:solidFill>
          <a:ln/>
        </p:spPr>
      </p:sp>
      <p:sp>
        <p:nvSpPr>
          <p:cNvPr id="21" name="Shape 18"/>
          <p:cNvSpPr/>
          <p:nvPr/>
        </p:nvSpPr>
        <p:spPr>
          <a:xfrm>
            <a:off x="12065000" y="1778000"/>
            <a:ext cx="381000" cy="381000"/>
          </a:xfrm>
          <a:custGeom>
            <a:avLst/>
            <a:gdLst/>
            <a:ahLst/>
            <a:cxnLst/>
            <a:rect l="l" t="t" r="r" b="b"/>
            <a:pathLst>
              <a:path w="381000" h="381000">
                <a:moveTo>
                  <a:pt x="261863" y="208359"/>
                </a:moveTo>
                <a:lnTo>
                  <a:pt x="119807" y="208359"/>
                </a:lnTo>
                <a:cubicBezTo>
                  <a:pt x="121965" y="256356"/>
                  <a:pt x="132606" y="300558"/>
                  <a:pt x="147712" y="332929"/>
                </a:cubicBezTo>
                <a:cubicBezTo>
                  <a:pt x="156195" y="351160"/>
                  <a:pt x="165348" y="364034"/>
                  <a:pt x="173831" y="371921"/>
                </a:cubicBezTo>
                <a:cubicBezTo>
                  <a:pt x="182166" y="379735"/>
                  <a:pt x="187896" y="381000"/>
                  <a:pt x="190872" y="381000"/>
                </a:cubicBezTo>
                <a:cubicBezTo>
                  <a:pt x="193849" y="381000"/>
                  <a:pt x="199579" y="379735"/>
                  <a:pt x="207913" y="371921"/>
                </a:cubicBezTo>
                <a:cubicBezTo>
                  <a:pt x="216396" y="364034"/>
                  <a:pt x="225549" y="351086"/>
                  <a:pt x="234032" y="332929"/>
                </a:cubicBezTo>
                <a:cubicBezTo>
                  <a:pt x="249138" y="300558"/>
                  <a:pt x="259779" y="256356"/>
                  <a:pt x="261937" y="208359"/>
                </a:cubicBezTo>
                <a:close/>
                <a:moveTo>
                  <a:pt x="119732" y="172641"/>
                </a:moveTo>
                <a:lnTo>
                  <a:pt x="261789" y="172641"/>
                </a:lnTo>
                <a:cubicBezTo>
                  <a:pt x="259705" y="124644"/>
                  <a:pt x="249064" y="80442"/>
                  <a:pt x="233958" y="48071"/>
                </a:cubicBezTo>
                <a:cubicBezTo>
                  <a:pt x="225475" y="29914"/>
                  <a:pt x="216322" y="16966"/>
                  <a:pt x="207838" y="9079"/>
                </a:cubicBezTo>
                <a:cubicBezTo>
                  <a:pt x="199504" y="1265"/>
                  <a:pt x="193774" y="0"/>
                  <a:pt x="190798" y="0"/>
                </a:cubicBezTo>
                <a:cubicBezTo>
                  <a:pt x="187821" y="0"/>
                  <a:pt x="182091" y="1265"/>
                  <a:pt x="173757" y="9079"/>
                </a:cubicBezTo>
                <a:cubicBezTo>
                  <a:pt x="165274" y="16966"/>
                  <a:pt x="156121" y="29914"/>
                  <a:pt x="147637" y="48071"/>
                </a:cubicBezTo>
                <a:cubicBezTo>
                  <a:pt x="132531" y="80442"/>
                  <a:pt x="121890" y="124644"/>
                  <a:pt x="119732" y="172641"/>
                </a:cubicBezTo>
                <a:close/>
                <a:moveTo>
                  <a:pt x="84013" y="172641"/>
                </a:moveTo>
                <a:cubicBezTo>
                  <a:pt x="86618" y="108942"/>
                  <a:pt x="103063" y="49783"/>
                  <a:pt x="127099" y="10939"/>
                </a:cubicBezTo>
                <a:cubicBezTo>
                  <a:pt x="58564" y="35198"/>
                  <a:pt x="8111" y="97631"/>
                  <a:pt x="1116" y="172641"/>
                </a:cubicBezTo>
                <a:lnTo>
                  <a:pt x="84013" y="172641"/>
                </a:lnTo>
                <a:close/>
                <a:moveTo>
                  <a:pt x="1116" y="208359"/>
                </a:moveTo>
                <a:cubicBezTo>
                  <a:pt x="8111" y="283369"/>
                  <a:pt x="58564" y="345802"/>
                  <a:pt x="127099" y="370061"/>
                </a:cubicBezTo>
                <a:cubicBezTo>
                  <a:pt x="103063" y="331217"/>
                  <a:pt x="86618" y="272058"/>
                  <a:pt x="84013" y="208359"/>
                </a:cubicBezTo>
                <a:lnTo>
                  <a:pt x="1116" y="208359"/>
                </a:lnTo>
                <a:close/>
                <a:moveTo>
                  <a:pt x="297582" y="208359"/>
                </a:moveTo>
                <a:cubicBezTo>
                  <a:pt x="294977" y="272058"/>
                  <a:pt x="278532" y="331217"/>
                  <a:pt x="254496" y="370061"/>
                </a:cubicBezTo>
                <a:cubicBezTo>
                  <a:pt x="323031" y="345728"/>
                  <a:pt x="373484" y="283369"/>
                  <a:pt x="380479" y="208359"/>
                </a:cubicBezTo>
                <a:lnTo>
                  <a:pt x="297582" y="208359"/>
                </a:lnTo>
                <a:close/>
                <a:moveTo>
                  <a:pt x="380479" y="172641"/>
                </a:moveTo>
                <a:cubicBezTo>
                  <a:pt x="373484" y="97631"/>
                  <a:pt x="323031" y="35198"/>
                  <a:pt x="254496" y="10939"/>
                </a:cubicBezTo>
                <a:cubicBezTo>
                  <a:pt x="278532" y="49783"/>
                  <a:pt x="294977" y="108942"/>
                  <a:pt x="297582" y="172641"/>
                </a:cubicBezTo>
                <a:lnTo>
                  <a:pt x="380479" y="172641"/>
                </a:lnTo>
                <a:close/>
              </a:path>
            </a:pathLst>
          </a:custGeom>
          <a:solidFill>
            <a:srgbClr val="FF9900"/>
          </a:solidFill>
          <a:ln/>
        </p:spPr>
      </p:sp>
      <p:sp>
        <p:nvSpPr>
          <p:cNvPr id="22" name="Text 19"/>
          <p:cNvSpPr/>
          <p:nvPr/>
        </p:nvSpPr>
        <p:spPr>
          <a:xfrm>
            <a:off x="12065000" y="2260600"/>
            <a:ext cx="3175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Route 53 Domain</a:t>
            </a:r>
            <a:endParaRPr lang="en-US" sz="1500" dirty="0"/>
          </a:p>
        </p:txBody>
      </p:sp>
      <p:sp>
        <p:nvSpPr>
          <p:cNvPr id="23" name="Text 20"/>
          <p:cNvSpPr/>
          <p:nvPr/>
        </p:nvSpPr>
        <p:spPr>
          <a:xfrm>
            <a:off x="12065000" y="2578100"/>
            <a:ext cx="3175000" cy="508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Custom domain with DNS routing</a:t>
            </a:r>
            <a:endParaRPr lang="en-US" sz="1300" dirty="0"/>
          </a:p>
        </p:txBody>
      </p:sp>
      <p:sp>
        <p:nvSpPr>
          <p:cNvPr id="24" name="Shape 21"/>
          <p:cNvSpPr/>
          <p:nvPr/>
        </p:nvSpPr>
        <p:spPr>
          <a:xfrm>
            <a:off x="762000" y="3492500"/>
            <a:ext cx="4699000" cy="1651000"/>
          </a:xfrm>
          <a:prstGeom prst="roundRect">
            <a:avLst>
              <a:gd name="adj" fmla="val 8000"/>
            </a:avLst>
          </a:prstGeom>
          <a:solidFill>
            <a:srgbClr val="F0F4F8"/>
          </a:solidFill>
          <a:ln/>
        </p:spPr>
      </p:sp>
      <p:sp>
        <p:nvSpPr>
          <p:cNvPr id="25" name="Shape 22"/>
          <p:cNvSpPr/>
          <p:nvPr/>
        </p:nvSpPr>
        <p:spPr>
          <a:xfrm>
            <a:off x="1016000" y="3683000"/>
            <a:ext cx="381000" cy="381000"/>
          </a:xfrm>
          <a:custGeom>
            <a:avLst/>
            <a:gdLst/>
            <a:ahLst/>
            <a:cxnLst/>
            <a:rect l="l" t="t" r="r" b="b"/>
            <a:pathLst>
              <a:path w="381000" h="381000">
                <a:moveTo>
                  <a:pt x="127000" y="71438"/>
                </a:moveTo>
                <a:lnTo>
                  <a:pt x="127000" y="119063"/>
                </a:lnTo>
                <a:lnTo>
                  <a:pt x="254000" y="119063"/>
                </a:lnTo>
                <a:lnTo>
                  <a:pt x="254000" y="71438"/>
                </a:lnTo>
                <a:cubicBezTo>
                  <a:pt x="254000" y="45169"/>
                  <a:pt x="225524" y="23812"/>
                  <a:pt x="190500" y="23812"/>
                </a:cubicBezTo>
                <a:cubicBezTo>
                  <a:pt x="155476" y="23812"/>
                  <a:pt x="127000" y="45169"/>
                  <a:pt x="127000" y="71438"/>
                </a:cubicBezTo>
                <a:close/>
                <a:moveTo>
                  <a:pt x="63500" y="119063"/>
                </a:moveTo>
                <a:lnTo>
                  <a:pt x="63500" y="71438"/>
                </a:lnTo>
                <a:cubicBezTo>
                  <a:pt x="63500" y="18827"/>
                  <a:pt x="120352" y="-23812"/>
                  <a:pt x="190500" y="-23812"/>
                </a:cubicBezTo>
                <a:cubicBezTo>
                  <a:pt x="260648" y="-23812"/>
                  <a:pt x="317500" y="18827"/>
                  <a:pt x="317500" y="71438"/>
                </a:cubicBezTo>
                <a:lnTo>
                  <a:pt x="317500" y="119063"/>
                </a:lnTo>
                <a:cubicBezTo>
                  <a:pt x="352524" y="119063"/>
                  <a:pt x="381000" y="140419"/>
                  <a:pt x="381000" y="166688"/>
                </a:cubicBezTo>
                <a:lnTo>
                  <a:pt x="381000" y="333375"/>
                </a:lnTo>
                <a:cubicBezTo>
                  <a:pt x="381000" y="359643"/>
                  <a:pt x="352524" y="381000"/>
                  <a:pt x="317500" y="381000"/>
                </a:cubicBezTo>
                <a:lnTo>
                  <a:pt x="63500" y="381000"/>
                </a:lnTo>
                <a:cubicBezTo>
                  <a:pt x="28476" y="381000"/>
                  <a:pt x="0" y="359643"/>
                  <a:pt x="0" y="333375"/>
                </a:cubicBezTo>
                <a:lnTo>
                  <a:pt x="0" y="166688"/>
                </a:lnTo>
                <a:cubicBezTo>
                  <a:pt x="0" y="140419"/>
                  <a:pt x="28476" y="119063"/>
                  <a:pt x="63500" y="119063"/>
                </a:cubicBezTo>
                <a:close/>
              </a:path>
            </a:pathLst>
          </a:custGeom>
          <a:solidFill>
            <a:srgbClr val="4A6FA5"/>
          </a:solidFill>
          <a:ln/>
        </p:spPr>
      </p:sp>
      <p:sp>
        <p:nvSpPr>
          <p:cNvPr id="26" name="Text 23"/>
          <p:cNvSpPr/>
          <p:nvPr/>
        </p:nvSpPr>
        <p:spPr>
          <a:xfrm>
            <a:off x="1016000" y="4165600"/>
            <a:ext cx="4191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SSL Certificate (HTTPS)</a:t>
            </a:r>
            <a:endParaRPr lang="en-US" sz="1500" dirty="0"/>
          </a:p>
        </p:txBody>
      </p:sp>
      <p:sp>
        <p:nvSpPr>
          <p:cNvPr id="27" name="Text 24"/>
          <p:cNvSpPr/>
          <p:nvPr/>
        </p:nvSpPr>
        <p:spPr>
          <a:xfrm>
            <a:off x="1016000" y="4483100"/>
            <a:ext cx="4191000" cy="635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AWS Certificate Manager for encrypted communication</a:t>
            </a:r>
            <a:endParaRPr lang="en-US" sz="1300" dirty="0"/>
          </a:p>
        </p:txBody>
      </p:sp>
      <p:sp>
        <p:nvSpPr>
          <p:cNvPr id="28" name="Shape 25"/>
          <p:cNvSpPr/>
          <p:nvPr/>
        </p:nvSpPr>
        <p:spPr>
          <a:xfrm>
            <a:off x="5715000" y="3492500"/>
            <a:ext cx="4699000" cy="1651000"/>
          </a:xfrm>
          <a:prstGeom prst="roundRect">
            <a:avLst>
              <a:gd name="adj" fmla="val 8000"/>
            </a:avLst>
          </a:prstGeom>
          <a:solidFill>
            <a:srgbClr val="F0F4F8"/>
          </a:solidFill>
          <a:ln/>
        </p:spPr>
      </p:sp>
      <p:sp>
        <p:nvSpPr>
          <p:cNvPr id="29" name="Shape 26"/>
          <p:cNvSpPr/>
          <p:nvPr/>
        </p:nvSpPr>
        <p:spPr>
          <a:xfrm>
            <a:off x="5969000" y="3683000"/>
            <a:ext cx="381000" cy="381000"/>
          </a:xfrm>
          <a:custGeom>
            <a:avLst/>
            <a:gdLst/>
            <a:ahLst/>
            <a:cxnLst/>
            <a:rect l="l" t="t" r="r" b="b"/>
            <a:pathLst>
              <a:path w="381000" h="381000">
                <a:moveTo>
                  <a:pt x="27214" y="23812"/>
                </a:moveTo>
                <a:cubicBezTo>
                  <a:pt x="12161" y="23812"/>
                  <a:pt x="0" y="34454"/>
                  <a:pt x="0" y="47625"/>
                </a:cubicBezTo>
                <a:lnTo>
                  <a:pt x="0" y="119063"/>
                </a:lnTo>
                <a:cubicBezTo>
                  <a:pt x="0" y="132234"/>
                  <a:pt x="12161" y="142875"/>
                  <a:pt x="27214" y="142875"/>
                </a:cubicBezTo>
                <a:cubicBezTo>
                  <a:pt x="42267" y="142875"/>
                  <a:pt x="54429" y="132234"/>
                  <a:pt x="54429" y="119063"/>
                </a:cubicBezTo>
                <a:lnTo>
                  <a:pt x="54429" y="71438"/>
                </a:lnTo>
                <a:lnTo>
                  <a:pt x="108857" y="71438"/>
                </a:lnTo>
                <a:cubicBezTo>
                  <a:pt x="123910" y="71438"/>
                  <a:pt x="136071" y="60796"/>
                  <a:pt x="136071" y="47625"/>
                </a:cubicBezTo>
                <a:cubicBezTo>
                  <a:pt x="136071" y="34454"/>
                  <a:pt x="123910" y="23812"/>
                  <a:pt x="108857" y="23812"/>
                </a:cubicBezTo>
                <a:lnTo>
                  <a:pt x="27214" y="23812"/>
                </a:lnTo>
                <a:close/>
                <a:moveTo>
                  <a:pt x="54429" y="261938"/>
                </a:moveTo>
                <a:cubicBezTo>
                  <a:pt x="54429" y="248766"/>
                  <a:pt x="42267" y="238125"/>
                  <a:pt x="27214" y="238125"/>
                </a:cubicBezTo>
                <a:cubicBezTo>
                  <a:pt x="12161" y="238125"/>
                  <a:pt x="0" y="248766"/>
                  <a:pt x="0" y="261938"/>
                </a:cubicBezTo>
                <a:lnTo>
                  <a:pt x="0" y="333375"/>
                </a:lnTo>
                <a:cubicBezTo>
                  <a:pt x="0" y="346546"/>
                  <a:pt x="12161" y="357188"/>
                  <a:pt x="27214" y="357188"/>
                </a:cubicBezTo>
                <a:lnTo>
                  <a:pt x="108857" y="357188"/>
                </a:lnTo>
                <a:cubicBezTo>
                  <a:pt x="123910" y="357188"/>
                  <a:pt x="136071" y="346546"/>
                  <a:pt x="136071" y="333375"/>
                </a:cubicBezTo>
                <a:cubicBezTo>
                  <a:pt x="136071" y="320204"/>
                  <a:pt x="123910" y="309563"/>
                  <a:pt x="108857" y="309563"/>
                </a:cubicBezTo>
                <a:lnTo>
                  <a:pt x="54429" y="309563"/>
                </a:lnTo>
                <a:lnTo>
                  <a:pt x="54429" y="261938"/>
                </a:lnTo>
                <a:close/>
                <a:moveTo>
                  <a:pt x="272143" y="23812"/>
                </a:moveTo>
                <a:cubicBezTo>
                  <a:pt x="257090" y="23812"/>
                  <a:pt x="244929" y="34454"/>
                  <a:pt x="244929" y="47625"/>
                </a:cubicBezTo>
                <a:cubicBezTo>
                  <a:pt x="244929" y="60796"/>
                  <a:pt x="257090" y="71438"/>
                  <a:pt x="272143" y="71438"/>
                </a:cubicBezTo>
                <a:lnTo>
                  <a:pt x="326571" y="71438"/>
                </a:lnTo>
                <a:lnTo>
                  <a:pt x="326571" y="119063"/>
                </a:lnTo>
                <a:cubicBezTo>
                  <a:pt x="326571" y="132234"/>
                  <a:pt x="338733" y="142875"/>
                  <a:pt x="353786" y="142875"/>
                </a:cubicBezTo>
                <a:cubicBezTo>
                  <a:pt x="368839" y="142875"/>
                  <a:pt x="381000" y="132234"/>
                  <a:pt x="381000" y="119063"/>
                </a:cubicBezTo>
                <a:lnTo>
                  <a:pt x="381000" y="47625"/>
                </a:lnTo>
                <a:cubicBezTo>
                  <a:pt x="381000" y="34454"/>
                  <a:pt x="368839" y="23812"/>
                  <a:pt x="353786" y="23812"/>
                </a:cubicBezTo>
                <a:lnTo>
                  <a:pt x="272143" y="23812"/>
                </a:lnTo>
                <a:close/>
                <a:moveTo>
                  <a:pt x="381000" y="261938"/>
                </a:moveTo>
                <a:cubicBezTo>
                  <a:pt x="381000" y="248766"/>
                  <a:pt x="368839" y="238125"/>
                  <a:pt x="353786" y="238125"/>
                </a:cubicBezTo>
                <a:cubicBezTo>
                  <a:pt x="338733" y="238125"/>
                  <a:pt x="326571" y="248766"/>
                  <a:pt x="326571" y="261938"/>
                </a:cubicBezTo>
                <a:lnTo>
                  <a:pt x="326571" y="309563"/>
                </a:lnTo>
                <a:lnTo>
                  <a:pt x="272143" y="309563"/>
                </a:lnTo>
                <a:cubicBezTo>
                  <a:pt x="257090" y="309563"/>
                  <a:pt x="244929" y="320204"/>
                  <a:pt x="244929" y="333375"/>
                </a:cubicBezTo>
                <a:cubicBezTo>
                  <a:pt x="244929" y="346546"/>
                  <a:pt x="257090" y="357188"/>
                  <a:pt x="272143" y="357188"/>
                </a:cubicBezTo>
                <a:lnTo>
                  <a:pt x="353786" y="357188"/>
                </a:lnTo>
                <a:cubicBezTo>
                  <a:pt x="368839" y="357188"/>
                  <a:pt x="381000" y="346546"/>
                  <a:pt x="381000" y="333375"/>
                </a:cubicBezTo>
                <a:lnTo>
                  <a:pt x="381000" y="261938"/>
                </a:lnTo>
                <a:close/>
              </a:path>
            </a:pathLst>
          </a:custGeom>
          <a:solidFill>
            <a:srgbClr val="4A6FA5"/>
          </a:solidFill>
          <a:ln/>
        </p:spPr>
      </p:sp>
      <p:sp>
        <p:nvSpPr>
          <p:cNvPr id="30" name="Text 27"/>
          <p:cNvSpPr/>
          <p:nvPr/>
        </p:nvSpPr>
        <p:spPr>
          <a:xfrm>
            <a:off x="5969000" y="4165600"/>
            <a:ext cx="4191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Auto Scaling</a:t>
            </a:r>
            <a:endParaRPr lang="en-US" sz="1500" dirty="0"/>
          </a:p>
        </p:txBody>
      </p:sp>
      <p:sp>
        <p:nvSpPr>
          <p:cNvPr id="31" name="Text 28"/>
          <p:cNvSpPr/>
          <p:nvPr/>
        </p:nvSpPr>
        <p:spPr>
          <a:xfrm>
            <a:off x="5969000" y="4483100"/>
            <a:ext cx="4191000" cy="508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Automatically add/remove instances based on demand</a:t>
            </a:r>
            <a:endParaRPr lang="en-US" sz="1300" dirty="0"/>
          </a:p>
        </p:txBody>
      </p:sp>
      <p:sp>
        <p:nvSpPr>
          <p:cNvPr id="32" name="Shape 29"/>
          <p:cNvSpPr/>
          <p:nvPr/>
        </p:nvSpPr>
        <p:spPr>
          <a:xfrm>
            <a:off x="10668000" y="3492500"/>
            <a:ext cx="4826000" cy="1651000"/>
          </a:xfrm>
          <a:prstGeom prst="roundRect">
            <a:avLst>
              <a:gd name="adj" fmla="val 8000"/>
            </a:avLst>
          </a:prstGeom>
          <a:solidFill>
            <a:srgbClr val="F0F4F8"/>
          </a:solidFill>
          <a:ln/>
        </p:spPr>
      </p:sp>
      <p:sp>
        <p:nvSpPr>
          <p:cNvPr id="33" name="Shape 30"/>
          <p:cNvSpPr/>
          <p:nvPr/>
        </p:nvSpPr>
        <p:spPr>
          <a:xfrm>
            <a:off x="10922000" y="3683000"/>
            <a:ext cx="381000" cy="381000"/>
          </a:xfrm>
          <a:custGeom>
            <a:avLst/>
            <a:gdLst/>
            <a:ahLst/>
            <a:cxnLst/>
            <a:rect l="l" t="t" r="r" b="b"/>
            <a:pathLst>
              <a:path w="381000" h="381000">
                <a:moveTo>
                  <a:pt x="15875" y="47625"/>
                </a:moveTo>
                <a:cubicBezTo>
                  <a:pt x="15875" y="21357"/>
                  <a:pt x="44351" y="0"/>
                  <a:pt x="79375" y="0"/>
                </a:cubicBezTo>
                <a:lnTo>
                  <a:pt x="301625" y="0"/>
                </a:lnTo>
                <a:cubicBezTo>
                  <a:pt x="336649" y="0"/>
                  <a:pt x="365125" y="21357"/>
                  <a:pt x="365125" y="47625"/>
                </a:cubicBezTo>
                <a:lnTo>
                  <a:pt x="365125" y="333375"/>
                </a:lnTo>
                <a:cubicBezTo>
                  <a:pt x="365125" y="359643"/>
                  <a:pt x="336649" y="381000"/>
                  <a:pt x="301625" y="381000"/>
                </a:cubicBezTo>
                <a:lnTo>
                  <a:pt x="79375" y="381000"/>
                </a:lnTo>
                <a:cubicBezTo>
                  <a:pt x="44351" y="381000"/>
                  <a:pt x="15875" y="359643"/>
                  <a:pt x="15875" y="333375"/>
                </a:cubicBezTo>
                <a:lnTo>
                  <a:pt x="15875" y="47625"/>
                </a:lnTo>
                <a:close/>
                <a:moveTo>
                  <a:pt x="79375" y="47625"/>
                </a:moveTo>
                <a:lnTo>
                  <a:pt x="79375" y="273844"/>
                </a:lnTo>
                <a:lnTo>
                  <a:pt x="301625" y="273844"/>
                </a:lnTo>
                <a:lnTo>
                  <a:pt x="301625" y="47625"/>
                </a:lnTo>
                <a:lnTo>
                  <a:pt x="79375" y="47625"/>
                </a:lnTo>
                <a:close/>
                <a:moveTo>
                  <a:pt x="190500" y="351234"/>
                </a:moveTo>
                <a:cubicBezTo>
                  <a:pt x="208062" y="351234"/>
                  <a:pt x="222250" y="340593"/>
                  <a:pt x="222250" y="327422"/>
                </a:cubicBezTo>
                <a:cubicBezTo>
                  <a:pt x="222250" y="314251"/>
                  <a:pt x="208062" y="303609"/>
                  <a:pt x="190500" y="303609"/>
                </a:cubicBezTo>
                <a:cubicBezTo>
                  <a:pt x="172938" y="303609"/>
                  <a:pt x="158750" y="314251"/>
                  <a:pt x="158750" y="327422"/>
                </a:cubicBezTo>
                <a:cubicBezTo>
                  <a:pt x="158750" y="340593"/>
                  <a:pt x="172938" y="351234"/>
                  <a:pt x="190500" y="351234"/>
                </a:cubicBezTo>
                <a:close/>
              </a:path>
            </a:pathLst>
          </a:custGeom>
          <a:solidFill>
            <a:srgbClr val="4A6FA5"/>
          </a:solidFill>
          <a:ln/>
        </p:spPr>
      </p:sp>
      <p:sp>
        <p:nvSpPr>
          <p:cNvPr id="34" name="Text 31"/>
          <p:cNvSpPr/>
          <p:nvPr/>
        </p:nvSpPr>
        <p:spPr>
          <a:xfrm>
            <a:off x="10922000" y="4165600"/>
            <a:ext cx="4318000" cy="279400"/>
          </a:xfrm>
          <a:prstGeom prst="rect">
            <a:avLst/>
          </a:prstGeom>
          <a:noFill/>
          <a:ln/>
        </p:spPr>
        <p:txBody>
          <a:bodyPr wrap="none" lIns="0" tIns="0" rIns="0" bIns="0" rtlCol="0" anchor="ctr"/>
          <a:lstStyle/>
          <a:p>
            <a:pPr algn="l">
              <a:lnSpc>
                <a:spcPct val="120000"/>
              </a:lnSpc>
            </a:pPr>
            <a:r>
              <a:rPr lang="en-US" sz="1500" b="1" dirty="0">
                <a:solidFill>
                  <a:srgbClr val="232F3E"/>
                </a:solidFill>
                <a:latin typeface="Liter" pitchFamily="34" charset="0"/>
                <a:ea typeface="Liter" pitchFamily="34" charset="-122"/>
                <a:cs typeface="Liter" pitchFamily="34" charset="-120"/>
              </a:rPr>
              <a:t>Mobile App</a:t>
            </a:r>
            <a:endParaRPr lang="en-US" sz="1500" dirty="0"/>
          </a:p>
        </p:txBody>
      </p:sp>
      <p:sp>
        <p:nvSpPr>
          <p:cNvPr id="35" name="Text 32"/>
          <p:cNvSpPr/>
          <p:nvPr/>
        </p:nvSpPr>
        <p:spPr>
          <a:xfrm>
            <a:off x="10922000" y="4483100"/>
            <a:ext cx="4318000" cy="508000"/>
          </a:xfrm>
          <a:prstGeom prst="rect">
            <a:avLst/>
          </a:prstGeom>
          <a:noFill/>
          <a:ln/>
        </p:spPr>
        <p:txBody>
          <a:bodyPr wrap="square" lIns="0" tIns="0" rIns="0" bIns="0" rtlCol="0" anchor="t"/>
          <a:lstStyle/>
          <a:p>
            <a:pPr algn="l">
              <a:lnSpc>
                <a:spcPct val="140000"/>
              </a:lnSpc>
            </a:pPr>
            <a:r>
              <a:rPr lang="en-US" sz="1300" dirty="0">
                <a:solidFill>
                  <a:srgbClr val="64748B"/>
                </a:solidFill>
                <a:latin typeface="Quattrocento Sans" pitchFamily="34" charset="0"/>
                <a:ea typeface="Quattrocento Sans" pitchFamily="34" charset="-122"/>
                <a:cs typeface="Quattrocento Sans" pitchFamily="34" charset="-120"/>
              </a:rPr>
              <a:t>Cross-platform mobile application for on-the-go access</a:t>
            </a:r>
            <a:endParaRPr lang="en-US" sz="1300" dirty="0"/>
          </a:p>
        </p:txBody>
      </p:sp>
      <p:sp>
        <p:nvSpPr>
          <p:cNvPr id="36" name="Shape 33"/>
          <p:cNvSpPr/>
          <p:nvPr/>
        </p:nvSpPr>
        <p:spPr>
          <a:xfrm>
            <a:off x="762000" y="5397500"/>
            <a:ext cx="14732000" cy="1651000"/>
          </a:xfrm>
          <a:prstGeom prst="roundRect">
            <a:avLst>
              <a:gd name="adj" fmla="val 6000"/>
            </a:avLst>
          </a:prstGeom>
          <a:solidFill>
            <a:srgbClr val="FFF3E0"/>
          </a:solidFill>
          <a:ln/>
        </p:spPr>
      </p:sp>
      <p:sp>
        <p:nvSpPr>
          <p:cNvPr id="37" name="Shape 34"/>
          <p:cNvSpPr/>
          <p:nvPr/>
        </p:nvSpPr>
        <p:spPr>
          <a:xfrm>
            <a:off x="1143000" y="5778500"/>
            <a:ext cx="508000" cy="508000"/>
          </a:xfrm>
          <a:custGeom>
            <a:avLst/>
            <a:gdLst/>
            <a:ahLst/>
            <a:cxnLst/>
            <a:rect l="l" t="t" r="r" b="b"/>
            <a:pathLst>
              <a:path w="508000" h="508000">
                <a:moveTo>
                  <a:pt x="279400" y="0"/>
                </a:moveTo>
                <a:cubicBezTo>
                  <a:pt x="279400" y="-17562"/>
                  <a:pt x="268049" y="-31750"/>
                  <a:pt x="254000" y="-31750"/>
                </a:cubicBezTo>
                <a:cubicBezTo>
                  <a:pt x="239951" y="-31750"/>
                  <a:pt x="228600" y="-17562"/>
                  <a:pt x="228600" y="0"/>
                </a:cubicBezTo>
                <a:lnTo>
                  <a:pt x="228600" y="63500"/>
                </a:lnTo>
                <a:lnTo>
                  <a:pt x="152400" y="63500"/>
                </a:lnTo>
                <a:cubicBezTo>
                  <a:pt x="110331" y="63500"/>
                  <a:pt x="76200" y="106164"/>
                  <a:pt x="76200" y="158750"/>
                </a:cubicBezTo>
                <a:lnTo>
                  <a:pt x="76200" y="381000"/>
                </a:lnTo>
                <a:cubicBezTo>
                  <a:pt x="76200" y="433586"/>
                  <a:pt x="110331" y="476250"/>
                  <a:pt x="152400" y="476250"/>
                </a:cubicBezTo>
                <a:lnTo>
                  <a:pt x="355600" y="476250"/>
                </a:lnTo>
                <a:cubicBezTo>
                  <a:pt x="397669" y="476250"/>
                  <a:pt x="431800" y="433586"/>
                  <a:pt x="431800" y="381000"/>
                </a:cubicBezTo>
                <a:lnTo>
                  <a:pt x="431800" y="158750"/>
                </a:lnTo>
                <a:cubicBezTo>
                  <a:pt x="431800" y="106164"/>
                  <a:pt x="397669" y="63500"/>
                  <a:pt x="355600" y="63500"/>
                </a:cubicBezTo>
                <a:lnTo>
                  <a:pt x="279400" y="63500"/>
                </a:lnTo>
                <a:lnTo>
                  <a:pt x="279400" y="0"/>
                </a:lnTo>
                <a:close/>
                <a:moveTo>
                  <a:pt x="127000" y="365125"/>
                </a:moveTo>
                <a:cubicBezTo>
                  <a:pt x="127000" y="351929"/>
                  <a:pt x="135493" y="341313"/>
                  <a:pt x="146050" y="341313"/>
                </a:cubicBezTo>
                <a:lnTo>
                  <a:pt x="171450" y="341313"/>
                </a:lnTo>
                <a:cubicBezTo>
                  <a:pt x="182007" y="341313"/>
                  <a:pt x="190500" y="351929"/>
                  <a:pt x="190500" y="365125"/>
                </a:cubicBezTo>
                <a:cubicBezTo>
                  <a:pt x="190500" y="378321"/>
                  <a:pt x="182007" y="388938"/>
                  <a:pt x="171450" y="388938"/>
                </a:cubicBezTo>
                <a:lnTo>
                  <a:pt x="146050" y="388938"/>
                </a:lnTo>
                <a:cubicBezTo>
                  <a:pt x="135493" y="388938"/>
                  <a:pt x="127000" y="378321"/>
                  <a:pt x="127000" y="365125"/>
                </a:cubicBezTo>
                <a:close/>
                <a:moveTo>
                  <a:pt x="222250" y="365125"/>
                </a:moveTo>
                <a:cubicBezTo>
                  <a:pt x="222250" y="351929"/>
                  <a:pt x="230743" y="341313"/>
                  <a:pt x="241300" y="341313"/>
                </a:cubicBezTo>
                <a:lnTo>
                  <a:pt x="266700" y="341313"/>
                </a:lnTo>
                <a:cubicBezTo>
                  <a:pt x="277257" y="341313"/>
                  <a:pt x="285750" y="351929"/>
                  <a:pt x="285750" y="365125"/>
                </a:cubicBezTo>
                <a:cubicBezTo>
                  <a:pt x="285750" y="378321"/>
                  <a:pt x="277257" y="388938"/>
                  <a:pt x="266700" y="388938"/>
                </a:cubicBezTo>
                <a:lnTo>
                  <a:pt x="241300" y="388938"/>
                </a:lnTo>
                <a:cubicBezTo>
                  <a:pt x="230743" y="388938"/>
                  <a:pt x="222250" y="378321"/>
                  <a:pt x="222250" y="365125"/>
                </a:cubicBezTo>
                <a:close/>
                <a:moveTo>
                  <a:pt x="317500" y="365125"/>
                </a:moveTo>
                <a:cubicBezTo>
                  <a:pt x="317500" y="351929"/>
                  <a:pt x="325993" y="341313"/>
                  <a:pt x="336550" y="341313"/>
                </a:cubicBezTo>
                <a:lnTo>
                  <a:pt x="361950" y="341313"/>
                </a:lnTo>
                <a:cubicBezTo>
                  <a:pt x="372507" y="341313"/>
                  <a:pt x="381000" y="351929"/>
                  <a:pt x="381000" y="365125"/>
                </a:cubicBezTo>
                <a:cubicBezTo>
                  <a:pt x="381000" y="378321"/>
                  <a:pt x="372507" y="388938"/>
                  <a:pt x="361950" y="388938"/>
                </a:cubicBezTo>
                <a:lnTo>
                  <a:pt x="336550" y="388938"/>
                </a:lnTo>
                <a:cubicBezTo>
                  <a:pt x="325993" y="388938"/>
                  <a:pt x="317500" y="378321"/>
                  <a:pt x="317500" y="365125"/>
                </a:cubicBezTo>
                <a:close/>
                <a:moveTo>
                  <a:pt x="177800" y="174625"/>
                </a:moveTo>
                <a:cubicBezTo>
                  <a:pt x="198828" y="174625"/>
                  <a:pt x="215900" y="195965"/>
                  <a:pt x="215900" y="222250"/>
                </a:cubicBezTo>
                <a:cubicBezTo>
                  <a:pt x="215900" y="248535"/>
                  <a:pt x="198828" y="269875"/>
                  <a:pt x="177800" y="269875"/>
                </a:cubicBezTo>
                <a:cubicBezTo>
                  <a:pt x="156772" y="269875"/>
                  <a:pt x="139700" y="248535"/>
                  <a:pt x="139700" y="222250"/>
                </a:cubicBezTo>
                <a:cubicBezTo>
                  <a:pt x="139700" y="195965"/>
                  <a:pt x="156772" y="174625"/>
                  <a:pt x="177800" y="174625"/>
                </a:cubicBezTo>
                <a:close/>
                <a:moveTo>
                  <a:pt x="292100" y="222250"/>
                </a:moveTo>
                <a:cubicBezTo>
                  <a:pt x="292100" y="195965"/>
                  <a:pt x="309172" y="174625"/>
                  <a:pt x="330200" y="174625"/>
                </a:cubicBezTo>
                <a:cubicBezTo>
                  <a:pt x="351228" y="174625"/>
                  <a:pt x="368300" y="195965"/>
                  <a:pt x="368300" y="222250"/>
                </a:cubicBezTo>
                <a:cubicBezTo>
                  <a:pt x="368300" y="248535"/>
                  <a:pt x="351228" y="269875"/>
                  <a:pt x="330200" y="269875"/>
                </a:cubicBezTo>
                <a:cubicBezTo>
                  <a:pt x="309172" y="269875"/>
                  <a:pt x="292100" y="248535"/>
                  <a:pt x="292100" y="222250"/>
                </a:cubicBezTo>
                <a:close/>
                <a:moveTo>
                  <a:pt x="50800" y="222250"/>
                </a:moveTo>
                <a:cubicBezTo>
                  <a:pt x="50800" y="204688"/>
                  <a:pt x="39449" y="190500"/>
                  <a:pt x="25400" y="190500"/>
                </a:cubicBezTo>
                <a:cubicBezTo>
                  <a:pt x="11351" y="190500"/>
                  <a:pt x="0" y="204688"/>
                  <a:pt x="0" y="222250"/>
                </a:cubicBezTo>
                <a:lnTo>
                  <a:pt x="0" y="317500"/>
                </a:lnTo>
                <a:cubicBezTo>
                  <a:pt x="0" y="335062"/>
                  <a:pt x="11351" y="349250"/>
                  <a:pt x="25400" y="349250"/>
                </a:cubicBezTo>
                <a:cubicBezTo>
                  <a:pt x="39449" y="349250"/>
                  <a:pt x="50800" y="335062"/>
                  <a:pt x="50800" y="317500"/>
                </a:cubicBezTo>
                <a:lnTo>
                  <a:pt x="50800" y="222250"/>
                </a:lnTo>
                <a:close/>
                <a:moveTo>
                  <a:pt x="482600" y="190500"/>
                </a:moveTo>
                <a:cubicBezTo>
                  <a:pt x="468551" y="190500"/>
                  <a:pt x="457200" y="204688"/>
                  <a:pt x="457200" y="222250"/>
                </a:cubicBezTo>
                <a:lnTo>
                  <a:pt x="457200" y="317500"/>
                </a:lnTo>
                <a:cubicBezTo>
                  <a:pt x="457200" y="335062"/>
                  <a:pt x="468551" y="349250"/>
                  <a:pt x="482600" y="349250"/>
                </a:cubicBezTo>
                <a:cubicBezTo>
                  <a:pt x="496649" y="349250"/>
                  <a:pt x="508000" y="335062"/>
                  <a:pt x="508000" y="317500"/>
                </a:cubicBezTo>
                <a:lnTo>
                  <a:pt x="508000" y="222250"/>
                </a:lnTo>
                <a:cubicBezTo>
                  <a:pt x="508000" y="204688"/>
                  <a:pt x="496649" y="190500"/>
                  <a:pt x="482600" y="190500"/>
                </a:cubicBezTo>
                <a:close/>
              </a:path>
            </a:pathLst>
          </a:custGeom>
          <a:solidFill>
            <a:srgbClr val="FF9900"/>
          </a:solidFill>
          <a:ln/>
        </p:spPr>
      </p:sp>
      <p:sp>
        <p:nvSpPr>
          <p:cNvPr id="38" name="Text 35"/>
          <p:cNvSpPr/>
          <p:nvPr/>
        </p:nvSpPr>
        <p:spPr>
          <a:xfrm>
            <a:off x="1905000" y="5651500"/>
            <a:ext cx="5080000" cy="3175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AI-Based Note Suggestions</a:t>
            </a:r>
            <a:endParaRPr lang="en-US" sz="1800" dirty="0"/>
          </a:p>
        </p:txBody>
      </p:sp>
      <p:sp>
        <p:nvSpPr>
          <p:cNvPr id="39" name="Text 36"/>
          <p:cNvSpPr/>
          <p:nvPr/>
        </p:nvSpPr>
        <p:spPr>
          <a:xfrm>
            <a:off x="1905000" y="6070600"/>
            <a:ext cx="13208000" cy="762000"/>
          </a:xfrm>
          <a:prstGeom prst="rect">
            <a:avLst/>
          </a:prstGeom>
          <a:noFill/>
          <a:ln/>
        </p:spPr>
        <p:txBody>
          <a:bodyPr wrap="square" lIns="0" tIns="0" rIns="0" bIns="0" rtlCol="0" anchor="t"/>
          <a:lstStyle/>
          <a:p>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Integrate </a:t>
            </a:r>
            <a:pPr algn="l">
              <a:lnSpc>
                <a:spcPct val="150000"/>
              </a:lnSpc>
            </a:pPr>
            <a:r>
              <a:rPr lang="en-US" sz="1500" b="1" dirty="0">
                <a:solidFill>
                  <a:srgbClr val="232F3E"/>
                </a:solidFill>
                <a:latin typeface="Quattrocento Sans" pitchFamily="34" charset="0"/>
                <a:ea typeface="Quattrocento Sans" pitchFamily="34" charset="-122"/>
                <a:cs typeface="Quattrocento Sans" pitchFamily="34" charset="-120"/>
              </a:rPr>
              <a:t>Amazon Bedrock</a:t>
            </a:r>
            <a:pPr algn="l">
              <a:lnSpc>
                <a:spcPct val="150000"/>
              </a:lnSpc>
            </a:pPr>
            <a:r>
              <a:rPr lang="en-US" sz="1500" dirty="0">
                <a:solidFill>
                  <a:srgbClr val="232F3E"/>
                </a:solidFill>
                <a:latin typeface="Quattrocento Sans" pitchFamily="34" charset="0"/>
                <a:ea typeface="Quattrocento Sans" pitchFamily="34" charset="-122"/>
                <a:cs typeface="Quattrocento Sans" pitchFamily="34" charset="-120"/>
              </a:rPr>
              <a:t> for intelligent note categorization, automatic tagging, content recommendations, and smart search capabilities powered by generative AI.</a:t>
            </a:r>
            <a:endParaRPr lang="en-US" sz="1500" dirty="0"/>
          </a:p>
        </p:txBody>
      </p:sp>
      <p:sp>
        <p:nvSpPr>
          <p:cNvPr id="40" name="Shape 37"/>
          <p:cNvSpPr/>
          <p:nvPr/>
        </p:nvSpPr>
        <p:spPr>
          <a:xfrm>
            <a:off x="762000" y="7366000"/>
            <a:ext cx="14732000" cy="1016000"/>
          </a:xfrm>
          <a:prstGeom prst="roundRect">
            <a:avLst>
              <a:gd name="adj" fmla="val 4000"/>
            </a:avLst>
          </a:prstGeom>
          <a:solidFill>
            <a:srgbClr val="232F3E"/>
          </a:solidFill>
          <a:ln/>
        </p:spPr>
      </p:sp>
      <p:sp>
        <p:nvSpPr>
          <p:cNvPr id="41" name="Text 38"/>
          <p:cNvSpPr/>
          <p:nvPr/>
        </p:nvSpPr>
        <p:spPr>
          <a:xfrm>
            <a:off x="1143000" y="7620000"/>
            <a:ext cx="13970000" cy="508000"/>
          </a:xfrm>
          <a:prstGeom prst="rect">
            <a:avLst/>
          </a:prstGeom>
          <a:noFill/>
          <a:ln/>
        </p:spPr>
        <p:txBody>
          <a:bodyPr wrap="square" lIns="0" tIns="0" rIns="0" bIns="0" rtlCol="0" anchor="ctr"/>
          <a:lstStyle/>
          <a:p>
            <a:pPr algn="ctr">
              <a:lnSpc>
                <a:spcPct val="120000"/>
              </a:lnSpc>
            </a:pPr>
            <a:r>
              <a:rPr lang="en-US" sz="1600" dirty="0">
                <a:solidFill>
                  <a:srgbClr val="FFFFFF"/>
                </a:solidFill>
                <a:latin typeface="Quattrocento Sans" pitchFamily="34" charset="0"/>
                <a:ea typeface="Quattrocento Sans" pitchFamily="34" charset="-122"/>
                <a:cs typeface="Quattrocento Sans" pitchFamily="34" charset="-120"/>
              </a:rPr>
              <a:t>These enhancements can transform this project into a </a:t>
            </a:r>
            <a:pPr algn="ctr">
              <a:lnSpc>
                <a:spcPct val="120000"/>
              </a:lnSpc>
            </a:pPr>
            <a:r>
              <a:rPr lang="en-US" sz="1600" b="1" dirty="0">
                <a:solidFill>
                  <a:srgbClr val="FFFFFF"/>
                </a:solidFill>
                <a:latin typeface="Quattrocento Sans" pitchFamily="34" charset="0"/>
                <a:ea typeface="Quattrocento Sans" pitchFamily="34" charset="-122"/>
                <a:cs typeface="Quattrocento Sans" pitchFamily="34" charset="-120"/>
              </a:rPr>
              <a:t>full-featured SaaS application</a:t>
            </a:r>
            <a:pPr algn="ctr">
              <a:lnSpc>
                <a:spcPct val="120000"/>
              </a:lnSpc>
            </a:pPr>
            <a:r>
              <a:rPr lang="en-US" sz="1600" dirty="0">
                <a:solidFill>
                  <a:srgbClr val="FFFFFF"/>
                </a:solidFill>
                <a:latin typeface="Quattrocento Sans" pitchFamily="34" charset="0"/>
                <a:ea typeface="Quattrocento Sans" pitchFamily="34" charset="-122"/>
                <a:cs typeface="Quattrocento Sans" pitchFamily="34" charset="-120"/>
              </a:rPr>
              <a:t> suitable for commercial deployment.</a:t>
            </a:r>
            <a:endParaRPr lang="en-US" sz="1600" dirty="0"/>
          </a:p>
        </p:txBody>
      </p:sp>
      <p:sp>
        <p:nvSpPr>
          <p:cNvPr id="42" name="Text 39"/>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17</a:t>
            </a:r>
            <a:endParaRPr lang="en-US" sz="1400" dirty="0"/>
          </a:p>
        </p:txBody>
      </p:sp>
    </p:spTree>
  </p:cSld>
  <p:clrMapOvr>
    <a:masterClrMapping/>
  </p:clrMapOvr>
  <p:transition>
    <p:fade/>
    <p:spd val="med"/>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6256000" cy="508000"/>
          </a:xfrm>
          <a:prstGeom prst="rect">
            <a:avLst/>
          </a:prstGeom>
          <a:solidFill>
            <a:srgbClr val="232F3E"/>
          </a:solidFill>
          <a:ln/>
        </p:spPr>
      </p:sp>
      <p:sp>
        <p:nvSpPr>
          <p:cNvPr id="4" name="Shape 1"/>
          <p:cNvSpPr/>
          <p:nvPr/>
        </p:nvSpPr>
        <p:spPr>
          <a:xfrm>
            <a:off x="10147300" y="457200"/>
            <a:ext cx="2705100" cy="50800"/>
          </a:xfrm>
          <a:prstGeom prst="rect">
            <a:avLst/>
          </a:prstGeom>
          <a:solidFill>
            <a:srgbClr val="FF9900"/>
          </a:solidFill>
          <a:ln/>
        </p:spPr>
      </p:sp>
      <p:sp>
        <p:nvSpPr>
          <p:cNvPr id="5" name="Text 2"/>
          <p:cNvSpPr/>
          <p:nvPr/>
        </p:nvSpPr>
        <p:spPr>
          <a:xfrm>
            <a:off x="762000" y="0"/>
            <a:ext cx="14732000" cy="508000"/>
          </a:xfrm>
          <a:prstGeom prst="rect">
            <a:avLst/>
          </a:prstGeom>
          <a:noFill/>
          <a:ln/>
        </p:spPr>
        <p:txBody>
          <a:bodyPr wrap="none" lIns="0" tIns="0" rIns="0" bIns="0" rtlCol="0" anchor="ctr"/>
          <a:lstStyle/>
          <a:p>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FUTURE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CONCLUSION</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DEMO  </a:t>
            </a:r>
            <a:pPr algn="l">
              <a:lnSpc>
                <a:spcPct val="120000"/>
              </a:lnSpc>
            </a:pPr>
            <a:r>
              <a:rPr lang="en-US" sz="1200" spc="100" kern="0" dirty="0">
                <a:solidFill>
                  <a:srgbClr val="FFFFFF">
                    <a:alpha val="25098"/>
                  </a:srgbClr>
                </a:solidFill>
                <a:latin typeface="Quattrocento Sans" pitchFamily="34" charset="0"/>
                <a:ea typeface="Quattrocento Sans" pitchFamily="34" charset="-122"/>
                <a:cs typeface="Quattrocento Sans" pitchFamily="34" charset="-120"/>
              </a:rPr>
              <a:t>|</a:t>
            </a:r>
            <a:pPr algn="l">
              <a:lnSpc>
                <a:spcPct val="120000"/>
              </a:lnSpc>
            </a:pPr>
            <a:r>
              <a:rPr lang="en-US" sz="1200" spc="100" kern="0" dirty="0">
                <a:solidFill>
                  <a:srgbClr val="FFFFFF"/>
                </a:solidFill>
                <a:latin typeface="Quattrocento Sans" pitchFamily="34" charset="0"/>
                <a:ea typeface="Quattrocento Sans" pitchFamily="34" charset="-122"/>
                <a:cs typeface="Quattrocento Sans" pitchFamily="34" charset="-120"/>
              </a:rPr>
              <a:t>  THANK YOU</a:t>
            </a:r>
            <a:endParaRPr lang="en-US" sz="1200" dirty="0"/>
          </a:p>
        </p:txBody>
      </p:sp>
      <p:sp>
        <p:nvSpPr>
          <p:cNvPr id="6" name="Text 3"/>
          <p:cNvSpPr/>
          <p:nvPr/>
        </p:nvSpPr>
        <p:spPr>
          <a:xfrm>
            <a:off x="762000" y="762000"/>
            <a:ext cx="6350000" cy="508000"/>
          </a:xfrm>
          <a:prstGeom prst="rect">
            <a:avLst/>
          </a:prstGeom>
          <a:noFill/>
          <a:ln/>
        </p:spPr>
        <p:txBody>
          <a:bodyPr wrap="none" lIns="0" tIns="0" rIns="0" bIns="0" rtlCol="0" anchor="ctr"/>
          <a:lstStyle/>
          <a:p>
            <a:pPr algn="l">
              <a:lnSpc>
                <a:spcPct val="120000"/>
              </a:lnSpc>
            </a:pPr>
            <a:r>
              <a:rPr lang="en-US" sz="2800" b="1" spc="100" kern="0" dirty="0">
                <a:solidFill>
                  <a:srgbClr val="232F3E"/>
                </a:solidFill>
                <a:latin typeface="Liter" pitchFamily="34" charset="0"/>
                <a:ea typeface="Liter" pitchFamily="34" charset="-122"/>
                <a:cs typeface="Liter" pitchFamily="34" charset="-120"/>
              </a:rPr>
              <a:t>CONCLUSION</a:t>
            </a:r>
            <a:endParaRPr lang="en-US" sz="2800" dirty="0"/>
          </a:p>
        </p:txBody>
      </p:sp>
      <p:sp>
        <p:nvSpPr>
          <p:cNvPr id="7" name="Shape 4"/>
          <p:cNvSpPr/>
          <p:nvPr/>
        </p:nvSpPr>
        <p:spPr>
          <a:xfrm>
            <a:off x="762000" y="1320800"/>
            <a:ext cx="762000" cy="50800"/>
          </a:xfrm>
          <a:prstGeom prst="rect">
            <a:avLst/>
          </a:prstGeom>
          <a:solidFill>
            <a:srgbClr val="FF9900"/>
          </a:solidFill>
          <a:ln/>
        </p:spPr>
      </p:sp>
      <p:sp>
        <p:nvSpPr>
          <p:cNvPr id="8" name="Shape 5"/>
          <p:cNvSpPr/>
          <p:nvPr/>
        </p:nvSpPr>
        <p:spPr>
          <a:xfrm>
            <a:off x="762000" y="1587500"/>
            <a:ext cx="14732000" cy="3937000"/>
          </a:xfrm>
          <a:prstGeom prst="roundRect">
            <a:avLst>
              <a:gd name="adj" fmla="val 4000"/>
            </a:avLst>
          </a:prstGeom>
          <a:gradFill rotWithShape="1" flip="none">
            <a:gsLst>
              <a:gs pos="0">
                <a:srgbClr val="232F3E"/>
              </a:gs>
              <a:gs pos="100000">
                <a:srgbClr val="4A6FA5"/>
              </a:gs>
            </a:gsLst>
            <a:lin ang="8100000" scaled="1"/>
          </a:gradFill>
          <a:ln/>
        </p:spPr>
      </p:sp>
      <p:sp>
        <p:nvSpPr>
          <p:cNvPr id="9" name="Shape 6"/>
          <p:cNvSpPr/>
          <p:nvPr/>
        </p:nvSpPr>
        <p:spPr>
          <a:xfrm>
            <a:off x="1270000" y="1905000"/>
            <a:ext cx="635000" cy="635000"/>
          </a:xfrm>
          <a:custGeom>
            <a:avLst/>
            <a:gdLst/>
            <a:ahLst/>
            <a:cxnLst/>
            <a:rect l="l" t="t" r="r" b="b"/>
            <a:pathLst>
              <a:path w="635000" h="635000">
                <a:moveTo>
                  <a:pt x="178966" y="0"/>
                </a:moveTo>
                <a:lnTo>
                  <a:pt x="456778" y="0"/>
                </a:lnTo>
                <a:cubicBezTo>
                  <a:pt x="489645" y="0"/>
                  <a:pt x="516434" y="27037"/>
                  <a:pt x="515193" y="59779"/>
                </a:cubicBezTo>
                <a:cubicBezTo>
                  <a:pt x="514945" y="66353"/>
                  <a:pt x="514697" y="72926"/>
                  <a:pt x="514325" y="79375"/>
                </a:cubicBezTo>
                <a:lnTo>
                  <a:pt x="575841" y="79375"/>
                </a:lnTo>
                <a:cubicBezTo>
                  <a:pt x="608211" y="79375"/>
                  <a:pt x="636736" y="106164"/>
                  <a:pt x="634256" y="141139"/>
                </a:cubicBezTo>
                <a:cubicBezTo>
                  <a:pt x="624954" y="269751"/>
                  <a:pt x="559222" y="340444"/>
                  <a:pt x="487908" y="377403"/>
                </a:cubicBezTo>
                <a:cubicBezTo>
                  <a:pt x="468313" y="387573"/>
                  <a:pt x="448345" y="395139"/>
                  <a:pt x="429369" y="400720"/>
                </a:cubicBezTo>
                <a:cubicBezTo>
                  <a:pt x="404316" y="436190"/>
                  <a:pt x="378271" y="454918"/>
                  <a:pt x="357560" y="464964"/>
                </a:cubicBezTo>
                <a:lnTo>
                  <a:pt x="357560" y="555625"/>
                </a:lnTo>
                <a:lnTo>
                  <a:pt x="436935" y="555625"/>
                </a:lnTo>
                <a:cubicBezTo>
                  <a:pt x="458887" y="555625"/>
                  <a:pt x="476622" y="573360"/>
                  <a:pt x="476622" y="595313"/>
                </a:cubicBezTo>
                <a:cubicBezTo>
                  <a:pt x="476622" y="617265"/>
                  <a:pt x="458887" y="635000"/>
                  <a:pt x="436935" y="635000"/>
                </a:cubicBezTo>
                <a:lnTo>
                  <a:pt x="198810" y="635000"/>
                </a:lnTo>
                <a:cubicBezTo>
                  <a:pt x="176857" y="635000"/>
                  <a:pt x="159122" y="617265"/>
                  <a:pt x="159122" y="595313"/>
                </a:cubicBezTo>
                <a:cubicBezTo>
                  <a:pt x="159122" y="573360"/>
                  <a:pt x="176857" y="555625"/>
                  <a:pt x="198810" y="555625"/>
                </a:cubicBezTo>
                <a:lnTo>
                  <a:pt x="278185" y="555625"/>
                </a:lnTo>
                <a:lnTo>
                  <a:pt x="278185" y="464964"/>
                </a:lnTo>
                <a:cubicBezTo>
                  <a:pt x="258341" y="455414"/>
                  <a:pt x="233660" y="437679"/>
                  <a:pt x="209600" y="405061"/>
                </a:cubicBezTo>
                <a:cubicBezTo>
                  <a:pt x="186779" y="399107"/>
                  <a:pt x="161975" y="390054"/>
                  <a:pt x="137790" y="376411"/>
                </a:cubicBezTo>
                <a:cubicBezTo>
                  <a:pt x="70693" y="338832"/>
                  <a:pt x="10170" y="268015"/>
                  <a:pt x="1488" y="140891"/>
                </a:cubicBezTo>
                <a:cubicBezTo>
                  <a:pt x="-868" y="106040"/>
                  <a:pt x="27533" y="79251"/>
                  <a:pt x="59903" y="79251"/>
                </a:cubicBezTo>
                <a:lnTo>
                  <a:pt x="121419" y="79251"/>
                </a:lnTo>
                <a:cubicBezTo>
                  <a:pt x="121047" y="72802"/>
                  <a:pt x="120799" y="66353"/>
                  <a:pt x="120551" y="59655"/>
                </a:cubicBezTo>
                <a:cubicBezTo>
                  <a:pt x="119311" y="26789"/>
                  <a:pt x="146100" y="-124"/>
                  <a:pt x="178966" y="-124"/>
                </a:cubicBezTo>
                <a:close/>
                <a:moveTo>
                  <a:pt x="125884" y="138906"/>
                </a:moveTo>
                <a:lnTo>
                  <a:pt x="60896" y="138906"/>
                </a:lnTo>
                <a:cubicBezTo>
                  <a:pt x="68585" y="243954"/>
                  <a:pt x="116830" y="296540"/>
                  <a:pt x="166563" y="324445"/>
                </a:cubicBezTo>
                <a:cubicBezTo>
                  <a:pt x="148704" y="278185"/>
                  <a:pt x="133945" y="217785"/>
                  <a:pt x="125884" y="138906"/>
                </a:cubicBezTo>
                <a:close/>
                <a:moveTo>
                  <a:pt x="471289" y="318492"/>
                </a:moveTo>
                <a:cubicBezTo>
                  <a:pt x="521519" y="288975"/>
                  <a:pt x="566911" y="236513"/>
                  <a:pt x="574601" y="138906"/>
                </a:cubicBezTo>
                <a:lnTo>
                  <a:pt x="509736" y="138906"/>
                </a:lnTo>
                <a:cubicBezTo>
                  <a:pt x="502047" y="214437"/>
                  <a:pt x="488156" y="273100"/>
                  <a:pt x="471289" y="318492"/>
                </a:cubicBezTo>
                <a:close/>
              </a:path>
            </a:pathLst>
          </a:custGeom>
          <a:solidFill>
            <a:srgbClr val="FF9900"/>
          </a:solidFill>
          <a:ln/>
        </p:spPr>
      </p:sp>
      <p:sp>
        <p:nvSpPr>
          <p:cNvPr id="10" name="Text 7"/>
          <p:cNvSpPr/>
          <p:nvPr/>
        </p:nvSpPr>
        <p:spPr>
          <a:xfrm>
            <a:off x="2159000" y="1879600"/>
            <a:ext cx="6350000" cy="444500"/>
          </a:xfrm>
          <a:prstGeom prst="rect">
            <a:avLst/>
          </a:prstGeom>
          <a:noFill/>
          <a:ln/>
        </p:spPr>
        <p:txBody>
          <a:bodyPr wrap="none" lIns="0" tIns="0" rIns="0" bIns="0" rtlCol="0" anchor="ctr"/>
          <a:lstStyle/>
          <a:p>
            <a:pPr algn="l">
              <a:lnSpc>
                <a:spcPct val="120000"/>
              </a:lnSpc>
            </a:pPr>
            <a:r>
              <a:rPr lang="en-US" sz="2400" b="1" dirty="0">
                <a:solidFill>
                  <a:srgbClr val="FFFFFF"/>
                </a:solidFill>
                <a:latin typeface="Liter" pitchFamily="34" charset="0"/>
                <a:ea typeface="Liter" pitchFamily="34" charset="-122"/>
                <a:cs typeface="Liter" pitchFamily="34" charset="-120"/>
              </a:rPr>
              <a:t>Project Achievements</a:t>
            </a:r>
            <a:endParaRPr lang="en-US" sz="2400" dirty="0"/>
          </a:p>
        </p:txBody>
      </p:sp>
      <p:sp>
        <p:nvSpPr>
          <p:cNvPr id="11" name="Text 8"/>
          <p:cNvSpPr/>
          <p:nvPr/>
        </p:nvSpPr>
        <p:spPr>
          <a:xfrm>
            <a:off x="1270000" y="2540000"/>
            <a:ext cx="13716000" cy="2794000"/>
          </a:xfrm>
          <a:prstGeom prst="rect">
            <a:avLst/>
          </a:prstGeom>
          <a:noFill/>
          <a:ln/>
        </p:spPr>
        <p:txBody>
          <a:bodyPr wrap="square" lIns="0" tIns="0" rIns="0" bIns="0" rtlCol="0" anchor="t"/>
          <a:lstStyle/>
          <a:p>
            <a:pPr algn="l">
              <a:lnSpc>
                <a:spcPct val="170000"/>
              </a:lnSpc>
            </a:pPr>
            <a:r>
              <a:rPr lang="en-US" sz="1700" dirty="0">
                <a:solidFill>
                  <a:srgbClr val="FF9900"/>
                </a:solidFill>
                <a:latin typeface="Quattrocento Sans" pitchFamily="34" charset="0"/>
                <a:ea typeface="Quattrocento Sans" pitchFamily="34" charset="-122"/>
                <a:cs typeface="Quattrocento Sans" pitchFamily="34" charset="-120"/>
              </a:rPr>
              <a:t>✓</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Successfully built and deployed a </a:t>
            </a:r>
            <a:pPr algn="l">
              <a:lnSpc>
                <a:spcPct val="170000"/>
              </a:lnSpc>
            </a:pPr>
            <a:r>
              <a:rPr lang="en-US" sz="1700" b="1" dirty="0">
                <a:solidFill>
                  <a:srgbClr val="FFFFFF"/>
                </a:solidFill>
                <a:latin typeface="Quattrocento Sans" pitchFamily="34" charset="0"/>
                <a:ea typeface="Quattrocento Sans" pitchFamily="34" charset="-122"/>
                <a:cs typeface="Quattrocento Sans" pitchFamily="34" charset="-120"/>
              </a:rPr>
              <a:t>cloud-based Student Notes Management System</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on AWS</a:t>
            </a:r>
            <a:endParaRPr lang="en-US" sz="1700" dirty="0"/>
          </a:p>
          <a:p>
            <a:pPr algn="l">
              <a:lnSpc>
                <a:spcPct val="170000"/>
              </a:lnSpc>
            </a:pPr>
            <a:r>
              <a:rPr lang="en-US" sz="1700" dirty="0">
                <a:solidFill>
                  <a:srgbClr val="FF9900"/>
                </a:solidFill>
                <a:latin typeface="Quattrocento Sans" pitchFamily="34" charset="0"/>
                <a:ea typeface="Quattrocento Sans" pitchFamily="34" charset="-122"/>
                <a:cs typeface="Quattrocento Sans" pitchFamily="34" charset="-120"/>
              </a:rPr>
              <a:t>✓</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Implemented a </a:t>
            </a:r>
            <a:pPr algn="l">
              <a:lnSpc>
                <a:spcPct val="170000"/>
              </a:lnSpc>
            </a:pPr>
            <a:r>
              <a:rPr lang="en-US" sz="1700" b="1" dirty="0">
                <a:solidFill>
                  <a:srgbClr val="FFFFFF"/>
                </a:solidFill>
                <a:latin typeface="Quattrocento Sans" pitchFamily="34" charset="0"/>
                <a:ea typeface="Quattrocento Sans" pitchFamily="34" charset="-122"/>
                <a:cs typeface="Quattrocento Sans" pitchFamily="34" charset="-120"/>
              </a:rPr>
              <a:t>production-ready architecture</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with load balancing and centralized database</a:t>
            </a:r>
            <a:endParaRPr lang="en-US" sz="1700" dirty="0"/>
          </a:p>
          <a:p>
            <a:pPr algn="l">
              <a:lnSpc>
                <a:spcPct val="170000"/>
              </a:lnSpc>
            </a:pPr>
            <a:r>
              <a:rPr lang="en-US" sz="1700" dirty="0">
                <a:solidFill>
                  <a:srgbClr val="FF9900"/>
                </a:solidFill>
                <a:latin typeface="Quattrocento Sans" pitchFamily="34" charset="0"/>
                <a:ea typeface="Quattrocento Sans" pitchFamily="34" charset="-122"/>
                <a:cs typeface="Quattrocento Sans" pitchFamily="34" charset="-120"/>
              </a:rPr>
              <a:t>✓</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Gained hands-on experience with </a:t>
            </a:r>
            <a:pPr algn="l">
              <a:lnSpc>
                <a:spcPct val="170000"/>
              </a:lnSpc>
            </a:pPr>
            <a:r>
              <a:rPr lang="en-US" sz="1700" b="1" dirty="0">
                <a:solidFill>
                  <a:srgbClr val="FFFFFF"/>
                </a:solidFill>
                <a:latin typeface="Quattrocento Sans" pitchFamily="34" charset="0"/>
                <a:ea typeface="Quattrocento Sans" pitchFamily="34" charset="-122"/>
                <a:cs typeface="Quattrocento Sans" pitchFamily="34" charset="-120"/>
              </a:rPr>
              <a:t>EC2, RDS, ALB, CloudWatch, SNS, IAM, and VPC</a:t>
            </a:r>
            <a:endParaRPr lang="en-US" sz="1700" dirty="0"/>
          </a:p>
          <a:p>
            <a:pPr algn="l">
              <a:lnSpc>
                <a:spcPct val="170000"/>
              </a:lnSpc>
            </a:pPr>
            <a:r>
              <a:rPr lang="en-US" sz="1700" dirty="0">
                <a:solidFill>
                  <a:srgbClr val="FF9900"/>
                </a:solidFill>
                <a:latin typeface="Quattrocento Sans" pitchFamily="34" charset="0"/>
                <a:ea typeface="Quattrocento Sans" pitchFamily="34" charset="-122"/>
                <a:cs typeface="Quattrocento Sans" pitchFamily="34" charset="-120"/>
              </a:rPr>
              <a:t>✓</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Demonstrated key cloud concepts: </a:t>
            </a:r>
            <a:pPr algn="l">
              <a:lnSpc>
                <a:spcPct val="170000"/>
              </a:lnSpc>
            </a:pPr>
            <a:r>
              <a:rPr lang="en-US" sz="1700" b="1" dirty="0">
                <a:solidFill>
                  <a:srgbClr val="FFFFFF"/>
                </a:solidFill>
                <a:latin typeface="Quattrocento Sans" pitchFamily="34" charset="0"/>
                <a:ea typeface="Quattrocento Sans" pitchFamily="34" charset="-122"/>
                <a:cs typeface="Quattrocento Sans" pitchFamily="34" charset="-120"/>
              </a:rPr>
              <a:t>scalability, high availability, fault tolerance, and security</a:t>
            </a:r>
            <a:endParaRPr lang="en-US" sz="1700" dirty="0"/>
          </a:p>
          <a:p>
            <a:pPr algn="l">
              <a:lnSpc>
                <a:spcPct val="170000"/>
              </a:lnSpc>
            </a:pPr>
            <a:r>
              <a:rPr lang="en-US" sz="1700" dirty="0">
                <a:solidFill>
                  <a:srgbClr val="FF9900"/>
                </a:solidFill>
                <a:latin typeface="Quattrocento Sans" pitchFamily="34" charset="0"/>
                <a:ea typeface="Quattrocento Sans" pitchFamily="34" charset="-122"/>
                <a:cs typeface="Quattrocento Sans" pitchFamily="34" charset="-120"/>
              </a:rPr>
              <a:t>✓</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The project serves as a </a:t>
            </a:r>
            <a:pPr algn="l">
              <a:lnSpc>
                <a:spcPct val="170000"/>
              </a:lnSpc>
            </a:pPr>
            <a:r>
              <a:rPr lang="en-US" sz="1700" b="1" dirty="0">
                <a:solidFill>
                  <a:srgbClr val="FFFFFF"/>
                </a:solidFill>
                <a:latin typeface="Quattrocento Sans" pitchFamily="34" charset="0"/>
                <a:ea typeface="Quattrocento Sans" pitchFamily="34" charset="-122"/>
                <a:cs typeface="Quattrocento Sans" pitchFamily="34" charset="-120"/>
              </a:rPr>
              <a:t>solid foundation</a:t>
            </a:r>
            <a:pPr algn="l">
              <a:lnSpc>
                <a:spcPct val="170000"/>
              </a:lnSpc>
            </a:pPr>
            <a:r>
              <a:rPr lang="en-US" sz="1700" dirty="0">
                <a:solidFill>
                  <a:srgbClr val="FFFFFF"/>
                </a:solidFill>
                <a:latin typeface="Quattrocento Sans" pitchFamily="34" charset="0"/>
                <a:ea typeface="Quattrocento Sans" pitchFamily="34" charset="-122"/>
                <a:cs typeface="Quattrocento Sans" pitchFamily="34" charset="-120"/>
              </a:rPr>
              <a:t> for understanding real-world cloud architecture patterns</a:t>
            </a:r>
            <a:endParaRPr lang="en-US" sz="1700" dirty="0"/>
          </a:p>
        </p:txBody>
      </p:sp>
      <p:sp>
        <p:nvSpPr>
          <p:cNvPr id="12" name="Shape 9"/>
          <p:cNvSpPr/>
          <p:nvPr/>
        </p:nvSpPr>
        <p:spPr>
          <a:xfrm>
            <a:off x="762000" y="5842000"/>
            <a:ext cx="7112000" cy="2540000"/>
          </a:xfrm>
          <a:prstGeom prst="roundRect">
            <a:avLst>
              <a:gd name="adj" fmla="val 6000"/>
            </a:avLst>
          </a:prstGeom>
          <a:solidFill>
            <a:srgbClr val="F0F4F8"/>
          </a:solidFill>
          <a:ln/>
        </p:spPr>
      </p:sp>
      <p:sp>
        <p:nvSpPr>
          <p:cNvPr id="13" name="Text 10"/>
          <p:cNvSpPr/>
          <p:nvPr/>
        </p:nvSpPr>
        <p:spPr>
          <a:xfrm>
            <a:off x="1079500" y="6032500"/>
            <a:ext cx="3810000" cy="3556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Key Learnings</a:t>
            </a:r>
            <a:endParaRPr lang="en-US" sz="1800" dirty="0"/>
          </a:p>
        </p:txBody>
      </p:sp>
      <p:sp>
        <p:nvSpPr>
          <p:cNvPr id="14" name="Text 11"/>
          <p:cNvSpPr/>
          <p:nvPr/>
        </p:nvSpPr>
        <p:spPr>
          <a:xfrm>
            <a:off x="1079500" y="6477000"/>
            <a:ext cx="6477000" cy="1714500"/>
          </a:xfrm>
          <a:prstGeom prst="rect">
            <a:avLst/>
          </a:prstGeom>
          <a:noFill/>
          <a:ln/>
        </p:spPr>
        <p:txBody>
          <a:bodyPr wrap="square" lIns="0" tIns="0" rIns="0" bIns="0" rtlCol="0" anchor="t"/>
          <a:lstStyle/>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Cloud architecture design patterns</a:t>
            </a:r>
            <a:endParaRPr lang="en-US" sz="1500" dirty="0"/>
          </a:p>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Multi-tier application deployment</a:t>
            </a:r>
            <a:endParaRPr lang="en-US" sz="1500" dirty="0"/>
          </a:p>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Database management in the cloud</a:t>
            </a:r>
            <a:endParaRPr lang="en-US" sz="1500" dirty="0"/>
          </a:p>
          <a:p>
            <a:pPr algn="l">
              <a:lnSpc>
                <a:spcPct val="160000"/>
              </a:lnSpc>
            </a:pPr>
            <a:r>
              <a:rPr lang="en-US" sz="1500" dirty="0">
                <a:solidFill>
                  <a:srgbClr val="FF9900"/>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Infrastructure security best practices</a:t>
            </a:r>
            <a:endParaRPr lang="en-US" sz="1500" dirty="0"/>
          </a:p>
        </p:txBody>
      </p:sp>
      <p:sp>
        <p:nvSpPr>
          <p:cNvPr id="15" name="Shape 12"/>
          <p:cNvSpPr/>
          <p:nvPr/>
        </p:nvSpPr>
        <p:spPr>
          <a:xfrm>
            <a:off x="8128000" y="5842000"/>
            <a:ext cx="7366000" cy="2540000"/>
          </a:xfrm>
          <a:prstGeom prst="roundRect">
            <a:avLst>
              <a:gd name="adj" fmla="val 6000"/>
            </a:avLst>
          </a:prstGeom>
          <a:solidFill>
            <a:srgbClr val="F0F4F8"/>
          </a:solidFill>
          <a:ln/>
        </p:spPr>
      </p:sp>
      <p:sp>
        <p:nvSpPr>
          <p:cNvPr id="16" name="Text 13"/>
          <p:cNvSpPr/>
          <p:nvPr/>
        </p:nvSpPr>
        <p:spPr>
          <a:xfrm>
            <a:off x="8445500" y="6032500"/>
            <a:ext cx="3810000" cy="355600"/>
          </a:xfrm>
          <a:prstGeom prst="rect">
            <a:avLst/>
          </a:prstGeom>
          <a:noFill/>
          <a:ln/>
        </p:spPr>
        <p:txBody>
          <a:bodyPr wrap="none" lIns="0" tIns="0" rIns="0" bIns="0" rtlCol="0" anchor="ctr"/>
          <a:lstStyle/>
          <a:p>
            <a:pPr algn="l">
              <a:lnSpc>
                <a:spcPct val="120000"/>
              </a:lnSpc>
            </a:pPr>
            <a:r>
              <a:rPr lang="en-US" sz="1800" b="1" dirty="0">
                <a:solidFill>
                  <a:srgbClr val="232F3E"/>
                </a:solidFill>
                <a:latin typeface="Liter" pitchFamily="34" charset="0"/>
                <a:ea typeface="Liter" pitchFamily="34" charset="-122"/>
                <a:cs typeface="Liter" pitchFamily="34" charset="-120"/>
              </a:rPr>
              <a:t>Skills Developed</a:t>
            </a:r>
            <a:endParaRPr lang="en-US" sz="1800" dirty="0"/>
          </a:p>
        </p:txBody>
      </p:sp>
      <p:sp>
        <p:nvSpPr>
          <p:cNvPr id="17" name="Text 14"/>
          <p:cNvSpPr/>
          <p:nvPr/>
        </p:nvSpPr>
        <p:spPr>
          <a:xfrm>
            <a:off x="8445500" y="6477000"/>
            <a:ext cx="6731000" cy="1714500"/>
          </a:xfrm>
          <a:prstGeom prst="rect">
            <a:avLst/>
          </a:prstGeom>
          <a:noFill/>
          <a:ln/>
        </p:spPr>
        <p:txBody>
          <a:bodyPr wrap="square" lIns="0" tIns="0" rIns="0" bIns="0" rtlCol="0" anchor="t"/>
          <a:lstStyle/>
          <a:p>
            <a:pPr algn="l">
              <a:lnSpc>
                <a:spcPct val="160000"/>
              </a:lnSpc>
            </a:pPr>
            <a:r>
              <a:rPr lang="en-US" sz="15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AWS Management Console proficiency</a:t>
            </a:r>
            <a:endParaRPr lang="en-US" sz="1500" dirty="0"/>
          </a:p>
          <a:p>
            <a:pPr algn="l">
              <a:lnSpc>
                <a:spcPct val="160000"/>
              </a:lnSpc>
            </a:pPr>
            <a:r>
              <a:rPr lang="en-US" sz="15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Linux server administration (Ubuntu)</a:t>
            </a:r>
            <a:endParaRPr lang="en-US" sz="1500" dirty="0"/>
          </a:p>
          <a:p>
            <a:pPr algn="l">
              <a:lnSpc>
                <a:spcPct val="160000"/>
              </a:lnSpc>
            </a:pPr>
            <a:r>
              <a:rPr lang="en-US" sz="15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Web server configuration (Apache)</a:t>
            </a:r>
            <a:endParaRPr lang="en-US" sz="1500" dirty="0"/>
          </a:p>
          <a:p>
            <a:pPr algn="l">
              <a:lnSpc>
                <a:spcPct val="160000"/>
              </a:lnSpc>
            </a:pPr>
            <a:r>
              <a:rPr lang="en-US" sz="1500" dirty="0">
                <a:solidFill>
                  <a:srgbClr val="4A6FA5"/>
                </a:solidFill>
                <a:latin typeface="Quattrocento Sans" pitchFamily="34" charset="0"/>
                <a:ea typeface="Quattrocento Sans" pitchFamily="34" charset="-122"/>
                <a:cs typeface="Quattrocento Sans" pitchFamily="34" charset="-120"/>
              </a:rPr>
              <a:t>■</a:t>
            </a:r>
            <a:pPr algn="l">
              <a:lnSpc>
                <a:spcPct val="160000"/>
              </a:lnSpc>
            </a:pPr>
            <a:r>
              <a:rPr lang="en-US" sz="1500" dirty="0">
                <a:solidFill>
                  <a:srgbClr val="232F3E"/>
                </a:solidFill>
                <a:latin typeface="Quattrocento Sans" pitchFamily="34" charset="0"/>
                <a:ea typeface="Quattrocento Sans" pitchFamily="34" charset="-122"/>
                <a:cs typeface="Quattrocento Sans" pitchFamily="34" charset="-120"/>
              </a:rPr>
              <a:t> Python backend development (Flask)</a:t>
            </a:r>
            <a:endParaRPr lang="en-US" sz="1500" dirty="0"/>
          </a:p>
        </p:txBody>
      </p:sp>
      <p:sp>
        <p:nvSpPr>
          <p:cNvPr id="18" name="Text 15"/>
          <p:cNvSpPr/>
          <p:nvPr/>
        </p:nvSpPr>
        <p:spPr>
          <a:xfrm>
            <a:off x="15240000" y="8763000"/>
            <a:ext cx="635000" cy="254000"/>
          </a:xfrm>
          <a:prstGeom prst="rect">
            <a:avLst/>
          </a:prstGeom>
          <a:noFill/>
          <a:ln/>
        </p:spPr>
        <p:txBody>
          <a:bodyPr wrap="none" lIns="0" tIns="0" rIns="0" bIns="0" rtlCol="0" anchor="ctr"/>
          <a:lstStyle/>
          <a:p>
            <a:pPr algn="r">
              <a:lnSpc>
                <a:spcPct val="140000"/>
              </a:lnSpc>
            </a:pPr>
            <a:r>
              <a:rPr lang="en-US" sz="1400" dirty="0">
                <a:solidFill>
                  <a:srgbClr val="64748B"/>
                </a:solidFill>
                <a:latin typeface="Quattrocento Sans" pitchFamily="34" charset="0"/>
                <a:ea typeface="Quattrocento Sans" pitchFamily="34" charset="-122"/>
                <a:cs typeface="Quattrocento Sans" pitchFamily="34" charset="-120"/>
              </a:rPr>
              <a:t>18</a:t>
            </a:r>
            <a:endParaRPr lang="en-US" sz="1400" dirty="0"/>
          </a:p>
        </p:txBody>
      </p:sp>
    </p:spTree>
  </p:cSld>
  <p:clrMapOvr>
    <a:masterClrMapping/>
  </p:clrMapOvr>
  <p:transition>
    <p:fade/>
    <p:spd val="med"/>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https://kimi-img.moonshot.cn/pub/slides/okc/fa4dllkjfkj5o/mnt/agents/output/aws-notes-system/images/6_Illustration_Stock_data_transfer.png">    </p:cNvPr>
          <p:cNvPicPr>
            <a:picLocks noChangeAspect="1"/>
          </p:cNvPicPr>
          <p:nvPr/>
        </p:nvPicPr>
        <p:blipFill>
          <a:blip r:embed="rId1"/>
          <a:srcRect l="44" r="44" t="0" b="0"/>
          <a:stretch/>
        </p:blipFill>
        <p:spPr>
          <a:xfrm>
            <a:off x="0" y="0"/>
            <a:ext cx="16256000" cy="9144000"/>
          </a:xfrm>
          <a:prstGeom prst="rect">
            <a:avLst/>
          </a:prstGeom>
        </p:spPr>
      </p:pic>
      <p:sp>
        <p:nvSpPr>
          <p:cNvPr id="3" name="Shape 0"/>
          <p:cNvSpPr/>
          <p:nvPr/>
        </p:nvSpPr>
        <p:spPr>
          <a:xfrm>
            <a:off x="0" y="0"/>
            <a:ext cx="16256000" cy="9144000"/>
          </a:xfrm>
          <a:prstGeom prst="rect">
            <a:avLst/>
          </a:prstGeom>
          <a:gradFill rotWithShape="1" flip="none">
            <a:gsLst>
              <a:gs pos="0">
                <a:srgbClr val="232F3E">
                  <a:alpha val="91000"/>
                </a:srgbClr>
              </a:gs>
              <a:gs pos="50000">
                <a:srgbClr val="232F3E">
                  <a:alpha val="82000"/>
                </a:srgbClr>
              </a:gs>
              <a:gs pos="100000">
                <a:srgbClr val="232F3E">
                  <a:alpha val="69000"/>
                </a:srgbClr>
              </a:gs>
            </a:gsLst>
            <a:lin ang="5400000" scaled="1"/>
          </a:gradFill>
          <a:ln w="12700">
            <a:solidFill>
              <a:srgbClr val="FFFFFF">
                <a:alpha val="0"/>
              </a:srgbClr>
            </a:solidFill>
            <a:prstDash val="solid"/>
          </a:ln>
        </p:spPr>
      </p:sp>
      <p:sp>
        <p:nvSpPr>
          <p:cNvPr id="5" name="Shape 1"/>
          <p:cNvSpPr/>
          <p:nvPr/>
        </p:nvSpPr>
        <p:spPr>
          <a:xfrm>
            <a:off x="7175500" y="2032000"/>
            <a:ext cx="1905000" cy="1270000"/>
          </a:xfrm>
          <a:custGeom>
            <a:avLst/>
            <a:gdLst/>
            <a:ahLst/>
            <a:cxnLst/>
            <a:rect l="l" t="t" r="r" b="b"/>
            <a:pathLst>
              <a:path w="1905000" h="1270000">
                <a:moveTo>
                  <a:pt x="536972" y="503535"/>
                </a:moveTo>
                <a:cubicBezTo>
                  <a:pt x="534888" y="559594"/>
                  <a:pt x="568523" y="584646"/>
                  <a:pt x="569416" y="600273"/>
                </a:cubicBezTo>
                <a:cubicBezTo>
                  <a:pt x="569119" y="603498"/>
                  <a:pt x="567630" y="606475"/>
                  <a:pt x="565547" y="609203"/>
                </a:cubicBezTo>
                <a:cubicBezTo>
                  <a:pt x="563463" y="611932"/>
                  <a:pt x="560487" y="614164"/>
                  <a:pt x="557212" y="615652"/>
                </a:cubicBezTo>
                <a:lnTo>
                  <a:pt x="519112" y="637977"/>
                </a:lnTo>
                <a:cubicBezTo>
                  <a:pt x="514052" y="640953"/>
                  <a:pt x="508397" y="642441"/>
                  <a:pt x="502444" y="642689"/>
                </a:cubicBezTo>
                <a:cubicBezTo>
                  <a:pt x="501253" y="642689"/>
                  <a:pt x="478036" y="647154"/>
                  <a:pt x="441424" y="579189"/>
                </a:cubicBezTo>
                <a:cubicBezTo>
                  <a:pt x="419100" y="602506"/>
                  <a:pt x="390823" y="621109"/>
                  <a:pt x="358378" y="633760"/>
                </a:cubicBezTo>
                <a:cubicBezTo>
                  <a:pt x="325934" y="646410"/>
                  <a:pt x="290810" y="652859"/>
                  <a:pt x="255091" y="652363"/>
                </a:cubicBezTo>
                <a:cubicBezTo>
                  <a:pt x="206573" y="654596"/>
                  <a:pt x="75307" y="629543"/>
                  <a:pt x="82153" y="512961"/>
                </a:cubicBezTo>
                <a:cubicBezTo>
                  <a:pt x="77391" y="417959"/>
                  <a:pt x="183654" y="358924"/>
                  <a:pt x="293191" y="364133"/>
                </a:cubicBezTo>
                <a:cubicBezTo>
                  <a:pt x="314325" y="364133"/>
                  <a:pt x="357485" y="365125"/>
                  <a:pt x="433090" y="379760"/>
                </a:cubicBezTo>
                <a:lnTo>
                  <a:pt x="433090" y="341064"/>
                </a:lnTo>
                <a:cubicBezTo>
                  <a:pt x="441127" y="275332"/>
                  <a:pt x="389334" y="224482"/>
                  <a:pt x="299740" y="232172"/>
                </a:cubicBezTo>
                <a:cubicBezTo>
                  <a:pt x="292596" y="232172"/>
                  <a:pt x="241995" y="230932"/>
                  <a:pt x="163413" y="257225"/>
                </a:cubicBezTo>
                <a:cubicBezTo>
                  <a:pt x="141387" y="265658"/>
                  <a:pt x="138708" y="264170"/>
                  <a:pt x="131266" y="264170"/>
                </a:cubicBezTo>
                <a:cubicBezTo>
                  <a:pt x="109240" y="264170"/>
                  <a:pt x="118170" y="210840"/>
                  <a:pt x="122634" y="204143"/>
                </a:cubicBezTo>
                <a:cubicBezTo>
                  <a:pt x="138112" y="188268"/>
                  <a:pt x="229493" y="158502"/>
                  <a:pt x="318790" y="158998"/>
                </a:cubicBezTo>
                <a:cubicBezTo>
                  <a:pt x="378619" y="154533"/>
                  <a:pt x="438150" y="169912"/>
                  <a:pt x="484584" y="201910"/>
                </a:cubicBezTo>
                <a:cubicBezTo>
                  <a:pt x="503337" y="219521"/>
                  <a:pt x="517922" y="240109"/>
                  <a:pt x="526852" y="262434"/>
                </a:cubicBezTo>
                <a:cubicBezTo>
                  <a:pt x="535781" y="284758"/>
                  <a:pt x="539353" y="308322"/>
                  <a:pt x="537270" y="331887"/>
                </a:cubicBezTo>
                <a:lnTo>
                  <a:pt x="537270" y="503783"/>
                </a:lnTo>
                <a:close/>
                <a:moveTo>
                  <a:pt x="279797" y="583902"/>
                </a:moveTo>
                <a:cubicBezTo>
                  <a:pt x="376238" y="582662"/>
                  <a:pt x="417314" y="534293"/>
                  <a:pt x="426541" y="508248"/>
                </a:cubicBezTo>
                <a:cubicBezTo>
                  <a:pt x="433983" y="483195"/>
                  <a:pt x="432792" y="467568"/>
                  <a:pt x="432792" y="440283"/>
                </a:cubicBezTo>
                <a:cubicBezTo>
                  <a:pt x="403920" y="434578"/>
                  <a:pt x="362545" y="428129"/>
                  <a:pt x="314920" y="428129"/>
                </a:cubicBezTo>
                <a:cubicBezTo>
                  <a:pt x="269677" y="425400"/>
                  <a:pt x="187523" y="442020"/>
                  <a:pt x="190798" y="508248"/>
                </a:cubicBezTo>
                <a:cubicBezTo>
                  <a:pt x="187226" y="549920"/>
                  <a:pt x="223838" y="586135"/>
                  <a:pt x="280095" y="583902"/>
                </a:cubicBezTo>
                <a:close/>
                <a:moveTo>
                  <a:pt x="788491" y="641201"/>
                </a:moveTo>
                <a:cubicBezTo>
                  <a:pt x="764977" y="642937"/>
                  <a:pt x="754261" y="629047"/>
                  <a:pt x="750689" y="615404"/>
                </a:cubicBezTo>
                <a:lnTo>
                  <a:pt x="602456" y="206871"/>
                </a:lnTo>
                <a:cubicBezTo>
                  <a:pt x="599480" y="199926"/>
                  <a:pt x="597694" y="192980"/>
                  <a:pt x="596801" y="185539"/>
                </a:cubicBezTo>
                <a:cubicBezTo>
                  <a:pt x="596205" y="182563"/>
                  <a:pt x="597098" y="179586"/>
                  <a:pt x="599182" y="177105"/>
                </a:cubicBezTo>
                <a:cubicBezTo>
                  <a:pt x="601266" y="174625"/>
                  <a:pt x="604540" y="173137"/>
                  <a:pt x="608112" y="172641"/>
                </a:cubicBezTo>
                <a:cubicBezTo>
                  <a:pt x="608707" y="172641"/>
                  <a:pt x="601861" y="172641"/>
                  <a:pt x="674191" y="172641"/>
                </a:cubicBezTo>
                <a:cubicBezTo>
                  <a:pt x="700385" y="170408"/>
                  <a:pt x="708720" y="187523"/>
                  <a:pt x="711696" y="198438"/>
                </a:cubicBezTo>
                <a:lnTo>
                  <a:pt x="818257" y="547688"/>
                </a:lnTo>
                <a:lnTo>
                  <a:pt x="917079" y="198438"/>
                </a:lnTo>
                <a:cubicBezTo>
                  <a:pt x="918567" y="190500"/>
                  <a:pt x="925711" y="170904"/>
                  <a:pt x="955179" y="173137"/>
                </a:cubicBezTo>
                <a:lnTo>
                  <a:pt x="1006376" y="173137"/>
                </a:lnTo>
                <a:cubicBezTo>
                  <a:pt x="1012924" y="172641"/>
                  <a:pt x="1039416" y="171896"/>
                  <a:pt x="1044178" y="198934"/>
                </a:cubicBezTo>
                <a:lnTo>
                  <a:pt x="1143298" y="552400"/>
                </a:lnTo>
                <a:lnTo>
                  <a:pt x="1253133" y="198686"/>
                </a:lnTo>
                <a:cubicBezTo>
                  <a:pt x="1254621" y="193229"/>
                  <a:pt x="1261170" y="170408"/>
                  <a:pt x="1290935" y="172889"/>
                </a:cubicBezTo>
                <a:lnTo>
                  <a:pt x="1349573" y="172889"/>
                </a:lnTo>
                <a:cubicBezTo>
                  <a:pt x="1352252" y="172641"/>
                  <a:pt x="1368028" y="170904"/>
                  <a:pt x="1365349" y="194221"/>
                </a:cubicBezTo>
                <a:cubicBezTo>
                  <a:pt x="1364159" y="198686"/>
                  <a:pt x="1375470" y="167680"/>
                  <a:pt x="1208187" y="615652"/>
                </a:cubicBezTo>
                <a:cubicBezTo>
                  <a:pt x="1204913" y="629295"/>
                  <a:pt x="1193899" y="643186"/>
                  <a:pt x="1170384" y="641449"/>
                </a:cubicBezTo>
                <a:lnTo>
                  <a:pt x="1114723" y="641449"/>
                </a:lnTo>
                <a:cubicBezTo>
                  <a:pt x="1082278" y="644426"/>
                  <a:pt x="1077516" y="617389"/>
                  <a:pt x="1076920" y="614908"/>
                </a:cubicBezTo>
                <a:lnTo>
                  <a:pt x="978098" y="274836"/>
                </a:lnTo>
                <a:lnTo>
                  <a:pt x="880467" y="614660"/>
                </a:lnTo>
                <a:cubicBezTo>
                  <a:pt x="879872" y="617389"/>
                  <a:pt x="875407" y="644178"/>
                  <a:pt x="842665" y="641201"/>
                </a:cubicBezTo>
                <a:lnTo>
                  <a:pt x="788194" y="641201"/>
                </a:lnTo>
                <a:lnTo>
                  <a:pt x="788194" y="641201"/>
                </a:lnTo>
                <a:close/>
                <a:moveTo>
                  <a:pt x="1602581" y="655092"/>
                </a:moveTo>
                <a:cubicBezTo>
                  <a:pt x="1585020" y="655092"/>
                  <a:pt x="1501676" y="654348"/>
                  <a:pt x="1431727" y="624582"/>
                </a:cubicBezTo>
                <a:cubicBezTo>
                  <a:pt x="1424880" y="622102"/>
                  <a:pt x="1418927" y="618133"/>
                  <a:pt x="1414760" y="612676"/>
                </a:cubicBezTo>
                <a:cubicBezTo>
                  <a:pt x="1410593" y="607219"/>
                  <a:pt x="1408509" y="601266"/>
                  <a:pt x="1408509" y="595064"/>
                </a:cubicBezTo>
                <a:lnTo>
                  <a:pt x="1408509" y="568523"/>
                </a:lnTo>
                <a:cubicBezTo>
                  <a:pt x="1408509" y="547439"/>
                  <a:pt x="1426964" y="551408"/>
                  <a:pt x="1434703" y="553889"/>
                </a:cubicBezTo>
                <a:cubicBezTo>
                  <a:pt x="1464469" y="564059"/>
                  <a:pt x="1483816" y="571500"/>
                  <a:pt x="1520428" y="577701"/>
                </a:cubicBezTo>
                <a:cubicBezTo>
                  <a:pt x="1629668" y="596305"/>
                  <a:pt x="1677591" y="571996"/>
                  <a:pt x="1689199" y="566539"/>
                </a:cubicBezTo>
                <a:cubicBezTo>
                  <a:pt x="1728490" y="547191"/>
                  <a:pt x="1731466" y="502791"/>
                  <a:pt x="1704975" y="479971"/>
                </a:cubicBezTo>
                <a:cubicBezTo>
                  <a:pt x="1673721" y="458143"/>
                  <a:pt x="1658838" y="457398"/>
                  <a:pt x="1546920" y="427881"/>
                </a:cubicBezTo>
                <a:cubicBezTo>
                  <a:pt x="1533227" y="424656"/>
                  <a:pt x="1416844" y="394146"/>
                  <a:pt x="1416546" y="297904"/>
                </a:cubicBezTo>
                <a:cubicBezTo>
                  <a:pt x="1414760" y="227955"/>
                  <a:pt x="1490960" y="158502"/>
                  <a:pt x="1623417" y="158998"/>
                </a:cubicBezTo>
                <a:cubicBezTo>
                  <a:pt x="1661220" y="158998"/>
                  <a:pt x="1761530" y="169168"/>
                  <a:pt x="1788914" y="197693"/>
                </a:cubicBezTo>
                <a:cubicBezTo>
                  <a:pt x="1793081" y="202902"/>
                  <a:pt x="1794867" y="209104"/>
                  <a:pt x="1794570" y="215057"/>
                </a:cubicBezTo>
                <a:lnTo>
                  <a:pt x="1794570" y="240109"/>
                </a:lnTo>
                <a:cubicBezTo>
                  <a:pt x="1794570" y="251023"/>
                  <a:pt x="1789807" y="256729"/>
                  <a:pt x="1779984" y="256729"/>
                </a:cubicBezTo>
                <a:cubicBezTo>
                  <a:pt x="1757065" y="254496"/>
                  <a:pt x="1716286" y="228947"/>
                  <a:pt x="1633537" y="229939"/>
                </a:cubicBezTo>
                <a:cubicBezTo>
                  <a:pt x="1612999" y="228947"/>
                  <a:pt x="1514773" y="232172"/>
                  <a:pt x="1519237" y="291951"/>
                </a:cubicBezTo>
                <a:cubicBezTo>
                  <a:pt x="1518047" y="339080"/>
                  <a:pt x="1598414" y="356691"/>
                  <a:pt x="1607641" y="358676"/>
                </a:cubicBezTo>
                <a:cubicBezTo>
                  <a:pt x="1716286" y="385961"/>
                  <a:pt x="1752302" y="390426"/>
                  <a:pt x="1795462" y="432098"/>
                </a:cubicBezTo>
                <a:cubicBezTo>
                  <a:pt x="1846362" y="487164"/>
                  <a:pt x="1818977" y="551904"/>
                  <a:pt x="1808262" y="569516"/>
                </a:cubicBezTo>
                <a:cubicBezTo>
                  <a:pt x="1751409" y="662533"/>
                  <a:pt x="1604665" y="654844"/>
                  <a:pt x="1601986" y="654844"/>
                </a:cubicBezTo>
                <a:close/>
                <a:moveTo>
                  <a:pt x="1722239" y="915293"/>
                </a:moveTo>
                <a:cubicBezTo>
                  <a:pt x="1513880" y="1043533"/>
                  <a:pt x="1211163" y="1111746"/>
                  <a:pt x="952798" y="1111746"/>
                </a:cubicBezTo>
                <a:cubicBezTo>
                  <a:pt x="604242" y="1113730"/>
                  <a:pt x="267295" y="1006822"/>
                  <a:pt x="8334" y="812354"/>
                </a:cubicBezTo>
                <a:cubicBezTo>
                  <a:pt x="-11013" y="797719"/>
                  <a:pt x="5953" y="777627"/>
                  <a:pt x="29766" y="788789"/>
                </a:cubicBezTo>
                <a:cubicBezTo>
                  <a:pt x="317004" y="925711"/>
                  <a:pt x="642045" y="997645"/>
                  <a:pt x="973038" y="997396"/>
                </a:cubicBezTo>
                <a:cubicBezTo>
                  <a:pt x="1220093" y="996404"/>
                  <a:pt x="1464469" y="954484"/>
                  <a:pt x="1692176" y="874613"/>
                </a:cubicBezTo>
                <a:cubicBezTo>
                  <a:pt x="1727299" y="862211"/>
                  <a:pt x="1757065" y="893961"/>
                  <a:pt x="1722239" y="915293"/>
                </a:cubicBezTo>
                <a:close/>
                <a:moveTo>
                  <a:pt x="1809155" y="832693"/>
                </a:moveTo>
                <a:cubicBezTo>
                  <a:pt x="1782366" y="804168"/>
                  <a:pt x="1632645" y="819299"/>
                  <a:pt x="1565672" y="825996"/>
                </a:cubicBezTo>
                <a:cubicBezTo>
                  <a:pt x="1545431" y="827980"/>
                  <a:pt x="1542157" y="813346"/>
                  <a:pt x="1560314" y="802432"/>
                </a:cubicBezTo>
                <a:cubicBezTo>
                  <a:pt x="1679674" y="732482"/>
                  <a:pt x="1875532" y="752574"/>
                  <a:pt x="1897856" y="776139"/>
                </a:cubicBezTo>
                <a:cubicBezTo>
                  <a:pt x="1920180" y="799703"/>
                  <a:pt x="1891605" y="963166"/>
                  <a:pt x="1779984" y="1041301"/>
                </a:cubicBezTo>
                <a:cubicBezTo>
                  <a:pt x="1762720" y="1053455"/>
                  <a:pt x="1746349" y="1047006"/>
                  <a:pt x="1754088" y="1031131"/>
                </a:cubicBezTo>
                <a:cubicBezTo>
                  <a:pt x="1779091" y="978297"/>
                  <a:pt x="1835646" y="861219"/>
                  <a:pt x="1808857" y="832693"/>
                </a:cubicBezTo>
                <a:close/>
              </a:path>
            </a:pathLst>
          </a:custGeom>
          <a:solidFill>
            <a:srgbClr val="FFFFFF">
              <a:alpha val="12549"/>
            </a:srgbClr>
          </a:solidFill>
          <a:ln/>
        </p:spPr>
      </p:sp>
      <p:sp>
        <p:nvSpPr>
          <p:cNvPr id="6" name="Text 2"/>
          <p:cNvSpPr/>
          <p:nvPr/>
        </p:nvSpPr>
        <p:spPr>
          <a:xfrm>
            <a:off x="3048000" y="3429000"/>
            <a:ext cx="10160000" cy="1016000"/>
          </a:xfrm>
          <a:prstGeom prst="rect">
            <a:avLst/>
          </a:prstGeom>
          <a:noFill/>
          <a:ln/>
        </p:spPr>
        <p:txBody>
          <a:bodyPr wrap="none" lIns="0" tIns="0" rIns="0" bIns="0" rtlCol="0" anchor="ctr"/>
          <a:lstStyle/>
          <a:p>
            <a:pPr algn="ctr">
              <a:lnSpc>
                <a:spcPct val="120000"/>
              </a:lnSpc>
            </a:pPr>
            <a:r>
              <a:rPr lang="en-US" sz="5600" b="1" spc="400" kern="0" dirty="0">
                <a:solidFill>
                  <a:srgbClr val="FFFFFF"/>
                </a:solidFill>
                <a:latin typeface="Liter" pitchFamily="34" charset="0"/>
                <a:ea typeface="Liter" pitchFamily="34" charset="-122"/>
                <a:cs typeface="Liter" pitchFamily="34" charset="-120"/>
              </a:rPr>
              <a:t>THANK YOU</a:t>
            </a:r>
            <a:endParaRPr lang="en-US" sz="5600" dirty="0"/>
          </a:p>
        </p:txBody>
      </p:sp>
      <p:sp>
        <p:nvSpPr>
          <p:cNvPr id="7" name="Shape 3"/>
          <p:cNvSpPr/>
          <p:nvPr/>
        </p:nvSpPr>
        <p:spPr>
          <a:xfrm>
            <a:off x="6858000" y="4572000"/>
            <a:ext cx="2540000" cy="50800"/>
          </a:xfrm>
          <a:prstGeom prst="rect">
            <a:avLst/>
          </a:prstGeom>
          <a:solidFill>
            <a:srgbClr val="FF9900"/>
          </a:solidFill>
          <a:ln/>
        </p:spPr>
      </p:sp>
      <p:sp>
        <p:nvSpPr>
          <p:cNvPr id="8" name="Text 4"/>
          <p:cNvSpPr/>
          <p:nvPr/>
        </p:nvSpPr>
        <p:spPr>
          <a:xfrm>
            <a:off x="3683000" y="4826000"/>
            <a:ext cx="8890000" cy="508000"/>
          </a:xfrm>
          <a:prstGeom prst="rect">
            <a:avLst/>
          </a:prstGeom>
          <a:noFill/>
          <a:ln/>
        </p:spPr>
        <p:txBody>
          <a:bodyPr wrap="none" lIns="0" tIns="0" rIns="0" bIns="0" rtlCol="0" anchor="ctr"/>
          <a:lstStyle/>
          <a:p>
            <a:pPr algn="ctr">
              <a:lnSpc>
                <a:spcPct val="120000"/>
              </a:lnSpc>
            </a:pPr>
            <a:endParaRPr lang="en-US" sz="2200" dirty="0"/>
          </a:p>
        </p:txBody>
      </p:sp>
      <p:sp>
        <p:nvSpPr>
          <p:cNvPr id="9" name="Text 5"/>
          <p:cNvSpPr/>
          <p:nvPr/>
        </p:nvSpPr>
        <p:spPr>
          <a:xfrm>
            <a:off x="4318000" y="5588000"/>
            <a:ext cx="7620000" cy="1714500"/>
          </a:xfrm>
          <a:prstGeom prst="rect">
            <a:avLst/>
          </a:prstGeom>
          <a:noFill/>
          <a:ln/>
        </p:spPr>
        <p:txBody>
          <a:bodyPr wrap="square" lIns="0" tIns="0" rIns="0" bIns="0" rtlCol="0" anchor="t"/>
          <a:lstStyle/>
          <a:p>
            <a:pPr algn="ctr">
              <a:lnSpc>
                <a:spcPct val="180000"/>
              </a:lnSpc>
            </a:pPr>
            <a:endParaRPr lang="en-US" sz="1600" dirty="0"/>
          </a:p>
        </p:txBody>
      </p:sp>
      <p:sp>
        <p:nvSpPr>
          <p:cNvPr id="10" name="Text 6"/>
          <p:cNvSpPr/>
          <p:nvPr/>
        </p:nvSpPr>
        <p:spPr>
          <a:xfrm>
            <a:off x="4953000" y="7366000"/>
            <a:ext cx="6350000" cy="381000"/>
          </a:xfrm>
          <a:prstGeom prst="rect">
            <a:avLst/>
          </a:prstGeom>
          <a:noFill/>
          <a:ln/>
        </p:spPr>
        <p:txBody>
          <a:bodyPr wrap="none" lIns="0" tIns="0" rIns="0" bIns="0" rtlCol="0" anchor="ctr"/>
          <a:lstStyle/>
          <a:p>
            <a:pPr algn="ctr">
              <a:lnSpc>
                <a:spcPct val="120000"/>
              </a:lnSpc>
            </a:pPr>
            <a:r>
              <a:rPr lang="en-US" sz="1400" dirty="0">
                <a:solidFill>
                  <a:srgbClr val="FFFFFF"/>
                </a:solidFill>
                <a:latin typeface="Quattrocento Sans" pitchFamily="34" charset="0"/>
                <a:ea typeface="Quattrocento Sans" pitchFamily="34" charset="-122"/>
                <a:cs typeface="Quattrocento Sans" pitchFamily="34" charset="-120"/>
              </a:rPr>
              <a:t>[Email Address]  |  [Phone Number]</a:t>
            </a:r>
            <a:endParaRPr lang="en-US" sz="1400" dirty="0"/>
          </a:p>
        </p:txBody>
      </p:sp>
    </p:spTree>
  </p:cSld>
  <p:clrMapOvr>
    <a:masterClrMapping/>
  </p:clrMapOvr>
  <p:transition>
    <p:fade/>
    <p:spd val="med"/>
  </p:transition>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 Notes Management System using AWS</dc:title>
  <dc:subject>Student Notes Management System using AWS</dc:subject>
  <dc:creator>Kimi</dc:creator>
  <cp:lastModifiedBy>Kimi</cp:lastModifiedBy>
  <cp:revision>1</cp:revision>
  <dcterms:created xsi:type="dcterms:W3CDTF">2026-07-11T10:54:19Z</dcterms:created>
  <dcterms:modified xsi:type="dcterms:W3CDTF">2026-07-11T10:54:19Z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{"Label":"Student Notes Management System using AWS","ContentProducer":"001191110108MACG2KBH8F10000","ProduceID":"19f50a04-a5a2-8509-8000-00002ff5761b","ReservedCode1":"","ContentPropagator":"001191110108MACG2KBH8F20000","PropagateID":"19f509b5-96f2-857f-8000-09b3782c56c0","ReservedCode2":""}</vt:lpwstr>
  </property>
</Properties>
</file>